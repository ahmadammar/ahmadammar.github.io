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deck for the EGM305 Practical 3 sheet. Every question of the sheet is answered step by step, in the order of the sheet. Figures were drawn for this deck; the companion PDF guide has the full explanations and practice problems.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sheet numbers moisture questions 1-6, then motion questions restart at 1 and run to 11, then the map questions are 12-14. Naming them by part avoids confusion.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was checked line by line against Table 1 and the figures. Everything else in the key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 vapour contributes a share of the total pressure: the vapour pressure e. Evaporation and condensation balance at saturation, giving the saturation vapour pressure e_s, which rises steeply with temperature (Clausius-Clapeyron).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Mixing ratio = mass of vapour / mass of dry air, in g/kg. w = 622 e/(p-e) g/kg. Table 1 was evidently computed at about 995.5 hPa.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Glass picture: the size of the glass is the saturation mixing ratio at the air temperature; the water in it is the actual mixing ratio; RH is how full the glass 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each glass is the saturation mixing ratio from Table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 the water by the size of the glass. Check: more vapour at the same temperature gives higher RH; the same vapour in warmer air gives lower RH.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air holds little vapour.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glass is now four times bigger but contains the same water.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winter houses feel so dry: skin, lips, static electricity.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Glass sizes.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each glass to its RH. The level is now the real amount of 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14 °C sample is the 'dampest' (90 %) but only third.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0 C the table prints 3.189, less than the 3.313 printed at -2 C: impossible, because saturation mixing ratio only increases with temperature. The formula gives 3.840. At -8 C 2.009 should be 2.099 (digits transposed).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then reveal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Cool a sample with nothing added or removed: the vapour stays the same but the glass shrinks. At one temperature the glass is exactly full: the dew 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degrees, 10 g/kg.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added or removed, so the mixing ratio stays at 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12 C holds 8.882 and 14 C holds 10.14, so the curve is crossed just below 14 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13.8 C, about 14 C.</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lookup.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 by RH.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 and cool.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Bracket in Table 1: (21.78-21.734)/(24.557-21.734) = 0.016.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26.03 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25 C the table holds about 20.4 g/kg (interpolating 19.21 and 21.734 gives 20.47); the sample holds 21.78, which is more, so it would be oversaturated: RH 107 %.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then reveal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Newton's second law per unit mass. For the large-scale winds only three horizontal forces matter. If they sum to zero the wind is steady.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Earth rotates, so we observe from a spinning frame; freely moving objects appear to curve. Zero at the equator because it depends on the vertical component of rotation, Omega sin(phi).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then reveal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Hypsometric equation: thickness proportional to mean temperature. The same pressure drop occupies less height in cold, dense air.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Monterrey is the warm place and to the south.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500 mb surface is 300 m higher over Monterrey.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300 mb surface is 800 m higher over Monterrey.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Thermal wind: the wind increases with height where the horizontal temperature gradient is large. The numbers are rough because only two places and rounded heights are used.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then reveal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above the ground friction is negligible. If the pressure gradient force and the Coriolis force are equal and opposite, the wind is steady and blows along the isobars.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 arrow: pressure gradient force towards 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 arrow appears: Coriolis, to the right of the motion.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wind turns towards the east.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forces balance; the path levels out.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the labels on the lines.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 bottom, L top.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F_pg points to 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wind to the east the right-hand side is south: the Coriolis force points south.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image of Figure 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from H to 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Equal and opposite.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 pressure on the right in the Southern Hemisphere.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then reveal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 pressure is at the top.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Friction turns the wind towards low pressure.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of the wind.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Against the wind.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triangle: no net force. The black arrow is the wind, not a fourth force.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Drag proportional to the wind with coefficient k; angle alpha = arctan(k/f); speed V = Vg cos(alpha).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panel shows the forces on the box at the south-east of the system: red pressure gradient force along the line to the centre, blue Coriolis at right angles to the wind, green friction against the wind, black the wind.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then reveal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10,000 stations measure up to 18 quantities. The WMO station model puts every quantity at a fixed position around a circle.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staff points to where the wind comes FROM. Barbs: half = 5 kt, full = 10 kt, pennant = 50 kt. No staff but a circle = calm.</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then reveal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streamline is tangent to the wind everywhere. The staff points to where the wind comes from; the streamline runs the other way. Streamlines never cross.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 by region, which way is the wind coming from?</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sheet gives two examples.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five or six lines starting upwind.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swirl is the signature of a Northern Hemisphere low.</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then reveal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air mass is a large body of air with uniform temperature and humidity. A front is the boundary between two unlike air masses: found by a sharp change in temperature, moisture or wind direction.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Warm, humid, southerly.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Cooler, drier, clear, north-westerly.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changes at once at a front.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fronts veer the wind: a clockwise shift.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order: pressures first, then isobars and the L, then fronts, then cloud and precipitation.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Interpolation: fraction = (isobar value - first station) / (second station - first station).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pairs of neighbouring stations: if they differ strongly in temperature, dew point and wind direction, a front lies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Isobars every 4 mb (orange), the L, the cold front (blue triangles), the warm front (red semicircles), cloud above 75 % (dashed outline), precipitation (blue shading). The fronts are an interpretation drawn from the temperature, dew point and wind contrasts.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then reveal the next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3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4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4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4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4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5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5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5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5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5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5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5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5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5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image" Target="../media/image6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image" Target="../media/image6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image" Target="../media/image6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image" Target="../media/image6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 Id="rId3" Type="http://schemas.openxmlformats.org/officeDocument/2006/relationships/image" Target="../media/image6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6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 Id="rId3" Type="http://schemas.openxmlformats.org/officeDocument/2006/relationships/image" Target="../media/image69.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image" Target="../media/image7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 Id="rId3" Type="http://schemas.openxmlformats.org/officeDocument/2006/relationships/image" Target="../media/image78.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 Id="rId3" Type="http://schemas.openxmlformats.org/officeDocument/2006/relationships/image" Target="../media/image9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 Id="rId3" Type="http://schemas.openxmlformats.org/officeDocument/2006/relationships/image" Target="../media/image9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96.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 Id="rId3" Type="http://schemas.openxmlformats.org/officeDocument/2006/relationships/image" Target="../media/image9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image" Target="../media/image9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7.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 Id="rId3" Type="http://schemas.openxmlformats.org/officeDocument/2006/relationships/image" Target="../media/image98.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9.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 Id="rId3" Type="http://schemas.openxmlformats.org/officeDocument/2006/relationships/image" Target="../media/image100.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 Id="rId3" Type="http://schemas.openxmlformats.org/officeDocument/2006/relationships/image" Target="../media/image10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 Id="rId3" Type="http://schemas.openxmlformats.org/officeDocument/2006/relationships/image" Target="../media/image10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 Id="rId3" Type="http://schemas.openxmlformats.org/officeDocument/2006/relationships/image" Target="../media/image103.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9.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4.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 Id="rId3" Type="http://schemas.openxmlformats.org/officeDocument/2006/relationships/image" Target="../media/image105.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6.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7.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 Id="rId3" Type="http://schemas.openxmlformats.org/officeDocument/2006/relationships/image" Target="../media/image108.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8.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9.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0.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 Id="rId3" Type="http://schemas.openxmlformats.org/officeDocument/2006/relationships/image" Target="../media/image11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itlepage_01.png"/>
          <p:cNvPicPr>
            <a:picLocks noChangeAspect="1"/>
          </p:cNvPicPr>
          <p:nvPr/>
        </p:nvPicPr>
        <p:blipFill>
          <a:blip r:embed="rId2"/>
          <a:stretch>
            <a:fillRect/>
          </a:stretch>
        </p:blipFill>
        <p:spPr>
          <a:xfrm>
            <a:off x="7863840" y="1232685"/>
            <a:ext cx="3931920" cy="4118308"/>
          </a:xfrm>
          <a:prstGeom prst="rect">
            <a:avLst/>
          </a:prstGeom>
        </p:spPr>
      </p:pic>
      <p:sp>
        <p:nvSpPr>
          <p:cNvPr id="4" name="TextBox 3"/>
          <p:cNvSpPr txBox="1"/>
          <p:nvPr/>
        </p:nvSpPr>
        <p:spPr>
          <a:xfrm>
            <a:off x="640080" y="1188720"/>
            <a:ext cx="7315200" cy="4114800"/>
          </a:xfrm>
          <a:prstGeom prst="rect">
            <a:avLst/>
          </a:prstGeom>
          <a:noFill/>
        </p:spPr>
        <p:txBody>
          <a:bodyPr wrap="square">
            <a:spAutoFit/>
          </a:bodyPr>
          <a:lstStyle/>
          <a:p>
            <a:r>
              <a:rPr sz="2400" b="0" i="0">
                <a:solidFill>
                  <a:srgbClr val="CFDDEE"/>
                </a:solidFill>
                <a:latin typeface="Calibri"/>
              </a:rPr>
              <a:t>EGM305</a:t>
            </a:r>
          </a:p>
          <a:p>
            <a:r>
              <a:rPr sz="6000" b="1" i="0">
                <a:solidFill>
                  <a:srgbClr val="FFFFFF"/>
                </a:solidFill>
                <a:latin typeface="Calibri"/>
              </a:rPr>
              <a:t>Practical 3</a:t>
            </a:r>
          </a:p>
          <a:p>
            <a:r>
              <a:rPr sz="2800" b="0" i="0">
                <a:solidFill>
                  <a:srgbClr val="FFFFFF"/>
                </a:solidFill>
                <a:latin typeface="Calibri"/>
              </a:rPr>
              <a:t>Atmospheric moisture, atmospheric motion and weather map analysis</a:t>
            </a:r>
          </a:p>
          <a:p>
            <a:pPr>
              <a:spcBef>
                <a:spcPts val="1800"/>
              </a:spcBef>
            </a:pPr>
            <a:r>
              <a:rPr sz="2400" b="1" i="0">
                <a:solidFill>
                  <a:srgbClr val="FFB36B"/>
                </a:solidFill>
                <a:latin typeface="Calibri"/>
              </a:rPr>
              <a:t>Every question, solved step by step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What this deck covers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Overview</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a:t>
            </a:r>
          </a:p>
        </p:txBody>
      </p:sp>
      <p:graphicFrame>
        <p:nvGraphicFramePr>
          <p:cNvPr id="6" name="Table 5"/>
          <p:cNvGraphicFramePr>
            <a:graphicFrameLocks noGrp="1"/>
          </p:cNvGraphicFramePr>
          <p:nvPr/>
        </p:nvGraphicFramePr>
        <p:xfrm>
          <a:off x="411480" y="1188720"/>
          <a:ext cx="11338560" cy="2267712"/>
        </p:xfrm>
        <a:graphic>
          <a:graphicData uri="http://schemas.openxmlformats.org/drawingml/2006/table">
            <a:tbl>
              <a:tblPr firstRow="0" bandRow="0">
                <a:tableStyleId>{5940675A-B579-460E-94D1-54222C63F5DA}</a:tableStyleId>
              </a:tblPr>
              <a:tblGrid>
                <a:gridCol w="548640"/>
                <a:gridCol w="1645920"/>
                <a:gridCol w="5669280"/>
                <a:gridCol w="3474720"/>
              </a:tblGrid>
              <a:tr h="566928">
                <a:tc>
                  <a:txBody>
                    <a:bodyPr wrap="square"/>
                    <a:lstStyle/>
                    <a:p>
                      <a:pPr algn="l"/>
                      <a:r>
                        <a:rPr sz="1800" b="1" i="0">
                          <a:solidFill>
                            <a:srgbClr val="FFFFFF"/>
                          </a:solidFill>
                          <a:latin typeface="Calibri"/>
                        </a:rPr>
                        <a:t>Part</a:t>
                      </a:r>
                    </a:p>
                  </a:txBody>
                  <a:tcPr marL="73152" marR="73152" marT="27432" marB="27432" anchor="ctr">
                    <a:solidFill>
                      <a:srgbClr val="1B3A6B"/>
                    </a:solidFill>
                  </a:tcPr>
                </a:tc>
                <a:tc>
                  <a:txBody>
                    <a:bodyPr wrap="square"/>
                    <a:lstStyle/>
                    <a:p>
                      <a:pPr algn="l"/>
                      <a:r>
                        <a:rPr sz="1800" b="1" i="0">
                          <a:solidFill>
                            <a:srgbClr val="FFFFFF"/>
                          </a:solidFill>
                          <a:latin typeface="Calibri"/>
                        </a:rPr>
                        <a:t>Questions</a:t>
                      </a:r>
                    </a:p>
                  </a:txBody>
                  <a:tcPr marL="73152" marR="73152" marT="27432" marB="27432" anchor="ctr">
                    <a:solidFill>
                      <a:srgbClr val="1B3A6B"/>
                    </a:solidFill>
                  </a:tcPr>
                </a:tc>
                <a:tc>
                  <a:txBody>
                    <a:bodyPr wrap="square"/>
                    <a:lstStyle/>
                    <a:p>
                      <a:pPr algn="l"/>
                      <a:r>
                        <a:rPr sz="1800" b="1" i="0">
                          <a:solidFill>
                            <a:srgbClr val="FFFFFF"/>
                          </a:solidFill>
                          <a:latin typeface="Calibri"/>
                        </a:rPr>
                        <a:t>Topic</a:t>
                      </a:r>
                    </a:p>
                  </a:txBody>
                  <a:tcPr marL="73152" marR="73152" marT="27432" marB="27432" anchor="ctr">
                    <a:solidFill>
                      <a:srgbClr val="1B3A6B"/>
                    </a:solidFill>
                  </a:tcPr>
                </a:tc>
                <a:tc>
                  <a:txBody>
                    <a:bodyPr wrap="square"/>
                    <a:lstStyle/>
                    <a:p>
                      <a:pPr algn="l"/>
                      <a:r>
                        <a:rPr sz="1800" b="1" i="0">
                          <a:solidFill>
                            <a:srgbClr val="FFFFFF"/>
                          </a:solidFill>
                          <a:latin typeface="Calibri"/>
                        </a:rPr>
                        <a:t>Slides</a:t>
                      </a:r>
                    </a:p>
                  </a:txBody>
                  <a:tcPr marL="73152" marR="73152" marT="27432" marB="27432" anchor="ctr">
                    <a:solidFill>
                      <a:srgbClr val="1B3A6B"/>
                    </a:solidFill>
                  </a:tcPr>
                </a:tc>
              </a:tr>
              <a:tr h="566928">
                <a:tc>
                  <a:txBody>
                    <a:bodyPr wrap="square"/>
                    <a:lstStyle/>
                    <a:p>
                      <a:pPr algn="l"/>
                      <a:r>
                        <a:rPr sz="1800" b="0" i="0">
                          <a:solidFill>
                            <a:srgbClr val="1F1F1F"/>
                          </a:solidFill>
                          <a:latin typeface="Calibri"/>
                        </a:rPr>
                        <a:t>I</a:t>
                      </a:r>
                    </a:p>
                  </a:txBody>
                  <a:tcPr marL="73152" marR="73152" marT="27432" marB="27432" anchor="ctr">
                    <a:solidFill>
                      <a:srgbClr val="FFFFFF"/>
                    </a:solidFill>
                  </a:tcPr>
                </a:tc>
                <a:tc>
                  <a:txBody>
                    <a:bodyPr wrap="square"/>
                    <a:lstStyle/>
                    <a:p>
                      <a:pPr algn="l"/>
                      <a:r>
                        <a:rPr sz="1800" b="0" i="0">
                          <a:solidFill>
                            <a:srgbClr val="1F1F1F"/>
                          </a:solidFill>
                          <a:latin typeface="Calibri"/>
                        </a:rPr>
                        <a:t>Moisture Q1–Q6</a:t>
                      </a:r>
                    </a:p>
                  </a:txBody>
                  <a:tcPr marL="73152" marR="73152" marT="27432" marB="27432" anchor="ctr">
                    <a:solidFill>
                      <a:srgbClr val="FFFFFF"/>
                    </a:solidFill>
                  </a:tcPr>
                </a:tc>
                <a:tc>
                  <a:txBody>
                    <a:bodyPr wrap="square"/>
                    <a:lstStyle/>
                    <a:p>
                      <a:pPr algn="l"/>
                      <a:r>
                        <a:rPr sz="1800" b="0" i="0">
                          <a:solidFill>
                            <a:srgbClr val="1F1F1F"/>
                          </a:solidFill>
                          <a:latin typeface="Calibri"/>
                        </a:rPr>
                        <a:t>Mixing ratio, relative humidity, dew point (Table 1, Figure 3)</a:t>
                      </a:r>
                    </a:p>
                  </a:txBody>
                  <a:tcPr marL="73152" marR="73152" marT="27432" marB="27432" anchor="ctr">
                    <a:solidFill>
                      <a:srgbClr val="FFFFFF"/>
                    </a:solidFill>
                  </a:tcPr>
                </a:tc>
                <a:tc>
                  <a:txBody>
                    <a:bodyPr wrap="square"/>
                    <a:lstStyle/>
                    <a:p>
                      <a:pPr algn="l"/>
                      <a:r>
                        <a:rPr sz="1800" b="0" i="0">
                          <a:solidFill>
                            <a:srgbClr val="1F1F1F"/>
                          </a:solidFill>
                          <a:latin typeface="Calibri"/>
                        </a:rPr>
                        <a:t>relative humidity · dew point</a:t>
                      </a:r>
                    </a:p>
                  </a:txBody>
                  <a:tcPr marL="73152" marR="73152" marT="27432" marB="27432" anchor="ctr">
                    <a:solidFill>
                      <a:srgbClr val="FFFFFF"/>
                    </a:solidFill>
                  </a:tcPr>
                </a:tc>
              </a:tr>
              <a:tr h="566928">
                <a:tc>
                  <a:txBody>
                    <a:bodyPr wrap="square"/>
                    <a:lstStyle/>
                    <a:p>
                      <a:pPr algn="l"/>
                      <a:r>
                        <a:rPr sz="1800" b="0" i="0">
                          <a:solidFill>
                            <a:srgbClr val="1F1F1F"/>
                          </a:solidFill>
                          <a:latin typeface="Calibri"/>
                        </a:rPr>
                        <a:t>II</a:t>
                      </a:r>
                    </a:p>
                  </a:txBody>
                  <a:tcPr marL="73152" marR="73152" marT="27432" marB="27432" anchor="ctr">
                    <a:solidFill>
                      <a:srgbClr val="F7F7F5"/>
                    </a:solidFill>
                  </a:tcPr>
                </a:tc>
                <a:tc>
                  <a:txBody>
                    <a:bodyPr wrap="square"/>
                    <a:lstStyle/>
                    <a:p>
                      <a:pPr algn="l"/>
                      <a:r>
                        <a:rPr sz="1800" b="0" i="0">
                          <a:solidFill>
                            <a:srgbClr val="1F1F1F"/>
                          </a:solidFill>
                          <a:latin typeface="Calibri"/>
                        </a:rPr>
                        <a:t>Motion Q1–Q11</a:t>
                      </a:r>
                    </a:p>
                  </a:txBody>
                  <a:tcPr marL="73152" marR="73152" marT="27432" marB="27432" anchor="ctr">
                    <a:solidFill>
                      <a:srgbClr val="F7F7F5"/>
                    </a:solidFill>
                  </a:tcPr>
                </a:tc>
                <a:tc>
                  <a:txBody>
                    <a:bodyPr wrap="square"/>
                    <a:lstStyle/>
                    <a:p>
                      <a:pPr algn="l"/>
                      <a:r>
                        <a:rPr sz="1800" b="0" i="0">
                          <a:solidFill>
                            <a:srgbClr val="1F1F1F"/>
                          </a:solidFill>
                          <a:latin typeface="Calibri"/>
                        </a:rPr>
                        <a:t>Pressure surfaces, geostrophic wind, friction (Figures 1–6)</a:t>
                      </a:r>
                    </a:p>
                  </a:txBody>
                  <a:tcPr marL="73152" marR="73152" marT="27432" marB="27432" anchor="ctr">
                    <a:solidFill>
                      <a:srgbClr val="F7F7F5"/>
                    </a:solidFill>
                  </a:tcPr>
                </a:tc>
                <a:tc>
                  <a:txBody>
                    <a:bodyPr wrap="square"/>
                    <a:lstStyle/>
                    <a:p>
                      <a:pPr algn="l"/>
                      <a:r>
                        <a:rPr sz="1800" b="0" i="0">
                          <a:solidFill>
                            <a:srgbClr val="1F1F1F"/>
                          </a:solidFill>
                          <a:latin typeface="Calibri"/>
                        </a:rPr>
                        <a:t>forces · surfaces · geostrophic · friction</a:t>
                      </a:r>
                    </a:p>
                  </a:txBody>
                  <a:tcPr marL="73152" marR="73152" marT="27432" marB="27432" anchor="ctr">
                    <a:solidFill>
                      <a:srgbClr val="F7F7F5"/>
                    </a:solidFill>
                  </a:tcPr>
                </a:tc>
              </a:tr>
              <a:tr h="566928">
                <a:tc>
                  <a:txBody>
                    <a:bodyPr wrap="square"/>
                    <a:lstStyle/>
                    <a:p>
                      <a:pPr algn="l"/>
                      <a:r>
                        <a:rPr sz="1800" b="0" i="0">
                          <a:solidFill>
                            <a:srgbClr val="1F1F1F"/>
                          </a:solidFill>
                          <a:latin typeface="Calibri"/>
                        </a:rPr>
                        <a:t>III</a:t>
                      </a:r>
                    </a:p>
                  </a:txBody>
                  <a:tcPr marL="73152" marR="73152" marT="27432" marB="27432" anchor="ctr">
                    <a:solidFill>
                      <a:srgbClr val="FFFFFF"/>
                    </a:solidFill>
                  </a:tcPr>
                </a:tc>
                <a:tc>
                  <a:txBody>
                    <a:bodyPr wrap="square"/>
                    <a:lstStyle/>
                    <a:p>
                      <a:pPr algn="l"/>
                      <a:r>
                        <a:rPr sz="1800" b="0" i="0">
                          <a:solidFill>
                            <a:srgbClr val="1F1F1F"/>
                          </a:solidFill>
                          <a:latin typeface="Calibri"/>
                        </a:rPr>
                        <a:t>Map Q12–Q14</a:t>
                      </a:r>
                    </a:p>
                  </a:txBody>
                  <a:tcPr marL="73152" marR="73152" marT="27432" marB="27432" anchor="ctr">
                    <a:solidFill>
                      <a:srgbClr val="FFFFFF"/>
                    </a:solidFill>
                  </a:tcPr>
                </a:tc>
                <a:tc>
                  <a:txBody>
                    <a:bodyPr wrap="square"/>
                    <a:lstStyle/>
                    <a:p>
                      <a:pPr algn="l"/>
                      <a:r>
                        <a:rPr sz="1800" b="0" i="0">
                          <a:solidFill>
                            <a:srgbClr val="1F1F1F"/>
                          </a:solidFill>
                          <a:latin typeface="Calibri"/>
                        </a:rPr>
                        <a:t>Station models, streamlines, fronts, full analysis (Figures 7–10)</a:t>
                      </a:r>
                    </a:p>
                  </a:txBody>
                  <a:tcPr marL="73152" marR="73152" marT="27432" marB="27432" anchor="ctr">
                    <a:solidFill>
                      <a:srgbClr val="FFFFFF"/>
                    </a:solidFill>
                  </a:tcPr>
                </a:tc>
                <a:tc>
                  <a:txBody>
                    <a:bodyPr wrap="square"/>
                    <a:lstStyle/>
                    <a:p>
                      <a:pPr algn="l"/>
                      <a:r>
                        <a:rPr sz="1800" b="0" i="0">
                          <a:solidFill>
                            <a:srgbClr val="1F1F1F"/>
                          </a:solidFill>
                          <a:latin typeface="Calibri"/>
                        </a:rPr>
                        <a:t>station model · streamlines · fronts</a:t>
                      </a:r>
                    </a:p>
                  </a:txBody>
                  <a:tcPr marL="73152" marR="73152" marT="27432" marB="27432" anchor="ctr">
                    <a:solidFill>
                      <a:srgbClr val="FFFFFF"/>
                    </a:solidFill>
                  </a:tcPr>
                </a:tc>
              </a:tr>
            </a:tbl>
          </a:graphicData>
        </a:graphic>
      </p:graphicFrame>
      <p:sp>
        <p:nvSpPr>
          <p:cNvPr id="7" name="TextBox 6"/>
          <p:cNvSpPr txBox="1"/>
          <p:nvPr/>
        </p:nvSpPr>
        <p:spPr>
          <a:xfrm>
            <a:off x="457200" y="3840480"/>
            <a:ext cx="11247120" cy="2468880"/>
          </a:xfrm>
          <a:prstGeom prst="rect">
            <a:avLst/>
          </a:prstGeom>
          <a:noFill/>
        </p:spPr>
        <p:txBody>
          <a:bodyPr wrap="square" anchor="t" lIns="45720" rIns="45720">
            <a:spAutoFit/>
          </a:bodyPr>
          <a:lstStyle/>
          <a:p>
            <a:pPr algn="l">
              <a:spcAft>
                <a:spcPts val="600"/>
              </a:spcAft>
            </a:pPr>
            <a:r>
              <a:rPr sz="1900" b="1" i="0">
                <a:solidFill>
                  <a:srgbClr val="1F1F1F"/>
                </a:solidFill>
                <a:latin typeface="Calibri"/>
              </a:rPr>
              <a:t>How each question is taught</a:t>
            </a:r>
          </a:p>
          <a:p>
            <a:pPr algn="l">
              <a:spcAft>
                <a:spcPts val="600"/>
              </a:spcAft>
            </a:pPr>
            <a:r>
              <a:rPr sz="1900" b="0" i="0">
                <a:solidFill>
                  <a:srgbClr val="1F1F1F"/>
                </a:solidFill>
                <a:latin typeface="Calibri"/>
              </a:rPr>
              <a:t>•  The </a:t>
            </a:r>
            <a:r>
              <a:rPr sz="1900" b="1" i="0">
                <a:solidFill>
                  <a:srgbClr val="1F1F1F"/>
                </a:solidFill>
                <a:latin typeface="Calibri"/>
              </a:rPr>
              <a:t>question</a:t>
            </a:r>
            <a:r>
              <a:rPr sz="1900" b="0" i="0">
                <a:solidFill>
                  <a:srgbClr val="1F1F1F"/>
                </a:solidFill>
                <a:latin typeface="Calibri"/>
              </a:rPr>
              <a:t> exactly as the sheet asks it</a:t>
            </a:r>
          </a:p>
          <a:p>
            <a:pPr algn="l">
              <a:spcAft>
                <a:spcPts val="600"/>
              </a:spcAft>
            </a:pPr>
            <a:r>
              <a:rPr sz="1900" b="0" i="0">
                <a:solidFill>
                  <a:srgbClr val="1F1F1F"/>
                </a:solidFill>
                <a:latin typeface="Calibri"/>
              </a:rPr>
              <a:t>•  The </a:t>
            </a:r>
            <a:r>
              <a:rPr sz="1900" b="1" i="0">
                <a:solidFill>
                  <a:srgbClr val="1F1F1F"/>
                </a:solidFill>
                <a:latin typeface="Calibri"/>
              </a:rPr>
              <a:t>method</a:t>
            </a:r>
            <a:r>
              <a:rPr sz="1900" b="0" i="0">
                <a:solidFill>
                  <a:srgbClr val="1F1F1F"/>
                </a:solidFill>
                <a:latin typeface="Calibri"/>
              </a:rPr>
              <a:t> in numbered steps; each step appears on its own slide, with the figure built up one step at a time</a:t>
            </a:r>
          </a:p>
          <a:p>
            <a:pPr algn="l">
              <a:spcAft>
                <a:spcPts val="600"/>
              </a:spcAft>
            </a:pPr>
            <a:r>
              <a:rPr sz="1900" b="0" i="0">
                <a:solidFill>
                  <a:srgbClr val="1F1F1F"/>
                </a:solidFill>
                <a:latin typeface="Calibri"/>
              </a:rPr>
              <a:t>•  The </a:t>
            </a:r>
            <a:r>
              <a:rPr sz="1900" b="1" i="0">
                <a:solidFill>
                  <a:srgbClr val="1F1F1F"/>
                </a:solidFill>
                <a:latin typeface="Calibri"/>
              </a:rPr>
              <a:t>answer</a:t>
            </a:r>
            <a:r>
              <a:rPr sz="1900" b="0" i="0">
                <a:solidFill>
                  <a:srgbClr val="1F1F1F"/>
                </a:solidFill>
                <a:latin typeface="Calibri"/>
              </a:rPr>
              <a:t> (green box), with a check that it is sensible</a:t>
            </a:r>
          </a:p>
          <a:p>
            <a:pPr algn="l">
              <a:spcAft>
                <a:spcPts val="600"/>
              </a:spcAft>
            </a:pPr>
            <a:r>
              <a:rPr sz="1900" b="0" i="0">
                <a:solidFill>
                  <a:srgbClr val="1F1F1F"/>
                </a:solidFill>
                <a:latin typeface="Calibri"/>
              </a:rPr>
              <a:t>•  </a:t>
            </a:r>
            <a:r>
              <a:rPr sz="1900" b="1" i="0">
                <a:solidFill>
                  <a:srgbClr val="1F1F1F"/>
                </a:solidFill>
                <a:latin typeface="Calibri"/>
              </a:rPr>
              <a:t>Try it yourself</a:t>
            </a:r>
            <a:r>
              <a:rPr sz="1900" b="0" i="0">
                <a:solidFill>
                  <a:srgbClr val="1F1F1F"/>
                </a:solidFill>
                <a:latin typeface="Calibri"/>
              </a:rPr>
              <a:t> sets with worked answers, and a final self-test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Three corrections to the printed answer key</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Overview</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a:t>
            </a:r>
          </a:p>
        </p:txBody>
      </p:sp>
      <p:sp>
        <p:nvSpPr>
          <p:cNvPr id="6" name="Rounded Rectangle 5"/>
          <p:cNvSpPr/>
          <p:nvPr/>
        </p:nvSpPr>
        <p:spPr>
          <a:xfrm>
            <a:off x="411480" y="1143000"/>
            <a:ext cx="11338560" cy="1417320"/>
          </a:xfrm>
          <a:prstGeom prst="roundRect">
            <a:avLst>
              <a:gd name="adj" fmla="val 6000"/>
            </a:avLst>
          </a:prstGeom>
          <a:solidFill>
            <a:srgbClr val="FBE9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900" b="1" i="0">
                <a:solidFill>
                  <a:srgbClr val="D55E00"/>
                </a:solidFill>
                <a:latin typeface="Calibri"/>
              </a:rPr>
              <a:t>1.  Moisture Q6: the dew point is about 26 °C, not 25 °C</a:t>
            </a:r>
          </a:p>
          <a:p>
            <a:pPr algn="l">
              <a:spcAft>
                <a:spcPts val="300"/>
              </a:spcAft>
            </a:pPr>
            <a:r>
              <a:rPr sz="1900" b="0" i="0">
                <a:solidFill>
                  <a:srgbClr val="1F1F1F"/>
                </a:solidFill>
                <a:latin typeface="Calibri"/>
              </a:rPr>
              <a:t>The sample holds 21.78 g/kg. Air at 26 °C can hold 21.73 g/kg; at 25 °C only 20.4 g/kg, so 25 °C would already be oversaturated.</a:t>
            </a:r>
          </a:p>
        </p:txBody>
      </p:sp>
      <p:sp>
        <p:nvSpPr>
          <p:cNvPr id="7" name="Rounded Rectangle 6"/>
          <p:cNvSpPr/>
          <p:nvPr/>
        </p:nvSpPr>
        <p:spPr>
          <a:xfrm>
            <a:off x="411480" y="2743200"/>
            <a:ext cx="11338560" cy="1143000"/>
          </a:xfrm>
          <a:prstGeom prst="roundRect">
            <a:avLst>
              <a:gd name="adj" fmla="val 6000"/>
            </a:avLst>
          </a:prstGeom>
          <a:solidFill>
            <a:srgbClr val="FBE9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900" b="1" i="0">
                <a:solidFill>
                  <a:srgbClr val="D55E00"/>
                </a:solidFill>
                <a:latin typeface="Calibri"/>
              </a:rPr>
              <a:t>2.  Map Q12, model 1: the dew point is 21 °F, not 28 °F</a:t>
            </a:r>
          </a:p>
          <a:p>
            <a:pPr algn="l">
              <a:spcAft>
                <a:spcPts val="300"/>
              </a:spcAft>
            </a:pPr>
            <a:r>
              <a:rPr sz="1900" b="0" i="0">
                <a:solidFill>
                  <a:srgbClr val="1F1F1F"/>
                </a:solidFill>
                <a:latin typeface="Calibri"/>
              </a:rPr>
              <a:t>The station model printed on the sheet shows 21 at the bottom left.</a:t>
            </a:r>
          </a:p>
        </p:txBody>
      </p:sp>
      <p:sp>
        <p:nvSpPr>
          <p:cNvPr id="8" name="Rounded Rectangle 7"/>
          <p:cNvSpPr/>
          <p:nvPr/>
        </p:nvSpPr>
        <p:spPr>
          <a:xfrm>
            <a:off x="411480" y="4069080"/>
            <a:ext cx="11338560" cy="1508760"/>
          </a:xfrm>
          <a:prstGeom prst="roundRect">
            <a:avLst>
              <a:gd name="adj" fmla="val 6000"/>
            </a:avLst>
          </a:prstGeom>
          <a:solidFill>
            <a:srgbClr val="FBE9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900" b="1" i="0">
                <a:solidFill>
                  <a:srgbClr val="D55E00"/>
                </a:solidFill>
                <a:latin typeface="Calibri"/>
              </a:rPr>
              <a:t>3.  Table 1: two printed mixing ratios are typing slips</a:t>
            </a:r>
          </a:p>
          <a:p>
            <a:pPr algn="l">
              <a:spcAft>
                <a:spcPts val="300"/>
              </a:spcAft>
            </a:pPr>
            <a:r>
              <a:rPr sz="1900" b="0" i="0">
                <a:solidFill>
                  <a:srgbClr val="1F1F1F"/>
                </a:solidFill>
                <a:latin typeface="Calibri"/>
              </a:rPr>
              <a:t>3.189 g/kg at 0 °C should be </a:t>
            </a:r>
            <a:r>
              <a:rPr sz="1900" b="1" i="0">
                <a:solidFill>
                  <a:srgbClr val="1F1F1F"/>
                </a:solidFill>
                <a:latin typeface="Calibri"/>
              </a:rPr>
              <a:t>3.840</a:t>
            </a:r>
            <a:r>
              <a:rPr sz="1900" b="0" i="0">
                <a:solidFill>
                  <a:srgbClr val="1F1F1F"/>
                </a:solidFill>
                <a:latin typeface="Calibri"/>
              </a:rPr>
              <a:t>; 2.009 g/kg at −8 °C should be </a:t>
            </a:r>
            <a:r>
              <a:rPr sz="1900" b="1" i="0">
                <a:solidFill>
                  <a:srgbClr val="1F1F1F"/>
                </a:solidFill>
                <a:latin typeface="Calibri"/>
              </a:rPr>
              <a:t>2.099</a:t>
            </a:r>
            <a:r>
              <a:rPr sz="1900" b="0" i="0">
                <a:solidFill>
                  <a:srgbClr val="1F1F1F"/>
                </a:solidFill>
                <a:latin typeface="Calibri"/>
              </a:rPr>
              <a:t>. They kink the curve of Figures 2 and 3 but no question uses these two rows.</a:t>
            </a:r>
          </a:p>
        </p:txBody>
      </p:sp>
      <p:sp>
        <p:nvSpPr>
          <p:cNvPr id="9" name="TextBox 8"/>
          <p:cNvSpPr txBox="1"/>
          <p:nvPr/>
        </p:nvSpPr>
        <p:spPr>
          <a:xfrm>
            <a:off x="457200" y="5715000"/>
            <a:ext cx="11247120" cy="548640"/>
          </a:xfrm>
          <a:prstGeom prst="rect">
            <a:avLst/>
          </a:prstGeom>
          <a:noFill/>
        </p:spPr>
        <p:txBody>
          <a:bodyPr wrap="square" anchor="t" lIns="45720" rIns="45720">
            <a:spAutoFit/>
          </a:bodyPr>
          <a:lstStyle/>
          <a:p>
            <a:pPr algn="l">
              <a:spcAft>
                <a:spcPts val="600"/>
              </a:spcAft>
            </a:pPr>
            <a:r>
              <a:rPr sz="1400" b="0" i="0">
                <a:solidFill>
                  <a:srgbClr val="6B6B6B"/>
                </a:solidFill>
                <a:latin typeface="Calibri"/>
              </a:rPr>
              <a:t>The weather map stations were </a:t>
            </a:r>
            <a:r>
              <a:rPr sz="1400" b="1" i="0">
                <a:solidFill>
                  <a:srgbClr val="6B6B6B"/>
                </a:solidFill>
                <a:latin typeface="Calibri"/>
              </a:rPr>
              <a:t>read from the printed figures</a:t>
            </a:r>
            <a:r>
              <a:rPr sz="1400" b="0" i="0">
                <a:solidFill>
                  <a:srgbClr val="6B6B6B"/>
                </a:solidFill>
                <a:latin typeface="Calibri"/>
              </a:rPr>
              <a:t>; wind speeds are counted from the barbs, so they are approximate.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743200"/>
            <a:ext cx="1280160" cy="822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1188720"/>
          </a:xfrm>
          <a:prstGeom prst="rect">
            <a:avLst/>
          </a:prstGeom>
          <a:noFill/>
        </p:spPr>
        <p:txBody>
          <a:bodyPr wrap="square">
            <a:spAutoFit/>
          </a:bodyPr>
          <a:lstStyle/>
          <a:p>
            <a:r>
              <a:rPr sz="4400" b="1" i="0">
                <a:solidFill>
                  <a:srgbClr val="FFFFFF"/>
                </a:solidFill>
                <a:latin typeface="Calibri"/>
              </a:rPr>
              <a:t>Part I: Moisture in the air</a:t>
            </a:r>
          </a:p>
        </p:txBody>
      </p:sp>
      <p:sp>
        <p:nvSpPr>
          <p:cNvPr id="5" name="TextBox 4"/>
          <p:cNvSpPr txBox="1"/>
          <p:nvPr/>
        </p:nvSpPr>
        <p:spPr>
          <a:xfrm>
            <a:off x="731520" y="3017520"/>
            <a:ext cx="10515600" cy="2286000"/>
          </a:xfrm>
          <a:prstGeom prst="rect">
            <a:avLst/>
          </a:prstGeom>
          <a:noFill/>
        </p:spPr>
        <p:txBody>
          <a:bodyPr wrap="square">
            <a:spAutoFit/>
          </a:bodyPr>
          <a:lstStyle/>
          <a:p>
            <a:pPr>
              <a:spcAft>
                <a:spcPts val="600"/>
              </a:spcAft>
            </a:pPr>
            <a:r>
              <a:rPr sz="2200" b="0" i="0">
                <a:solidFill>
                  <a:srgbClr val="CFDDEE"/>
                </a:solidFill>
                <a:latin typeface="Calibri"/>
              </a:rPr>
              <a:t>Mixing ratio, relative humidity and the dew point</a:t>
            </a:r>
          </a:p>
          <a:p>
            <a:pPr>
              <a:spcAft>
                <a:spcPts val="600"/>
              </a:spcAft>
            </a:pPr>
            <a:r>
              <a:rPr sz="2200" b="0" i="0">
                <a:solidFill>
                  <a:srgbClr val="CFDDEE"/>
                </a:solidFill>
                <a:latin typeface="Calibri"/>
              </a:rPr>
              <a:t>Moisture Q1 to Q6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Vapour pressure and saturation</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a:t>
            </a:r>
          </a:p>
        </p:txBody>
      </p:sp>
      <p:sp>
        <p:nvSpPr>
          <p:cNvPr id="6" name="TextBox 5"/>
          <p:cNvSpPr txBox="1"/>
          <p:nvPr/>
        </p:nvSpPr>
        <p:spPr>
          <a:xfrm>
            <a:off x="411480" y="1097280"/>
            <a:ext cx="4846320" cy="512064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Each gas in air contributes a share of the pressure. For water vapour it is the </a:t>
            </a:r>
            <a:r>
              <a:rPr sz="1900" b="1" i="0">
                <a:solidFill>
                  <a:srgbClr val="1F1F1F"/>
                </a:solidFill>
                <a:latin typeface="Calibri"/>
              </a:rPr>
              <a:t>vapour pressure</a:t>
            </a:r>
            <a:r>
              <a:rPr sz="1900" b="0" i="0">
                <a:solidFill>
                  <a:srgbClr val="1F1F1F"/>
                </a:solidFill>
                <a:latin typeface="Calibri"/>
              </a:rPr>
              <a:t>, e.</a:t>
            </a:r>
          </a:p>
          <a:p>
            <a:pPr algn="l">
              <a:spcAft>
                <a:spcPts val="600"/>
              </a:spcAft>
            </a:pPr>
            <a:r>
              <a:rPr sz="1900" b="0" i="0">
                <a:solidFill>
                  <a:srgbClr val="1F1F1F"/>
                </a:solidFill>
                <a:latin typeface="Calibri"/>
              </a:rPr>
              <a:t>Above liquid water, evaporation and condensation balance when the air is </a:t>
            </a:r>
            <a:r>
              <a:rPr sz="1900" b="1" i="0">
                <a:solidFill>
                  <a:srgbClr val="1F1F1F"/>
                </a:solidFill>
                <a:latin typeface="Calibri"/>
              </a:rPr>
              <a:t>saturated</a:t>
            </a:r>
            <a:r>
              <a:rPr sz="1900" b="0" i="0">
                <a:solidFill>
                  <a:srgbClr val="1F1F1F"/>
                </a:solidFill>
                <a:latin typeface="Calibri"/>
              </a:rPr>
              <a:t>: e reaches its upper limit, the </a:t>
            </a:r>
            <a:r>
              <a:rPr sz="1900" b="1" i="0">
                <a:solidFill>
                  <a:srgbClr val="1F1F1F"/>
                </a:solidFill>
                <a:latin typeface="Calibri"/>
              </a:rPr>
              <a:t>saturation vapour pressure</a:t>
            </a:r>
            <a:r>
              <a:rPr sz="1900" b="0" i="0">
                <a:solidFill>
                  <a:srgbClr val="1F1F1F"/>
                </a:solidFill>
                <a:latin typeface="Calibri"/>
              </a:rPr>
              <a:t> e</a:t>
            </a:r>
            <a:r>
              <a:rPr sz="1900" b="0" i="0" baseline="-25000">
                <a:solidFill>
                  <a:srgbClr val="1F1F1F"/>
                </a:solidFill>
                <a:latin typeface="Calibri"/>
              </a:rPr>
              <a:t>s</a:t>
            </a:r>
            <a:r>
              <a:rPr sz="1900" b="0" i="0">
                <a:solidFill>
                  <a:srgbClr val="1F1F1F"/>
                </a:solidFill>
                <a:latin typeface="Calibri"/>
              </a:rPr>
              <a:t>.</a:t>
            </a:r>
          </a:p>
          <a:p>
            <a:pPr algn="l">
              <a:spcAft>
                <a:spcPts val="600"/>
              </a:spcAft>
            </a:pPr>
            <a:r>
              <a:rPr sz="1900" b="0" i="0">
                <a:solidFill>
                  <a:srgbClr val="1F1F1F"/>
                </a:solidFill>
                <a:latin typeface="Calibri"/>
              </a:rPr>
              <a:t>e</a:t>
            </a:r>
            <a:r>
              <a:rPr sz="1900" b="0" i="0" baseline="-25000">
                <a:solidFill>
                  <a:srgbClr val="1F1F1F"/>
                </a:solidFill>
                <a:latin typeface="Calibri"/>
              </a:rPr>
              <a:t>s</a:t>
            </a:r>
            <a:r>
              <a:rPr sz="1900" b="0" i="0">
                <a:solidFill>
                  <a:srgbClr val="1F1F1F"/>
                </a:solidFill>
                <a:latin typeface="Calibri"/>
              </a:rPr>
              <a:t> rises </a:t>
            </a:r>
            <a:r>
              <a:rPr sz="1900" b="1" i="0">
                <a:solidFill>
                  <a:srgbClr val="1F1F1F"/>
                </a:solidFill>
                <a:latin typeface="Calibri"/>
              </a:rPr>
              <a:t>steeply</a:t>
            </a:r>
            <a:r>
              <a:rPr sz="1900" b="0" i="0">
                <a:solidFill>
                  <a:srgbClr val="1F1F1F"/>
                </a:solidFill>
                <a:latin typeface="Calibri"/>
              </a:rPr>
              <a:t> with temperature:</a:t>
            </a:r>
          </a:p>
          <a:p>
            <a:pPr algn="l">
              <a:spcAft>
                <a:spcPts val="600"/>
              </a:spcAft>
            </a:pPr>
            <a:r>
              <a:rPr sz="1900" b="0" i="0">
                <a:solidFill>
                  <a:srgbClr val="1F1F1F"/>
                </a:solidFill>
                <a:latin typeface="Calibri"/>
              </a:rPr>
              <a:t>•  6.1 mb at 0 °C</a:t>
            </a:r>
          </a:p>
          <a:p>
            <a:pPr algn="l">
              <a:spcAft>
                <a:spcPts val="600"/>
              </a:spcAft>
            </a:pPr>
            <a:r>
              <a:rPr sz="1900" b="0" i="0">
                <a:solidFill>
                  <a:srgbClr val="1F1F1F"/>
                </a:solidFill>
                <a:latin typeface="Calibri"/>
              </a:rPr>
              <a:t>•  23.4 mb at 20 °C</a:t>
            </a:r>
          </a:p>
          <a:p>
            <a:pPr algn="l">
              <a:spcAft>
                <a:spcPts val="600"/>
              </a:spcAft>
            </a:pPr>
            <a:r>
              <a:rPr sz="1900" b="0" i="0">
                <a:solidFill>
                  <a:srgbClr val="1F1F1F"/>
                </a:solidFill>
                <a:latin typeface="Calibri"/>
              </a:rPr>
              <a:t>•  73.8 mb at 40 °C</a:t>
            </a:r>
          </a:p>
          <a:p>
            <a:pPr algn="l">
              <a:spcAft>
                <a:spcPts val="600"/>
              </a:spcAft>
            </a:pPr>
            <a:r>
              <a:rPr sz="1900" b="0" i="0">
                <a:solidFill>
                  <a:srgbClr val="1F1F1F"/>
                </a:solidFill>
                <a:latin typeface="Calibri"/>
              </a:rPr>
              <a:t>This is Figure 1 of the sheet: the Clausius–Clapeyron curve.</a:t>
            </a:r>
          </a:p>
        </p:txBody>
      </p:sp>
      <p:pic>
        <p:nvPicPr>
          <p:cNvPr id="7" name="Picture 6" descr="ch02_01.png"/>
          <p:cNvPicPr>
            <a:picLocks noChangeAspect="1"/>
          </p:cNvPicPr>
          <p:nvPr/>
        </p:nvPicPr>
        <p:blipFill>
          <a:blip r:embed="rId3"/>
          <a:stretch>
            <a:fillRect/>
          </a:stretch>
        </p:blipFill>
        <p:spPr>
          <a:xfrm>
            <a:off x="5394960" y="2201706"/>
            <a:ext cx="6400800" cy="291178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Mixing ratio and saturation mixing ratio</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a:t>
            </a:r>
          </a:p>
        </p:txBody>
      </p:sp>
      <p:sp>
        <p:nvSpPr>
          <p:cNvPr id="6" name="TextBox 5"/>
          <p:cNvSpPr txBox="1"/>
          <p:nvPr/>
        </p:nvSpPr>
        <p:spPr>
          <a:xfrm>
            <a:off x="411480" y="1097280"/>
            <a:ext cx="4846320" cy="310896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The </a:t>
            </a:r>
            <a:r>
              <a:rPr sz="1900" b="1" i="0">
                <a:solidFill>
                  <a:srgbClr val="1F1F1F"/>
                </a:solidFill>
                <a:latin typeface="Calibri"/>
              </a:rPr>
              <a:t>mixing ratio</a:t>
            </a:r>
            <a:r>
              <a:rPr sz="1900" b="0" i="0">
                <a:solidFill>
                  <a:srgbClr val="1F1F1F"/>
                </a:solidFill>
                <a:latin typeface="Calibri"/>
              </a:rPr>
              <a:t> w is the mass of water vapour per kilogram of </a:t>
            </a:r>
            <a:r>
              <a:rPr sz="1900" b="1" i="0">
                <a:solidFill>
                  <a:srgbClr val="1F1F1F"/>
                </a:solidFill>
                <a:latin typeface="Calibri"/>
              </a:rPr>
              <a:t>dry</a:t>
            </a:r>
            <a:r>
              <a:rPr sz="1900" b="0" i="0">
                <a:solidFill>
                  <a:srgbClr val="1F1F1F"/>
                </a:solidFill>
                <a:latin typeface="Calibri"/>
              </a:rPr>
              <a:t> air (g/kg).</a:t>
            </a:r>
          </a:p>
          <a:p>
            <a:pPr algn="l">
              <a:spcAft>
                <a:spcPts val="600"/>
              </a:spcAft>
            </a:pPr>
            <a:r>
              <a:rPr sz="1900" b="0" i="0">
                <a:solidFill>
                  <a:srgbClr val="1F1F1F"/>
                </a:solidFill>
                <a:latin typeface="Calibri"/>
              </a:rPr>
              <a:t>When the air is saturated it is the </a:t>
            </a:r>
            <a:r>
              <a:rPr sz="1900" b="1" i="0">
                <a:solidFill>
                  <a:srgbClr val="1F1F1F"/>
                </a:solidFill>
                <a:latin typeface="Calibri"/>
              </a:rPr>
              <a:t>saturation mixing ratio</a:t>
            </a:r>
            <a:r>
              <a:rPr sz="1900" b="0" i="0">
                <a:solidFill>
                  <a:srgbClr val="1F1F1F"/>
                </a:solidFill>
                <a:latin typeface="Calibri"/>
              </a:rPr>
              <a:t>, w</a:t>
            </a:r>
            <a:r>
              <a:rPr sz="1900" b="0" i="0" baseline="-25000">
                <a:solidFill>
                  <a:srgbClr val="1F1F1F"/>
                </a:solidFill>
                <a:latin typeface="Calibri"/>
              </a:rPr>
              <a:t>s</a:t>
            </a:r>
            <a:r>
              <a:rPr sz="1900" b="0" i="0">
                <a:solidFill>
                  <a:srgbClr val="1F1F1F"/>
                </a:solidFill>
                <a:latin typeface="Calibri"/>
              </a:rPr>
              <a:t>: the second number column of Table 1.</a:t>
            </a:r>
          </a:p>
          <a:p>
            <a:pPr algn="l">
              <a:spcAft>
                <a:spcPts val="600"/>
              </a:spcAft>
            </a:pPr>
            <a:r>
              <a:rPr sz="1900" b="0" i="0">
                <a:solidFill>
                  <a:srgbClr val="1F1F1F"/>
                </a:solidFill>
                <a:latin typeface="Calibri"/>
              </a:rPr>
              <a:t>The two measures are linked:</a:t>
            </a:r>
          </a:p>
        </p:txBody>
      </p:sp>
      <p:sp>
        <p:nvSpPr>
          <p:cNvPr id="7" name="Rounded Rectangle 6"/>
          <p:cNvSpPr/>
          <p:nvPr/>
        </p:nvSpPr>
        <p:spPr>
          <a:xfrm>
            <a:off x="457200" y="4023360"/>
            <a:ext cx="4754880" cy="91440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600" b="1" i="0">
                <a:solidFill>
                  <a:srgbClr val="0072B2"/>
                </a:solidFill>
                <a:latin typeface="Calibri"/>
              </a:rPr>
              <a:t>Link</a:t>
            </a:r>
          </a:p>
          <a:p>
            <a:pPr algn="l">
              <a:spcAft>
                <a:spcPts val="300"/>
              </a:spcAft>
            </a:pPr>
            <a:r>
              <a:rPr sz="1600" b="0" i="0">
                <a:solidFill>
                  <a:srgbClr val="1F1F1F"/>
                </a:solidFill>
                <a:latin typeface="Calibri"/>
              </a:rPr>
              <a:t>w ≈ 622 e / (p − e)   g/kg</a:t>
            </a:r>
          </a:p>
        </p:txBody>
      </p:sp>
      <p:sp>
        <p:nvSpPr>
          <p:cNvPr id="8" name="TextBox 7"/>
          <p:cNvSpPr txBox="1"/>
          <p:nvPr/>
        </p:nvSpPr>
        <p:spPr>
          <a:xfrm>
            <a:off x="457200" y="5120640"/>
            <a:ext cx="4846320" cy="1097280"/>
          </a:xfrm>
          <a:prstGeom prst="rect">
            <a:avLst/>
          </a:prstGeom>
          <a:noFill/>
        </p:spPr>
        <p:txBody>
          <a:bodyPr wrap="square" anchor="t" lIns="45720" rIns="45720">
            <a:spAutoFit/>
          </a:bodyPr>
          <a:lstStyle/>
          <a:p>
            <a:pPr algn="l">
              <a:spcAft>
                <a:spcPts val="600"/>
              </a:spcAft>
            </a:pPr>
            <a:r>
              <a:rPr sz="1600" b="0" i="0">
                <a:solidFill>
                  <a:srgbClr val="6B6B6B"/>
                </a:solidFill>
                <a:latin typeface="Calibri"/>
              </a:rPr>
              <a:t>Table 1 fits p ≈ </a:t>
            </a:r>
            <a:r>
              <a:rPr sz="1600" b="1" i="0">
                <a:solidFill>
                  <a:srgbClr val="6B6B6B"/>
                </a:solidFill>
                <a:latin typeface="Calibri"/>
              </a:rPr>
              <a:t>995.5 hPa</a:t>
            </a:r>
            <a:r>
              <a:rPr sz="1600" b="0" i="0">
                <a:solidFill>
                  <a:srgbClr val="6B6B6B"/>
                </a:solidFill>
                <a:latin typeface="Calibri"/>
              </a:rPr>
              <a:t> (not 1013): that pressure is used for every calculation here.</a:t>
            </a:r>
          </a:p>
        </p:txBody>
      </p:sp>
      <p:pic>
        <p:nvPicPr>
          <p:cNvPr id="9" name="Picture 8" descr="ch02_02.png"/>
          <p:cNvPicPr>
            <a:picLocks noChangeAspect="1"/>
          </p:cNvPicPr>
          <p:nvPr/>
        </p:nvPicPr>
        <p:blipFill>
          <a:blip r:embed="rId3"/>
          <a:stretch>
            <a:fillRect/>
          </a:stretch>
        </p:blipFill>
        <p:spPr>
          <a:xfrm>
            <a:off x="5394960" y="2224154"/>
            <a:ext cx="6400800" cy="286689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Relative humidity: how full is the glass?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a:t>
            </a:r>
          </a:p>
        </p:txBody>
      </p:sp>
      <p:sp>
        <p:nvSpPr>
          <p:cNvPr id="6" name="TextBox 5"/>
          <p:cNvSpPr txBox="1"/>
          <p:nvPr/>
        </p:nvSpPr>
        <p:spPr>
          <a:xfrm>
            <a:off x="411480" y="1097280"/>
            <a:ext cx="4846320" cy="38404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Picture the air as a </a:t>
            </a:r>
            <a:r>
              <a:rPr sz="1900" b="1" i="0">
                <a:solidFill>
                  <a:srgbClr val="1F1F1F"/>
                </a:solidFill>
                <a:latin typeface="Calibri"/>
              </a:rPr>
              <a:t>glass</a:t>
            </a:r>
            <a:r>
              <a:rPr sz="1900" b="0" i="0">
                <a:solidFill>
                  <a:srgbClr val="1F1F1F"/>
                </a:solidFill>
                <a:latin typeface="Calibri"/>
              </a:rPr>
              <a:t>:</a:t>
            </a:r>
          </a:p>
          <a:p>
            <a:pPr algn="l">
              <a:spcAft>
                <a:spcPts val="600"/>
              </a:spcAft>
            </a:pPr>
            <a:r>
              <a:rPr sz="1900" b="0" i="0">
                <a:solidFill>
                  <a:srgbClr val="1F1F1F"/>
                </a:solidFill>
                <a:latin typeface="Calibri"/>
              </a:rPr>
              <a:t>•  </a:t>
            </a:r>
            <a:r>
              <a:rPr sz="1900" b="1" i="0">
                <a:solidFill>
                  <a:srgbClr val="1F1F1F"/>
                </a:solidFill>
                <a:latin typeface="Calibri"/>
              </a:rPr>
              <a:t>size of the glass</a:t>
            </a:r>
            <a:r>
              <a:rPr sz="1900" b="0" i="0">
                <a:solidFill>
                  <a:srgbClr val="1F1F1F"/>
                </a:solidFill>
                <a:latin typeface="Calibri"/>
              </a:rPr>
              <a:t> = saturation mixing ratio w</a:t>
            </a:r>
            <a:r>
              <a:rPr sz="1900" b="0" i="0" baseline="-25000">
                <a:solidFill>
                  <a:srgbClr val="1F1F1F"/>
                </a:solidFill>
                <a:latin typeface="Calibri"/>
              </a:rPr>
              <a:t>s</a:t>
            </a:r>
            <a:r>
              <a:rPr sz="1900" b="0" i="0">
                <a:solidFill>
                  <a:srgbClr val="1F1F1F"/>
                </a:solidFill>
                <a:latin typeface="Calibri"/>
              </a:rPr>
              <a:t> at the air's temperature (warm air = big glass)</a:t>
            </a:r>
          </a:p>
          <a:p>
            <a:pPr algn="l">
              <a:spcAft>
                <a:spcPts val="600"/>
              </a:spcAft>
            </a:pPr>
            <a:r>
              <a:rPr sz="1900" b="0" i="0">
                <a:solidFill>
                  <a:srgbClr val="1F1F1F"/>
                </a:solidFill>
                <a:latin typeface="Calibri"/>
              </a:rPr>
              <a:t>•  </a:t>
            </a:r>
            <a:r>
              <a:rPr sz="1900" b="1" i="0">
                <a:solidFill>
                  <a:srgbClr val="1F1F1F"/>
                </a:solidFill>
                <a:latin typeface="Calibri"/>
              </a:rPr>
              <a:t>water in the glass</a:t>
            </a:r>
            <a:r>
              <a:rPr sz="1900" b="0" i="0">
                <a:solidFill>
                  <a:srgbClr val="1F1F1F"/>
                </a:solidFill>
                <a:latin typeface="Calibri"/>
              </a:rPr>
              <a:t> = the actual mixing ratio w</a:t>
            </a:r>
          </a:p>
          <a:p>
            <a:pPr algn="l">
              <a:spcAft>
                <a:spcPts val="600"/>
              </a:spcAft>
            </a:pPr>
            <a:r>
              <a:rPr sz="1900" b="0" i="0">
                <a:solidFill>
                  <a:srgbClr val="1F1F1F"/>
                </a:solidFill>
                <a:latin typeface="Calibri"/>
              </a:rPr>
              <a:t>•  </a:t>
            </a:r>
            <a:r>
              <a:rPr sz="1900" b="1" i="0">
                <a:solidFill>
                  <a:srgbClr val="1F1F1F"/>
                </a:solidFill>
                <a:latin typeface="Calibri"/>
              </a:rPr>
              <a:t>relative humidity</a:t>
            </a:r>
            <a:r>
              <a:rPr sz="1900" b="0" i="0">
                <a:solidFill>
                  <a:srgbClr val="1F1F1F"/>
                </a:solidFill>
                <a:latin typeface="Calibri"/>
              </a:rPr>
              <a:t> = how full the glass is</a:t>
            </a:r>
          </a:p>
        </p:txBody>
      </p:sp>
      <p:sp>
        <p:nvSpPr>
          <p:cNvPr id="7" name="Rounded Rectangle 6"/>
          <p:cNvSpPr/>
          <p:nvPr/>
        </p:nvSpPr>
        <p:spPr>
          <a:xfrm>
            <a:off x="457200" y="4754880"/>
            <a:ext cx="4754880" cy="128016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600" b="1" i="0">
                <a:solidFill>
                  <a:srgbClr val="0072B2"/>
                </a:solidFill>
                <a:latin typeface="Calibri"/>
              </a:rPr>
              <a:t>Relative humidity</a:t>
            </a:r>
          </a:p>
          <a:p>
            <a:pPr algn="l">
              <a:spcAft>
                <a:spcPts val="300"/>
              </a:spcAft>
            </a:pPr>
            <a:r>
              <a:rPr sz="1600" b="0" i="0">
                <a:solidFill>
                  <a:srgbClr val="1F1F1F"/>
                </a:solidFill>
                <a:latin typeface="Calibri"/>
              </a:rPr>
              <a:t>RH = w / w</a:t>
            </a:r>
            <a:r>
              <a:rPr sz="1600" b="0" i="0" baseline="-25000">
                <a:solidFill>
                  <a:srgbClr val="1F1F1F"/>
                </a:solidFill>
                <a:latin typeface="Calibri"/>
              </a:rPr>
              <a:t>s</a:t>
            </a:r>
            <a:r>
              <a:rPr sz="1600" b="0" i="0">
                <a:solidFill>
                  <a:srgbClr val="1F1F1F"/>
                </a:solidFill>
                <a:latin typeface="Calibri"/>
              </a:rPr>
              <a:t> × 100 %</a:t>
            </a:r>
          </a:p>
          <a:p>
            <a:pPr algn="l">
              <a:spcAft>
                <a:spcPts val="300"/>
              </a:spcAft>
            </a:pPr>
            <a:r>
              <a:rPr sz="1600" b="0" i="0">
                <a:solidFill>
                  <a:srgbClr val="1F1F1F"/>
                </a:solidFill>
                <a:latin typeface="Calibri"/>
              </a:rPr>
              <a:t>(or  RH = e / e</a:t>
            </a:r>
            <a:r>
              <a:rPr sz="1600" b="0" i="0" baseline="-25000">
                <a:solidFill>
                  <a:srgbClr val="1F1F1F"/>
                </a:solidFill>
                <a:latin typeface="Calibri"/>
              </a:rPr>
              <a:t>s</a:t>
            </a:r>
            <a:r>
              <a:rPr sz="1600" b="0" i="0">
                <a:solidFill>
                  <a:srgbClr val="1F1F1F"/>
                </a:solidFill>
                <a:latin typeface="Calibri"/>
              </a:rPr>
              <a:t> × 100 %)</a:t>
            </a:r>
          </a:p>
        </p:txBody>
      </p:sp>
      <p:pic>
        <p:nvPicPr>
          <p:cNvPr id="8" name="Picture 7" descr="ch02_03.png"/>
          <p:cNvPicPr>
            <a:picLocks noChangeAspect="1"/>
          </p:cNvPicPr>
          <p:nvPr/>
        </p:nvPicPr>
        <p:blipFill>
          <a:blip r:embed="rId3"/>
          <a:stretch>
            <a:fillRect/>
          </a:stretch>
        </p:blipFill>
        <p:spPr>
          <a:xfrm>
            <a:off x="5394960" y="2227166"/>
            <a:ext cx="6400800" cy="249510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Reading Table 1: three skills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a:t>
            </a:r>
          </a:p>
        </p:txBody>
      </p:sp>
      <p:sp>
        <p:nvSpPr>
          <p:cNvPr id="6" name="TextBox 5"/>
          <p:cNvSpPr txBox="1"/>
          <p:nvPr/>
        </p:nvSpPr>
        <p:spPr>
          <a:xfrm>
            <a:off x="411480" y="1051560"/>
            <a:ext cx="5486400" cy="4114800"/>
          </a:xfrm>
          <a:prstGeom prst="rect">
            <a:avLst/>
          </a:prstGeom>
          <a:noFill/>
        </p:spPr>
        <p:txBody>
          <a:bodyPr wrap="square" anchor="t" lIns="45720" rIns="45720">
            <a:spAutoFit/>
          </a:bodyPr>
          <a:lstStyle/>
          <a:p>
            <a:pPr algn="l">
              <a:spcAft>
                <a:spcPts val="600"/>
              </a:spcAft>
            </a:pPr>
            <a:r>
              <a:rPr sz="2000" b="1" i="0">
                <a:solidFill>
                  <a:srgbClr val="1F1F1F"/>
                </a:solidFill>
                <a:latin typeface="Calibri"/>
              </a:rPr>
              <a:t>1. Look up</a:t>
            </a:r>
            <a:r>
              <a:rPr sz="2000" b="0" i="0">
                <a:solidFill>
                  <a:srgbClr val="1F1F1F"/>
                </a:solidFill>
                <a:latin typeface="Calibri"/>
              </a:rPr>
              <a:t> a listed temperature: w</a:t>
            </a:r>
            <a:r>
              <a:rPr sz="2000" b="0" i="0" baseline="-25000">
                <a:solidFill>
                  <a:srgbClr val="1F1F1F"/>
                </a:solidFill>
                <a:latin typeface="Calibri"/>
              </a:rPr>
              <a:t>s</a:t>
            </a:r>
            <a:r>
              <a:rPr sz="2000" b="0" i="0">
                <a:solidFill>
                  <a:srgbClr val="1F1F1F"/>
                </a:solidFill>
                <a:latin typeface="Calibri"/>
              </a:rPr>
              <a:t>(24 °C) = 19.21 g/kg.</a:t>
            </a:r>
          </a:p>
          <a:p>
            <a:pPr algn="l">
              <a:spcAft>
                <a:spcPts val="600"/>
              </a:spcAft>
            </a:pPr>
            <a:r>
              <a:rPr sz="2000" b="1" i="0">
                <a:solidFill>
                  <a:srgbClr val="1F1F1F"/>
                </a:solidFill>
                <a:latin typeface="Calibri"/>
              </a:rPr>
              <a:t>2. Interpolate</a:t>
            </a:r>
            <a:r>
              <a:rPr sz="2000" b="0" i="0">
                <a:solidFill>
                  <a:srgbClr val="1F1F1F"/>
                </a:solidFill>
                <a:latin typeface="Calibri"/>
              </a:rPr>
              <a:t> between rows for an unlisted temperature: w</a:t>
            </a:r>
            <a:r>
              <a:rPr sz="2000" b="0" i="0" baseline="-25000">
                <a:solidFill>
                  <a:srgbClr val="1F1F1F"/>
                </a:solidFill>
                <a:latin typeface="Calibri"/>
              </a:rPr>
              <a:t>s</a:t>
            </a:r>
            <a:r>
              <a:rPr sz="2000" b="0" i="0">
                <a:solidFill>
                  <a:srgbClr val="1F1F1F"/>
                </a:solidFill>
                <a:latin typeface="Calibri"/>
              </a:rPr>
              <a:t>(25 °C) ≈ (19.21 + 21.734) / 2 = 20.47 g/kg (exact 20.44).</a:t>
            </a:r>
          </a:p>
          <a:p>
            <a:pPr algn="l">
              <a:spcAft>
                <a:spcPts val="600"/>
              </a:spcAft>
            </a:pPr>
            <a:r>
              <a:rPr sz="2000" b="1" i="0">
                <a:solidFill>
                  <a:srgbClr val="1F1F1F"/>
                </a:solidFill>
                <a:latin typeface="Calibri"/>
              </a:rPr>
              <a:t>3. Look up backwards:</a:t>
            </a:r>
            <a:r>
              <a:rPr sz="2000" b="0" i="0">
                <a:solidFill>
                  <a:srgbClr val="1F1F1F"/>
                </a:solidFill>
                <a:latin typeface="Calibri"/>
              </a:rPr>
              <a:t> given w, find the temperature at which w</a:t>
            </a:r>
            <a:r>
              <a:rPr sz="2000" b="0" i="0" baseline="-25000">
                <a:solidFill>
                  <a:srgbClr val="1F1F1F"/>
                </a:solidFill>
                <a:latin typeface="Calibri"/>
              </a:rPr>
              <a:t>s</a:t>
            </a:r>
            <a:r>
              <a:rPr sz="2000" b="0" i="0">
                <a:solidFill>
                  <a:srgbClr val="1F1F1F"/>
                </a:solidFill>
                <a:latin typeface="Calibri"/>
              </a:rPr>
              <a:t> = w. That is a </a:t>
            </a:r>
            <a:r>
              <a:rPr sz="2000" b="1" i="0">
                <a:solidFill>
                  <a:srgbClr val="1F1F1F"/>
                </a:solidFill>
                <a:latin typeface="Calibri"/>
              </a:rPr>
              <a:t>dew point</a:t>
            </a:r>
            <a:r>
              <a:rPr sz="2000" b="0" i="0">
                <a:solidFill>
                  <a:srgbClr val="1F1F1F"/>
                </a:solidFill>
                <a:latin typeface="Calibri"/>
              </a:rPr>
              <a:t>.</a:t>
            </a:r>
          </a:p>
        </p:txBody>
      </p:sp>
      <p:graphicFrame>
        <p:nvGraphicFramePr>
          <p:cNvPr id="7" name="Table 6"/>
          <p:cNvGraphicFramePr>
            <a:graphicFrameLocks noGrp="1"/>
          </p:cNvGraphicFramePr>
          <p:nvPr/>
        </p:nvGraphicFramePr>
        <p:xfrm>
          <a:off x="6309360" y="1097280"/>
          <a:ext cx="5486398" cy="4114800"/>
        </p:xfrm>
        <a:graphic>
          <a:graphicData uri="http://schemas.openxmlformats.org/drawingml/2006/table">
            <a:tbl>
              <a:tblPr firstRow="0" bandRow="0">
                <a:tableStyleId>{5940675A-B579-460E-94D1-54222C63F5DA}</a:tableStyleId>
              </a:tblPr>
              <a:tblGrid>
                <a:gridCol w="1192695"/>
                <a:gridCol w="1431234"/>
                <a:gridCol w="2862469"/>
              </a:tblGrid>
              <a:tr h="457200">
                <a:tc>
                  <a:txBody>
                    <a:bodyPr wrap="square"/>
                    <a:lstStyle/>
                    <a:p>
                      <a:pPr algn="l"/>
                      <a:r>
                        <a:rPr sz="1700" b="1" i="0">
                          <a:solidFill>
                            <a:srgbClr val="FFFFFF"/>
                          </a:solidFill>
                          <a:latin typeface="Calibri"/>
                        </a:rPr>
                        <a:t>T (°C)</a:t>
                      </a:r>
                    </a:p>
                  </a:txBody>
                  <a:tcPr marL="73152" marR="73152" marT="27432" marB="27432" anchor="ctr">
                    <a:solidFill>
                      <a:srgbClr val="1B3A6B"/>
                    </a:solidFill>
                  </a:tcPr>
                </a:tc>
                <a:tc>
                  <a:txBody>
                    <a:bodyPr wrap="square"/>
                    <a:lstStyle/>
                    <a:p>
                      <a:pPr algn="l"/>
                      <a:r>
                        <a:rPr sz="1700" b="1" i="0">
                          <a:solidFill>
                            <a:srgbClr val="FFFFFF"/>
                          </a:solidFill>
                          <a:latin typeface="Calibri"/>
                        </a:rPr>
                        <a:t>e</a:t>
                      </a:r>
                      <a:r>
                        <a:rPr sz="1700" b="1" i="0" baseline="-25000">
                          <a:solidFill>
                            <a:srgbClr val="FFFFFF"/>
                          </a:solidFill>
                          <a:latin typeface="Calibri"/>
                        </a:rPr>
                        <a:t>s</a:t>
                      </a:r>
                      <a:r>
                        <a:rPr sz="1700" b="1" i="0">
                          <a:solidFill>
                            <a:srgbClr val="FFFFFF"/>
                          </a:solidFill>
                          <a:latin typeface="Calibri"/>
                        </a:rPr>
                        <a:t> (mb)</a:t>
                      </a:r>
                    </a:p>
                  </a:txBody>
                  <a:tcPr marL="73152" marR="73152" marT="27432" marB="27432" anchor="ctr">
                    <a:solidFill>
                      <a:srgbClr val="1B3A6B"/>
                    </a:solidFill>
                  </a:tcPr>
                </a:tc>
                <a:tc>
                  <a:txBody>
                    <a:bodyPr wrap="square"/>
                    <a:lstStyle/>
                    <a:p>
                      <a:pPr algn="l"/>
                      <a:r>
                        <a:rPr sz="1700" b="1" i="0">
                          <a:solidFill>
                            <a:srgbClr val="FFFFFF"/>
                          </a:solidFill>
                          <a:latin typeface="Calibri"/>
                        </a:rPr>
                        <a:t>w</a:t>
                      </a:r>
                      <a:r>
                        <a:rPr sz="1700" b="1" i="0" baseline="-25000">
                          <a:solidFill>
                            <a:srgbClr val="FFFFFF"/>
                          </a:solidFill>
                          <a:latin typeface="Calibri"/>
                        </a:rPr>
                        <a:t>s</a:t>
                      </a:r>
                      <a:r>
                        <a:rPr sz="1700" b="1" i="0">
                          <a:solidFill>
                            <a:srgbClr val="FFFFFF"/>
                          </a:solidFill>
                          <a:latin typeface="Calibri"/>
                        </a:rPr>
                        <a:t> (g/kg)</a:t>
                      </a:r>
                    </a:p>
                  </a:txBody>
                  <a:tcPr marL="73152" marR="73152" marT="27432" marB="27432" anchor="ctr">
                    <a:solidFill>
                      <a:srgbClr val="1B3A6B"/>
                    </a:solidFill>
                  </a:tcPr>
                </a:tc>
              </a:tr>
              <a:tr h="457200">
                <a:tc>
                  <a:txBody>
                    <a:bodyPr wrap="square"/>
                    <a:lstStyle/>
                    <a:p>
                      <a:pPr algn="l"/>
                      <a:r>
                        <a:rPr sz="1700" b="0" i="0">
                          <a:solidFill>
                            <a:srgbClr val="1F1F1F"/>
                          </a:solidFill>
                          <a:latin typeface="Calibri"/>
                        </a:rPr>
                        <a:t>0</a:t>
                      </a:r>
                    </a:p>
                  </a:txBody>
                  <a:tcPr marL="73152" marR="73152" marT="27432" marB="27432" anchor="ctr">
                    <a:solidFill>
                      <a:srgbClr val="FFF1DA"/>
                    </a:solidFill>
                  </a:tcPr>
                </a:tc>
                <a:tc>
                  <a:txBody>
                    <a:bodyPr wrap="square"/>
                    <a:lstStyle/>
                    <a:p>
                      <a:pPr algn="l"/>
                      <a:r>
                        <a:rPr sz="1700" b="0" i="0">
                          <a:solidFill>
                            <a:srgbClr val="1F1F1F"/>
                          </a:solidFill>
                          <a:latin typeface="Calibri"/>
                        </a:rPr>
                        <a:t>6.108</a:t>
                      </a:r>
                    </a:p>
                  </a:txBody>
                  <a:tcPr marL="73152" marR="73152" marT="27432" marB="27432" anchor="ctr">
                    <a:solidFill>
                      <a:srgbClr val="FFF1DA"/>
                    </a:solidFill>
                  </a:tcPr>
                </a:tc>
                <a:tc>
                  <a:txBody>
                    <a:bodyPr wrap="square"/>
                    <a:lstStyle/>
                    <a:p>
                      <a:pPr algn="l"/>
                      <a:r>
                        <a:rPr sz="1700" b="0" i="0">
                          <a:solidFill>
                            <a:srgbClr val="1F1F1F"/>
                          </a:solidFill>
                          <a:latin typeface="Calibri"/>
                        </a:rPr>
                        <a:t>3.840  (printed 3.189)</a:t>
                      </a:r>
                    </a:p>
                  </a:txBody>
                  <a:tcPr marL="73152" marR="73152" marT="27432" marB="27432" anchor="ctr">
                    <a:solidFill>
                      <a:srgbClr val="FFF1DA"/>
                    </a:solidFill>
                  </a:tcPr>
                </a:tc>
              </a:tr>
              <a:tr h="457200">
                <a:tc>
                  <a:txBody>
                    <a:bodyPr wrap="square"/>
                    <a:lstStyle/>
                    <a:p>
                      <a:pPr algn="l"/>
                      <a:r>
                        <a:rPr sz="1700" b="0" i="0">
                          <a:solidFill>
                            <a:srgbClr val="1F1F1F"/>
                          </a:solidFill>
                          <a:latin typeface="Calibri"/>
                        </a:rPr>
                        <a:t>10</a:t>
                      </a:r>
                    </a:p>
                  </a:txBody>
                  <a:tcPr marL="73152" marR="73152" marT="27432" marB="27432" anchor="ctr">
                    <a:solidFill>
                      <a:srgbClr val="F7F7F5"/>
                    </a:solidFill>
                  </a:tcPr>
                </a:tc>
                <a:tc>
                  <a:txBody>
                    <a:bodyPr wrap="square"/>
                    <a:lstStyle/>
                    <a:p>
                      <a:pPr algn="l"/>
                      <a:r>
                        <a:rPr sz="1700" b="0" i="0">
                          <a:solidFill>
                            <a:srgbClr val="1F1F1F"/>
                          </a:solidFill>
                          <a:latin typeface="Calibri"/>
                        </a:rPr>
                        <a:t>12.272</a:t>
                      </a:r>
                    </a:p>
                  </a:txBody>
                  <a:tcPr marL="73152" marR="73152" marT="27432" marB="27432" anchor="ctr">
                    <a:solidFill>
                      <a:srgbClr val="F7F7F5"/>
                    </a:solidFill>
                  </a:tcPr>
                </a:tc>
                <a:tc>
                  <a:txBody>
                    <a:bodyPr wrap="square"/>
                    <a:lstStyle/>
                    <a:p>
                      <a:pPr algn="l"/>
                      <a:r>
                        <a:rPr sz="1700" b="0" i="0">
                          <a:solidFill>
                            <a:srgbClr val="1F1F1F"/>
                          </a:solidFill>
                          <a:latin typeface="Calibri"/>
                        </a:rPr>
                        <a:t>7.762</a:t>
                      </a:r>
                    </a:p>
                  </a:txBody>
                  <a:tcPr marL="73152" marR="73152" marT="27432" marB="27432" anchor="ctr">
                    <a:solidFill>
                      <a:srgbClr val="F7F7F5"/>
                    </a:solidFill>
                  </a:tcPr>
                </a:tc>
              </a:tr>
              <a:tr h="457200">
                <a:tc>
                  <a:txBody>
                    <a:bodyPr wrap="square"/>
                    <a:lstStyle/>
                    <a:p>
                      <a:pPr algn="l"/>
                      <a:r>
                        <a:rPr sz="1700" b="0" i="0">
                          <a:solidFill>
                            <a:srgbClr val="1F1F1F"/>
                          </a:solidFill>
                          <a:latin typeface="Calibri"/>
                        </a:rPr>
                        <a:t>14</a:t>
                      </a:r>
                    </a:p>
                  </a:txBody>
                  <a:tcPr marL="73152" marR="73152" marT="27432" marB="27432" anchor="ctr">
                    <a:solidFill>
                      <a:srgbClr val="FFFFFF"/>
                    </a:solidFill>
                  </a:tcPr>
                </a:tc>
                <a:tc>
                  <a:txBody>
                    <a:bodyPr wrap="square"/>
                    <a:lstStyle/>
                    <a:p>
                      <a:pPr algn="l"/>
                      <a:r>
                        <a:rPr sz="1700" b="0" i="0">
                          <a:solidFill>
                            <a:srgbClr val="1F1F1F"/>
                          </a:solidFill>
                          <a:latin typeface="Calibri"/>
                        </a:rPr>
                        <a:t>15.977</a:t>
                      </a:r>
                    </a:p>
                  </a:txBody>
                  <a:tcPr marL="73152" marR="73152" marT="27432" marB="27432" anchor="ctr">
                    <a:solidFill>
                      <a:srgbClr val="FFFFFF"/>
                    </a:solidFill>
                  </a:tcPr>
                </a:tc>
                <a:tc>
                  <a:txBody>
                    <a:bodyPr wrap="square"/>
                    <a:lstStyle/>
                    <a:p>
                      <a:pPr algn="l"/>
                      <a:r>
                        <a:rPr sz="1700" b="0" i="0">
                          <a:solidFill>
                            <a:srgbClr val="1F1F1F"/>
                          </a:solidFill>
                          <a:latin typeface="Calibri"/>
                        </a:rPr>
                        <a:t>10.14</a:t>
                      </a:r>
                    </a:p>
                  </a:txBody>
                  <a:tcPr marL="73152" marR="73152" marT="27432" marB="27432" anchor="ctr">
                    <a:solidFill>
                      <a:srgbClr val="FFFFFF"/>
                    </a:solidFill>
                  </a:tcPr>
                </a:tc>
              </a:tr>
              <a:tr h="457200">
                <a:tc>
                  <a:txBody>
                    <a:bodyPr wrap="square"/>
                    <a:lstStyle/>
                    <a:p>
                      <a:pPr algn="l"/>
                      <a:r>
                        <a:rPr sz="1700" b="0" i="0">
                          <a:solidFill>
                            <a:srgbClr val="1F1F1F"/>
                          </a:solidFill>
                          <a:latin typeface="Calibri"/>
                        </a:rPr>
                        <a:t>20</a:t>
                      </a:r>
                    </a:p>
                  </a:txBody>
                  <a:tcPr marL="73152" marR="73152" marT="27432" marB="27432" anchor="ctr">
                    <a:solidFill>
                      <a:srgbClr val="F7F7F5"/>
                    </a:solidFill>
                  </a:tcPr>
                </a:tc>
                <a:tc>
                  <a:txBody>
                    <a:bodyPr wrap="square"/>
                    <a:lstStyle/>
                    <a:p>
                      <a:pPr algn="l"/>
                      <a:r>
                        <a:rPr sz="1700" b="0" i="0">
                          <a:solidFill>
                            <a:srgbClr val="1F1F1F"/>
                          </a:solidFill>
                          <a:latin typeface="Calibri"/>
                        </a:rPr>
                        <a:t>23.373</a:t>
                      </a:r>
                    </a:p>
                  </a:txBody>
                  <a:tcPr marL="73152" marR="73152" marT="27432" marB="27432" anchor="ctr">
                    <a:solidFill>
                      <a:srgbClr val="F7F7F5"/>
                    </a:solidFill>
                  </a:tcPr>
                </a:tc>
                <a:tc>
                  <a:txBody>
                    <a:bodyPr wrap="square"/>
                    <a:lstStyle/>
                    <a:p>
                      <a:pPr algn="l"/>
                      <a:r>
                        <a:rPr sz="1700" b="0" i="0">
                          <a:solidFill>
                            <a:srgbClr val="1F1F1F"/>
                          </a:solidFill>
                          <a:latin typeface="Calibri"/>
                        </a:rPr>
                        <a:t>14.956</a:t>
                      </a:r>
                    </a:p>
                  </a:txBody>
                  <a:tcPr marL="73152" marR="73152" marT="27432" marB="27432" anchor="ctr">
                    <a:solidFill>
                      <a:srgbClr val="F7F7F5"/>
                    </a:solidFill>
                  </a:tcPr>
                </a:tc>
              </a:tr>
              <a:tr h="457200">
                <a:tc>
                  <a:txBody>
                    <a:bodyPr wrap="square"/>
                    <a:lstStyle/>
                    <a:p>
                      <a:pPr algn="l"/>
                      <a:r>
                        <a:rPr sz="1700" b="0" i="0">
                          <a:solidFill>
                            <a:srgbClr val="1F1F1F"/>
                          </a:solidFill>
                          <a:latin typeface="Calibri"/>
                        </a:rPr>
                        <a:t>24</a:t>
                      </a:r>
                    </a:p>
                  </a:txBody>
                  <a:tcPr marL="73152" marR="73152" marT="27432" marB="27432" anchor="ctr">
                    <a:solidFill>
                      <a:srgbClr val="FFFFFF"/>
                    </a:solidFill>
                  </a:tcPr>
                </a:tc>
                <a:tc>
                  <a:txBody>
                    <a:bodyPr wrap="square"/>
                    <a:lstStyle/>
                    <a:p>
                      <a:pPr algn="l"/>
                      <a:r>
                        <a:rPr sz="1700" b="0" i="0">
                          <a:solidFill>
                            <a:srgbClr val="1F1F1F"/>
                          </a:solidFill>
                          <a:latin typeface="Calibri"/>
                        </a:rPr>
                        <a:t>29.831</a:t>
                      </a:r>
                    </a:p>
                  </a:txBody>
                  <a:tcPr marL="73152" marR="73152" marT="27432" marB="27432" anchor="ctr">
                    <a:solidFill>
                      <a:srgbClr val="FFFFFF"/>
                    </a:solidFill>
                  </a:tcPr>
                </a:tc>
                <a:tc>
                  <a:txBody>
                    <a:bodyPr wrap="square"/>
                    <a:lstStyle/>
                    <a:p>
                      <a:pPr algn="l"/>
                      <a:r>
                        <a:rPr sz="1700" b="0" i="0">
                          <a:solidFill>
                            <a:srgbClr val="1F1F1F"/>
                          </a:solidFill>
                          <a:latin typeface="Calibri"/>
                        </a:rPr>
                        <a:t>19.21</a:t>
                      </a:r>
                    </a:p>
                  </a:txBody>
                  <a:tcPr marL="73152" marR="73152" marT="27432" marB="27432" anchor="ctr">
                    <a:solidFill>
                      <a:srgbClr val="FFFFFF"/>
                    </a:solidFill>
                  </a:tcPr>
                </a:tc>
              </a:tr>
              <a:tr h="457200">
                <a:tc>
                  <a:txBody>
                    <a:bodyPr wrap="square"/>
                    <a:lstStyle/>
                    <a:p>
                      <a:pPr algn="l"/>
                      <a:r>
                        <a:rPr sz="1700" b="0" i="0">
                          <a:solidFill>
                            <a:srgbClr val="1F1F1F"/>
                          </a:solidFill>
                          <a:latin typeface="Calibri"/>
                        </a:rPr>
                        <a:t>26</a:t>
                      </a:r>
                    </a:p>
                  </a:txBody>
                  <a:tcPr marL="73152" marR="73152" marT="27432" marB="27432" anchor="ctr">
                    <a:solidFill>
                      <a:srgbClr val="F7F7F5"/>
                    </a:solidFill>
                  </a:tcPr>
                </a:tc>
                <a:tc>
                  <a:txBody>
                    <a:bodyPr wrap="square"/>
                    <a:lstStyle/>
                    <a:p>
                      <a:pPr algn="l"/>
                      <a:r>
                        <a:rPr sz="1700" b="0" i="0">
                          <a:solidFill>
                            <a:srgbClr val="1F1F1F"/>
                          </a:solidFill>
                          <a:latin typeface="Calibri"/>
                        </a:rPr>
                        <a:t>33.608</a:t>
                      </a:r>
                    </a:p>
                  </a:txBody>
                  <a:tcPr marL="73152" marR="73152" marT="27432" marB="27432" anchor="ctr">
                    <a:solidFill>
                      <a:srgbClr val="F7F7F5"/>
                    </a:solidFill>
                  </a:tcPr>
                </a:tc>
                <a:tc>
                  <a:txBody>
                    <a:bodyPr wrap="square"/>
                    <a:lstStyle/>
                    <a:p>
                      <a:pPr algn="l"/>
                      <a:r>
                        <a:rPr sz="1700" b="0" i="0">
                          <a:solidFill>
                            <a:srgbClr val="1F1F1F"/>
                          </a:solidFill>
                          <a:latin typeface="Calibri"/>
                        </a:rPr>
                        <a:t>21.734</a:t>
                      </a:r>
                    </a:p>
                  </a:txBody>
                  <a:tcPr marL="73152" marR="73152" marT="27432" marB="27432" anchor="ctr">
                    <a:solidFill>
                      <a:srgbClr val="F7F7F5"/>
                    </a:solidFill>
                  </a:tcPr>
                </a:tc>
              </a:tr>
              <a:tr h="457200">
                <a:tc>
                  <a:txBody>
                    <a:bodyPr wrap="square"/>
                    <a:lstStyle/>
                    <a:p>
                      <a:pPr algn="l"/>
                      <a:r>
                        <a:rPr sz="1700" b="0" i="0">
                          <a:solidFill>
                            <a:srgbClr val="1F1F1F"/>
                          </a:solidFill>
                          <a:latin typeface="Calibri"/>
                        </a:rPr>
                        <a:t>30</a:t>
                      </a:r>
                    </a:p>
                  </a:txBody>
                  <a:tcPr marL="73152" marR="73152" marT="27432" marB="27432" anchor="ctr">
                    <a:solidFill>
                      <a:srgbClr val="FFFFFF"/>
                    </a:solidFill>
                  </a:tcPr>
                </a:tc>
                <a:tc>
                  <a:txBody>
                    <a:bodyPr wrap="square"/>
                    <a:lstStyle/>
                    <a:p>
                      <a:pPr algn="l"/>
                      <a:r>
                        <a:rPr sz="1700" b="0" i="0">
                          <a:solidFill>
                            <a:srgbClr val="1F1F1F"/>
                          </a:solidFill>
                          <a:latin typeface="Calibri"/>
                        </a:rPr>
                        <a:t>42.430</a:t>
                      </a:r>
                    </a:p>
                  </a:txBody>
                  <a:tcPr marL="73152" marR="73152" marT="27432" marB="27432" anchor="ctr">
                    <a:solidFill>
                      <a:srgbClr val="FFFFFF"/>
                    </a:solidFill>
                  </a:tcPr>
                </a:tc>
                <a:tc>
                  <a:txBody>
                    <a:bodyPr wrap="square"/>
                    <a:lstStyle/>
                    <a:p>
                      <a:pPr algn="l"/>
                      <a:r>
                        <a:rPr sz="1700" b="0" i="0">
                          <a:solidFill>
                            <a:srgbClr val="1F1F1F"/>
                          </a:solidFill>
                          <a:latin typeface="Calibri"/>
                        </a:rPr>
                        <a:t>27.694</a:t>
                      </a:r>
                    </a:p>
                  </a:txBody>
                  <a:tcPr marL="73152" marR="73152" marT="27432" marB="27432" anchor="ctr">
                    <a:solidFill>
                      <a:srgbClr val="FFFFFF"/>
                    </a:solidFill>
                  </a:tcPr>
                </a:tc>
              </a:tr>
              <a:tr h="457200">
                <a:tc>
                  <a:txBody>
                    <a:bodyPr wrap="square"/>
                    <a:lstStyle/>
                    <a:p>
                      <a:pPr algn="l"/>
                      <a:r>
                        <a:rPr sz="1700" b="0" i="0">
                          <a:solidFill>
                            <a:srgbClr val="1F1F1F"/>
                          </a:solidFill>
                          <a:latin typeface="Calibri"/>
                        </a:rPr>
                        <a:t>34</a:t>
                      </a:r>
                    </a:p>
                  </a:txBody>
                  <a:tcPr marL="73152" marR="73152" marT="27432" marB="27432" anchor="ctr">
                    <a:solidFill>
                      <a:srgbClr val="F7F7F5"/>
                    </a:solidFill>
                  </a:tcPr>
                </a:tc>
                <a:tc>
                  <a:txBody>
                    <a:bodyPr wrap="square"/>
                    <a:lstStyle/>
                    <a:p>
                      <a:pPr algn="l"/>
                      <a:r>
                        <a:rPr sz="1700" b="0" i="0">
                          <a:solidFill>
                            <a:srgbClr val="1F1F1F"/>
                          </a:solidFill>
                          <a:latin typeface="Calibri"/>
                        </a:rPr>
                        <a:t>53.200</a:t>
                      </a:r>
                    </a:p>
                  </a:txBody>
                  <a:tcPr marL="73152" marR="73152" marT="27432" marB="27432" anchor="ctr">
                    <a:solidFill>
                      <a:srgbClr val="F7F7F5"/>
                    </a:solidFill>
                  </a:tcPr>
                </a:tc>
                <a:tc>
                  <a:txBody>
                    <a:bodyPr wrap="square"/>
                    <a:lstStyle/>
                    <a:p>
                      <a:pPr algn="l"/>
                      <a:r>
                        <a:rPr sz="1700" b="0" i="0">
                          <a:solidFill>
                            <a:srgbClr val="1F1F1F"/>
                          </a:solidFill>
                          <a:latin typeface="Calibri"/>
                        </a:rPr>
                        <a:t>35.134</a:t>
                      </a:r>
                    </a:p>
                  </a:txBody>
                  <a:tcPr marL="73152" marR="73152" marT="27432" marB="27432" anchor="ctr">
                    <a:solidFill>
                      <a:srgbClr val="F7F7F5"/>
                    </a:solidFill>
                  </a:tcPr>
                </a:tc>
              </a:tr>
            </a:tbl>
          </a:graphicData>
        </a:graphic>
      </p:graphicFrame>
      <p:sp>
        <p:nvSpPr>
          <p:cNvPr id="8" name="TextBox 7"/>
          <p:cNvSpPr txBox="1"/>
          <p:nvPr/>
        </p:nvSpPr>
        <p:spPr>
          <a:xfrm>
            <a:off x="457200" y="4937760"/>
            <a:ext cx="5486400" cy="1280160"/>
          </a:xfrm>
          <a:prstGeom prst="rect">
            <a:avLst/>
          </a:prstGeom>
          <a:noFill/>
        </p:spPr>
        <p:txBody>
          <a:bodyPr wrap="square" anchor="t" lIns="45720" rIns="45720">
            <a:spAutoFit/>
          </a:bodyPr>
          <a:lstStyle/>
          <a:p>
            <a:pPr algn="l">
              <a:spcAft>
                <a:spcPts val="600"/>
              </a:spcAft>
            </a:pPr>
            <a:r>
              <a:rPr sz="1500" b="0" i="0">
                <a:solidFill>
                  <a:srgbClr val="6B6B6B"/>
                </a:solidFill>
                <a:latin typeface="Calibri"/>
              </a:rPr>
              <a:t>Rows used in the questions. The highlighted row is one of the two corrected values.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Q1: relative humidity of five samples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a:t>
            </a:r>
          </a:p>
        </p:txBody>
      </p:sp>
      <p:sp>
        <p:nvSpPr>
          <p:cNvPr id="6" name="Rounded Rectangle 5"/>
          <p:cNvSpPr/>
          <p:nvPr/>
        </p:nvSpPr>
        <p:spPr>
          <a:xfrm>
            <a:off x="411480" y="1097280"/>
            <a:ext cx="5760720" cy="237744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Using Table 1 and the expressions above, determine the saturation mixing ratio and calculate the relative humidity of the following air samples.</a:t>
            </a:r>
          </a:p>
        </p:txBody>
      </p:sp>
      <p:sp>
        <p:nvSpPr>
          <p:cNvPr id="7" name="TextBox 6"/>
          <p:cNvSpPr txBox="1"/>
          <p:nvPr/>
        </p:nvSpPr>
        <p:spPr>
          <a:xfrm>
            <a:off x="457200" y="3749039"/>
            <a:ext cx="5669280" cy="265176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Method: look up w</a:t>
            </a:r>
            <a:r>
              <a:rPr sz="1900" b="0" i="0" baseline="-25000">
                <a:solidFill>
                  <a:srgbClr val="1F1F1F"/>
                </a:solidFill>
                <a:latin typeface="Calibri"/>
              </a:rPr>
              <a:t>s</a:t>
            </a:r>
            <a:r>
              <a:rPr sz="1900" b="0" i="0">
                <a:solidFill>
                  <a:srgbClr val="1F1F1F"/>
                </a:solidFill>
                <a:latin typeface="Calibri"/>
              </a:rPr>
              <a:t>, then RH = w / w</a:t>
            </a:r>
            <a:r>
              <a:rPr sz="1900" b="0" i="0" baseline="-25000">
                <a:solidFill>
                  <a:srgbClr val="1F1F1F"/>
                </a:solidFill>
                <a:latin typeface="Calibri"/>
              </a:rPr>
              <a:t>s</a:t>
            </a:r>
            <a:r>
              <a:rPr sz="1900" b="0" i="0">
                <a:solidFill>
                  <a:srgbClr val="1F1F1F"/>
                </a:solidFill>
                <a:latin typeface="Calibri"/>
              </a:rPr>
              <a:t> × 100 %.</a:t>
            </a:r>
          </a:p>
        </p:txBody>
      </p:sp>
      <p:graphicFrame>
        <p:nvGraphicFramePr>
          <p:cNvPr id="8" name="Table 7"/>
          <p:cNvGraphicFramePr>
            <a:graphicFrameLocks noGrp="1"/>
          </p:cNvGraphicFramePr>
          <p:nvPr/>
        </p:nvGraphicFramePr>
        <p:xfrm>
          <a:off x="6400800" y="1280160"/>
          <a:ext cx="5303517" cy="3401568"/>
        </p:xfrm>
        <a:graphic>
          <a:graphicData uri="http://schemas.openxmlformats.org/drawingml/2006/table">
            <a:tbl>
              <a:tblPr firstRow="0" bandRow="0">
                <a:tableStyleId>{5940675A-B579-460E-94D1-54222C63F5DA}</a:tableStyleId>
              </a:tblPr>
              <a:tblGrid>
                <a:gridCol w="1473199"/>
                <a:gridCol w="2357119"/>
                <a:gridCol w="1473199"/>
              </a:tblGrid>
              <a:tr h="566928">
                <a:tc>
                  <a:txBody>
                    <a:bodyPr wrap="square"/>
                    <a:lstStyle/>
                    <a:p>
                      <a:pPr algn="l"/>
                      <a:r>
                        <a:rPr sz="2000" b="1" i="0">
                          <a:solidFill>
                            <a:srgbClr val="FFFFFF"/>
                          </a:solidFill>
                          <a:latin typeface="Calibri"/>
                        </a:rPr>
                        <a:t>Temp.</a:t>
                      </a:r>
                    </a:p>
                  </a:txBody>
                  <a:tcPr marL="73152" marR="73152" marT="27432" marB="27432" anchor="ctr">
                    <a:solidFill>
                      <a:srgbClr val="1B3A6B"/>
                    </a:solidFill>
                  </a:tcPr>
                </a:tc>
                <a:tc>
                  <a:txBody>
                    <a:bodyPr wrap="square"/>
                    <a:lstStyle/>
                    <a:p>
                      <a:pPr algn="l"/>
                      <a:r>
                        <a:rPr sz="2000" b="1" i="0">
                          <a:solidFill>
                            <a:srgbClr val="FFFFFF"/>
                          </a:solidFill>
                          <a:latin typeface="Calibri"/>
                        </a:rPr>
                        <a:t>Mixing ratio (g/kg)</a:t>
                      </a:r>
                    </a:p>
                  </a:txBody>
                  <a:tcPr marL="73152" marR="73152" marT="27432" marB="27432" anchor="ctr">
                    <a:solidFill>
                      <a:srgbClr val="1B3A6B"/>
                    </a:solidFill>
                  </a:tcPr>
                </a:tc>
                <a:tc>
                  <a:txBody>
                    <a:bodyPr wrap="square"/>
                    <a:lstStyle/>
                    <a:p>
                      <a:pPr algn="l"/>
                      <a:r>
                        <a:rPr sz="2000" b="1" i="0">
                          <a:solidFill>
                            <a:srgbClr val="FFFFFF"/>
                          </a:solidFill>
                          <a:latin typeface="Calibri"/>
                        </a:rPr>
                        <a:t>RH (%)</a:t>
                      </a:r>
                    </a:p>
                  </a:txBody>
                  <a:tcPr marL="73152" marR="73152" marT="27432" marB="27432" anchor="ctr">
                    <a:solidFill>
                      <a:srgbClr val="1B3A6B"/>
                    </a:solidFill>
                  </a:tcPr>
                </a:tc>
              </a:tr>
              <a:tr h="566928">
                <a:tc>
                  <a:txBody>
                    <a:bodyPr wrap="square"/>
                    <a:lstStyle/>
                    <a:p>
                      <a:pPr algn="l"/>
                      <a:r>
                        <a:rPr sz="2000" b="0" i="0">
                          <a:solidFill>
                            <a:srgbClr val="1F1F1F"/>
                          </a:solidFill>
                          <a:latin typeface="Calibri"/>
                        </a:rPr>
                        <a:t>14 °C</a:t>
                      </a:r>
                    </a:p>
                  </a:txBody>
                  <a:tcPr marL="73152" marR="73152" marT="27432" marB="27432" anchor="ctr">
                    <a:solidFill>
                      <a:srgbClr val="FFFFFF"/>
                    </a:solidFill>
                  </a:tcPr>
                </a:tc>
                <a:tc>
                  <a:txBody>
                    <a:bodyPr wrap="square"/>
                    <a:lstStyle/>
                    <a:p>
                      <a:pPr algn="l"/>
                      <a:r>
                        <a:rPr sz="2000" b="0" i="0">
                          <a:solidFill>
                            <a:srgbClr val="1F1F1F"/>
                          </a:solidFill>
                          <a:latin typeface="Calibri"/>
                        </a:rPr>
                        <a:t>5</a:t>
                      </a:r>
                    </a:p>
                  </a:txBody>
                  <a:tcPr marL="73152" marR="73152" marT="27432" marB="27432" anchor="ctr">
                    <a:solidFill>
                      <a:srgbClr val="FFFFFF"/>
                    </a:solidFill>
                  </a:tcPr>
                </a:tc>
                <a:tc>
                  <a:txBody>
                    <a:bodyPr wrap="square"/>
                    <a:lstStyle/>
                    <a:p>
                      <a:pPr algn="l"/>
                      <a:r>
                        <a:rPr sz="2000" b="0" i="0">
                          <a:solidFill>
                            <a:srgbClr val="1F1F1F"/>
                          </a:solidFill>
                          <a:latin typeface="Calibri"/>
                        </a:rPr>
                        <a:t>?</a:t>
                      </a:r>
                    </a:p>
                  </a:txBody>
                  <a:tcPr marL="73152" marR="73152" marT="27432" marB="27432" anchor="ctr">
                    <a:solidFill>
                      <a:srgbClr val="FFFFFF"/>
                    </a:solidFill>
                  </a:tcPr>
                </a:tc>
              </a:tr>
              <a:tr h="566928">
                <a:tc>
                  <a:txBody>
                    <a:bodyPr wrap="square"/>
                    <a:lstStyle/>
                    <a:p>
                      <a:pPr algn="l"/>
                      <a:r>
                        <a:rPr sz="2000" b="0" i="0">
                          <a:solidFill>
                            <a:srgbClr val="1F1F1F"/>
                          </a:solidFill>
                          <a:latin typeface="Calibri"/>
                        </a:rPr>
                        <a:t>14 °C</a:t>
                      </a:r>
                    </a:p>
                  </a:txBody>
                  <a:tcPr marL="73152" marR="73152" marT="27432" marB="27432" anchor="ctr">
                    <a:solidFill>
                      <a:srgbClr val="F7F7F5"/>
                    </a:solidFill>
                  </a:tcPr>
                </a:tc>
                <a:tc>
                  <a:txBody>
                    <a:bodyPr wrap="square"/>
                    <a:lstStyle/>
                    <a:p>
                      <a:pPr algn="l"/>
                      <a:r>
                        <a:rPr sz="2000" b="0" i="0">
                          <a:solidFill>
                            <a:srgbClr val="1F1F1F"/>
                          </a:solidFill>
                          <a:latin typeface="Calibri"/>
                        </a:rPr>
                        <a:t>9</a:t>
                      </a:r>
                    </a:p>
                  </a:txBody>
                  <a:tcPr marL="73152" marR="73152" marT="27432" marB="27432" anchor="ctr">
                    <a:solidFill>
                      <a:srgbClr val="F7F7F5"/>
                    </a:solidFill>
                  </a:tcPr>
                </a:tc>
                <a:tc>
                  <a:txBody>
                    <a:bodyPr wrap="square"/>
                    <a:lstStyle/>
                    <a:p>
                      <a:pPr algn="l"/>
                      <a:r>
                        <a:rPr sz="2000" b="0" i="0">
                          <a:solidFill>
                            <a:srgbClr val="1F1F1F"/>
                          </a:solidFill>
                          <a:latin typeface="Calibri"/>
                        </a:rPr>
                        <a:t>?</a:t>
                      </a:r>
                    </a:p>
                  </a:txBody>
                  <a:tcPr marL="73152" marR="73152" marT="27432" marB="27432" anchor="ctr">
                    <a:solidFill>
                      <a:srgbClr val="F7F7F5"/>
                    </a:solidFill>
                  </a:tcPr>
                </a:tc>
              </a:tr>
              <a:tr h="566928">
                <a:tc>
                  <a:txBody>
                    <a:bodyPr wrap="square"/>
                    <a:lstStyle/>
                    <a:p>
                      <a:pPr algn="l"/>
                      <a:r>
                        <a:rPr sz="2000" b="0" i="0">
                          <a:solidFill>
                            <a:srgbClr val="1F1F1F"/>
                          </a:solidFill>
                          <a:latin typeface="Calibri"/>
                        </a:rPr>
                        <a:t>24 °C</a:t>
                      </a:r>
                    </a:p>
                  </a:txBody>
                  <a:tcPr marL="73152" marR="73152" marT="27432" marB="27432" anchor="ctr">
                    <a:solidFill>
                      <a:srgbClr val="FFFFFF"/>
                    </a:solidFill>
                  </a:tcPr>
                </a:tc>
                <a:tc>
                  <a:txBody>
                    <a:bodyPr wrap="square"/>
                    <a:lstStyle/>
                    <a:p>
                      <a:pPr algn="l"/>
                      <a:r>
                        <a:rPr sz="2000" b="0" i="0">
                          <a:solidFill>
                            <a:srgbClr val="1F1F1F"/>
                          </a:solidFill>
                          <a:latin typeface="Calibri"/>
                        </a:rPr>
                        <a:t>5</a:t>
                      </a:r>
                    </a:p>
                  </a:txBody>
                  <a:tcPr marL="73152" marR="73152" marT="27432" marB="27432" anchor="ctr">
                    <a:solidFill>
                      <a:srgbClr val="FFFFFF"/>
                    </a:solidFill>
                  </a:tcPr>
                </a:tc>
                <a:tc>
                  <a:txBody>
                    <a:bodyPr wrap="square"/>
                    <a:lstStyle/>
                    <a:p>
                      <a:pPr algn="l"/>
                      <a:r>
                        <a:rPr sz="2000" b="0" i="0">
                          <a:solidFill>
                            <a:srgbClr val="1F1F1F"/>
                          </a:solidFill>
                          <a:latin typeface="Calibri"/>
                        </a:rPr>
                        <a:t>?</a:t>
                      </a:r>
                    </a:p>
                  </a:txBody>
                  <a:tcPr marL="73152" marR="73152" marT="27432" marB="27432" anchor="ctr">
                    <a:solidFill>
                      <a:srgbClr val="FFFFFF"/>
                    </a:solidFill>
                  </a:tcPr>
                </a:tc>
              </a:tr>
              <a:tr h="566928">
                <a:tc>
                  <a:txBody>
                    <a:bodyPr wrap="square"/>
                    <a:lstStyle/>
                    <a:p>
                      <a:pPr algn="l"/>
                      <a:r>
                        <a:rPr sz="2000" b="0" i="0">
                          <a:solidFill>
                            <a:srgbClr val="1F1F1F"/>
                          </a:solidFill>
                          <a:latin typeface="Calibri"/>
                        </a:rPr>
                        <a:t>24 °C</a:t>
                      </a:r>
                    </a:p>
                  </a:txBody>
                  <a:tcPr marL="73152" marR="73152" marT="27432" marB="27432" anchor="ctr">
                    <a:solidFill>
                      <a:srgbClr val="F7F7F5"/>
                    </a:solidFill>
                  </a:tcPr>
                </a:tc>
                <a:tc>
                  <a:txBody>
                    <a:bodyPr wrap="square"/>
                    <a:lstStyle/>
                    <a:p>
                      <a:pPr algn="l"/>
                      <a:r>
                        <a:rPr sz="2000" b="0" i="0">
                          <a:solidFill>
                            <a:srgbClr val="1F1F1F"/>
                          </a:solidFill>
                          <a:latin typeface="Calibri"/>
                        </a:rPr>
                        <a:t>2</a:t>
                      </a:r>
                    </a:p>
                  </a:txBody>
                  <a:tcPr marL="73152" marR="73152" marT="27432" marB="27432" anchor="ctr">
                    <a:solidFill>
                      <a:srgbClr val="F7F7F5"/>
                    </a:solidFill>
                  </a:tcPr>
                </a:tc>
                <a:tc>
                  <a:txBody>
                    <a:bodyPr wrap="square"/>
                    <a:lstStyle/>
                    <a:p>
                      <a:pPr algn="l"/>
                      <a:r>
                        <a:rPr sz="2000" b="0" i="0">
                          <a:solidFill>
                            <a:srgbClr val="1F1F1F"/>
                          </a:solidFill>
                          <a:latin typeface="Calibri"/>
                        </a:rPr>
                        <a:t>?</a:t>
                      </a:r>
                    </a:p>
                  </a:txBody>
                  <a:tcPr marL="73152" marR="73152" marT="27432" marB="27432" anchor="ctr">
                    <a:solidFill>
                      <a:srgbClr val="F7F7F5"/>
                    </a:solidFill>
                  </a:tcPr>
                </a:tc>
              </a:tr>
              <a:tr h="566928">
                <a:tc>
                  <a:txBody>
                    <a:bodyPr wrap="square"/>
                    <a:lstStyle/>
                    <a:p>
                      <a:pPr algn="l"/>
                      <a:r>
                        <a:rPr sz="2000" b="0" i="0">
                          <a:solidFill>
                            <a:srgbClr val="1F1F1F"/>
                          </a:solidFill>
                          <a:latin typeface="Calibri"/>
                        </a:rPr>
                        <a:t>34 °C</a:t>
                      </a:r>
                    </a:p>
                  </a:txBody>
                  <a:tcPr marL="73152" marR="73152" marT="27432" marB="27432" anchor="ctr">
                    <a:solidFill>
                      <a:srgbClr val="FFFFFF"/>
                    </a:solidFill>
                  </a:tcPr>
                </a:tc>
                <a:tc>
                  <a:txBody>
                    <a:bodyPr wrap="square"/>
                    <a:lstStyle/>
                    <a:p>
                      <a:pPr algn="l"/>
                      <a:r>
                        <a:rPr sz="2000" b="0" i="0">
                          <a:solidFill>
                            <a:srgbClr val="1F1F1F"/>
                          </a:solidFill>
                          <a:latin typeface="Calibri"/>
                        </a:rPr>
                        <a:t>7</a:t>
                      </a:r>
                    </a:p>
                  </a:txBody>
                  <a:tcPr marL="73152" marR="73152" marT="27432" marB="27432" anchor="ctr">
                    <a:solidFill>
                      <a:srgbClr val="FFFFFF"/>
                    </a:solidFill>
                  </a:tcPr>
                </a:tc>
                <a:tc>
                  <a:txBody>
                    <a:bodyPr wrap="square"/>
                    <a:lstStyle/>
                    <a:p>
                      <a:pPr algn="l"/>
                      <a:r>
                        <a:rPr sz="2000" b="0" i="0">
                          <a:solidFill>
                            <a:srgbClr val="1F1F1F"/>
                          </a:solidFill>
                          <a:latin typeface="Calibri"/>
                        </a:rPr>
                        <a:t>?</a:t>
                      </a:r>
                    </a:p>
                  </a:txBody>
                  <a:tcPr marL="73152" marR="73152" marT="27432" marB="27432"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Q1: step 1 of 2</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a:t>
            </a:r>
          </a:p>
        </p:txBody>
      </p:sp>
      <p:sp>
        <p:nvSpPr>
          <p:cNvPr id="6" name="Rounded Rectangle 5"/>
          <p:cNvSpPr/>
          <p:nvPr/>
        </p:nvSpPr>
        <p:spPr>
          <a:xfrm>
            <a:off x="365760" y="1051560"/>
            <a:ext cx="4663440" cy="1342135"/>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Look up w</a:t>
            </a:r>
            <a:r>
              <a:rPr sz="1900" b="1" i="0" baseline="-25000">
                <a:solidFill>
                  <a:srgbClr val="1F1F1F"/>
                </a:solidFill>
                <a:latin typeface="Calibri"/>
              </a:rPr>
              <a:t>s</a:t>
            </a:r>
            <a:r>
              <a:rPr sz="1900" b="0" i="0">
                <a:solidFill>
                  <a:srgbClr val="1F1F1F"/>
                </a:solidFill>
                <a:latin typeface="Calibri"/>
              </a:rPr>
              <a:t> in Table 1 at each temperature: 14 °C → 10.14, 24 °C → 19.21, 34 °C → 35.134 g/kg. These are the sizes of the glasses.</a:t>
            </a:r>
          </a:p>
        </p:txBody>
      </p:sp>
      <p:sp>
        <p:nvSpPr>
          <p:cNvPr id="7" name="Oval 6"/>
          <p:cNvSpPr/>
          <p:nvPr/>
        </p:nvSpPr>
        <p:spPr>
          <a:xfrm>
            <a:off x="457200" y="1548892"/>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q1_s1.png"/>
          <p:cNvPicPr>
            <a:picLocks noChangeAspect="1"/>
          </p:cNvPicPr>
          <p:nvPr/>
        </p:nvPicPr>
        <p:blipFill>
          <a:blip r:embed="rId3"/>
          <a:stretch>
            <a:fillRect/>
          </a:stretch>
        </p:blipFill>
        <p:spPr>
          <a:xfrm>
            <a:off x="5257800" y="2301362"/>
            <a:ext cx="6613855" cy="266675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Q1: step 2 of 2</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a:t>
            </a:r>
          </a:p>
        </p:txBody>
      </p:sp>
      <p:sp>
        <p:nvSpPr>
          <p:cNvPr id="6" name="Rounded Rectangle 5"/>
          <p:cNvSpPr/>
          <p:nvPr/>
        </p:nvSpPr>
        <p:spPr>
          <a:xfrm>
            <a:off x="365760" y="1051560"/>
            <a:ext cx="4663440" cy="1342135"/>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Look up w</a:t>
            </a:r>
            <a:r>
              <a:rPr sz="1900" b="1" i="0" baseline="-25000">
                <a:solidFill>
                  <a:srgbClr val="6B6B6B"/>
                </a:solidFill>
                <a:latin typeface="Calibri"/>
              </a:rPr>
              <a:t>s</a:t>
            </a:r>
            <a:r>
              <a:rPr sz="1900" b="0" i="0">
                <a:solidFill>
                  <a:srgbClr val="6B6B6B"/>
                </a:solidFill>
                <a:latin typeface="Calibri"/>
              </a:rPr>
              <a:t> in Table 1 at each temperature: 14 °C → 10.14, 24 °C → 19.21, 34 °C → 35.134 g/kg. These are the sizes of the glasses.</a:t>
            </a:r>
          </a:p>
        </p:txBody>
      </p:sp>
      <p:sp>
        <p:nvSpPr>
          <p:cNvPr id="7" name="Oval 6"/>
          <p:cNvSpPr/>
          <p:nvPr/>
        </p:nvSpPr>
        <p:spPr>
          <a:xfrm>
            <a:off x="457200" y="154889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485136"/>
            <a:ext cx="4663440" cy="1342135"/>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RH = w ÷ w</a:t>
            </a:r>
            <a:r>
              <a:rPr sz="1900" b="1" i="0" baseline="-25000">
                <a:solidFill>
                  <a:srgbClr val="1F1F1F"/>
                </a:solidFill>
                <a:latin typeface="Calibri"/>
              </a:rPr>
              <a:t>s</a:t>
            </a:r>
            <a:r>
              <a:rPr sz="1900" b="1" i="0">
                <a:solidFill>
                  <a:srgbClr val="1F1F1F"/>
                </a:solidFill>
                <a:latin typeface="Calibri"/>
              </a:rPr>
              <a:t> × 100:</a:t>
            </a:r>
            <a:r>
              <a:rPr sz="1900" b="0" i="0">
                <a:solidFill>
                  <a:srgbClr val="1F1F1F"/>
                </a:solidFill>
                <a:latin typeface="Calibri"/>
              </a:rPr>
              <a:t>  5/10.14 = 49.3 %;  9/10.14 = 88.8 %;  5/19.21 = 26.0 %;  2/19.21 = 10.4 %;  7/35.134 = 19.9 %.</a:t>
            </a:r>
          </a:p>
        </p:txBody>
      </p:sp>
      <p:sp>
        <p:nvSpPr>
          <p:cNvPr id="9" name="Oval 8"/>
          <p:cNvSpPr/>
          <p:nvPr/>
        </p:nvSpPr>
        <p:spPr>
          <a:xfrm>
            <a:off x="457200" y="2982467"/>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q1_s2.png"/>
          <p:cNvPicPr>
            <a:picLocks noChangeAspect="1"/>
          </p:cNvPicPr>
          <p:nvPr/>
        </p:nvPicPr>
        <p:blipFill>
          <a:blip r:embed="rId3"/>
          <a:stretch>
            <a:fillRect/>
          </a:stretch>
        </p:blipFill>
        <p:spPr>
          <a:xfrm>
            <a:off x="5257800" y="2062718"/>
            <a:ext cx="6613855" cy="314404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Q1: the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a:t>
            </a:r>
          </a:p>
        </p:txBody>
      </p:sp>
      <p:sp>
        <p:nvSpPr>
          <p:cNvPr id="6" name="Rounded Rectangle 5"/>
          <p:cNvSpPr/>
          <p:nvPr/>
        </p:nvSpPr>
        <p:spPr>
          <a:xfrm>
            <a:off x="411480" y="1097280"/>
            <a:ext cx="5669280" cy="31089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100" b="1" i="0">
                <a:solidFill>
                  <a:srgbClr val="007F5F"/>
                </a:solidFill>
                <a:latin typeface="Calibri"/>
              </a:rPr>
              <a:t>Answer</a:t>
            </a:r>
          </a:p>
          <a:p>
            <a:pPr algn="l">
              <a:spcAft>
                <a:spcPts val="300"/>
              </a:spcAft>
            </a:pPr>
            <a:r>
              <a:rPr sz="2100" b="0" i="0">
                <a:solidFill>
                  <a:srgbClr val="1F1F1F"/>
                </a:solidFill>
                <a:latin typeface="Calibri"/>
              </a:rPr>
              <a:t>14 °C, 5 g/kg: </a:t>
            </a:r>
            <a:r>
              <a:rPr sz="2100" b="1" i="0">
                <a:solidFill>
                  <a:srgbClr val="007F5F"/>
                </a:solidFill>
                <a:latin typeface="Calibri"/>
              </a:rPr>
              <a:t>49.3 %</a:t>
            </a:r>
          </a:p>
          <a:p>
            <a:pPr algn="l">
              <a:spcAft>
                <a:spcPts val="300"/>
              </a:spcAft>
            </a:pPr>
            <a:r>
              <a:rPr sz="2100" b="0" i="0">
                <a:solidFill>
                  <a:srgbClr val="1F1F1F"/>
                </a:solidFill>
                <a:latin typeface="Calibri"/>
              </a:rPr>
              <a:t>14 °C, 9 g/kg: </a:t>
            </a:r>
            <a:r>
              <a:rPr sz="2100" b="1" i="0">
                <a:solidFill>
                  <a:srgbClr val="007F5F"/>
                </a:solidFill>
                <a:latin typeface="Calibri"/>
              </a:rPr>
              <a:t>88.8 %</a:t>
            </a:r>
          </a:p>
          <a:p>
            <a:pPr algn="l">
              <a:spcAft>
                <a:spcPts val="300"/>
              </a:spcAft>
            </a:pPr>
            <a:r>
              <a:rPr sz="2100" b="0" i="0">
                <a:solidFill>
                  <a:srgbClr val="1F1F1F"/>
                </a:solidFill>
                <a:latin typeface="Calibri"/>
              </a:rPr>
              <a:t>24 °C, 5 g/kg: </a:t>
            </a:r>
            <a:r>
              <a:rPr sz="2100" b="1" i="0">
                <a:solidFill>
                  <a:srgbClr val="007F5F"/>
                </a:solidFill>
                <a:latin typeface="Calibri"/>
              </a:rPr>
              <a:t>26.0 %</a:t>
            </a:r>
          </a:p>
          <a:p>
            <a:pPr algn="l">
              <a:spcAft>
                <a:spcPts val="300"/>
              </a:spcAft>
            </a:pPr>
            <a:r>
              <a:rPr sz="2100" b="0" i="0">
                <a:solidFill>
                  <a:srgbClr val="1F1F1F"/>
                </a:solidFill>
                <a:latin typeface="Calibri"/>
              </a:rPr>
              <a:t>24 °C, 2 g/kg: </a:t>
            </a:r>
            <a:r>
              <a:rPr sz="2100" b="1" i="0">
                <a:solidFill>
                  <a:srgbClr val="007F5F"/>
                </a:solidFill>
                <a:latin typeface="Calibri"/>
              </a:rPr>
              <a:t>10.4 %</a:t>
            </a:r>
          </a:p>
          <a:p>
            <a:pPr algn="l">
              <a:spcAft>
                <a:spcPts val="300"/>
              </a:spcAft>
            </a:pPr>
            <a:r>
              <a:rPr sz="2100" b="0" i="0">
                <a:solidFill>
                  <a:srgbClr val="1F1F1F"/>
                </a:solidFill>
                <a:latin typeface="Calibri"/>
              </a:rPr>
              <a:t>34 °C, 7 g/kg: </a:t>
            </a:r>
            <a:r>
              <a:rPr sz="2100" b="1" i="0">
                <a:solidFill>
                  <a:srgbClr val="007F5F"/>
                </a:solidFill>
                <a:latin typeface="Calibri"/>
              </a:rPr>
              <a:t>19.9 %</a:t>
            </a:r>
          </a:p>
        </p:txBody>
      </p:sp>
      <p:sp>
        <p:nvSpPr>
          <p:cNvPr id="7" name="Rounded Rectangle 6"/>
          <p:cNvSpPr/>
          <p:nvPr/>
        </p:nvSpPr>
        <p:spPr>
          <a:xfrm>
            <a:off x="411480" y="4389120"/>
            <a:ext cx="5669280" cy="2314346"/>
          </a:xfrm>
          <a:prstGeom prst="roundRect">
            <a:avLst>
              <a:gd name="adj" fmla="val 6000"/>
            </a:avLst>
          </a:prstGeom>
          <a:solidFill>
            <a:srgbClr val="FFF1DA"/>
          </a:solidFill>
          <a:ln w="22225">
            <a:solidFill>
              <a:srgbClr val="B87A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8A5A00"/>
                </a:solidFill>
                <a:latin typeface="Calibri"/>
              </a:rPr>
              <a:t>Check</a:t>
            </a:r>
          </a:p>
          <a:p>
            <a:pPr algn="l">
              <a:spcAft>
                <a:spcPts val="300"/>
              </a:spcAft>
            </a:pPr>
            <a:r>
              <a:rPr sz="1800" b="0" i="0">
                <a:solidFill>
                  <a:srgbClr val="1F1F1F"/>
                </a:solidFill>
                <a:latin typeface="Calibri"/>
              </a:rPr>
              <a:t>Same temperature, more vapour → higher RH (49 → 89 %). Same vapour, warmer air → lower RH (49 % at 14 °C, 26 % at 24 °C).</a:t>
            </a:r>
          </a:p>
        </p:txBody>
      </p:sp>
      <p:pic>
        <p:nvPicPr>
          <p:cNvPr id="8" name="Picture 7" descr="ch02_04.png"/>
          <p:cNvPicPr>
            <a:picLocks noChangeAspect="1"/>
          </p:cNvPicPr>
          <p:nvPr/>
        </p:nvPicPr>
        <p:blipFill>
          <a:blip r:embed="rId2"/>
          <a:stretch>
            <a:fillRect/>
          </a:stretch>
        </p:blipFill>
        <p:spPr>
          <a:xfrm>
            <a:off x="6355080" y="2470217"/>
            <a:ext cx="5516575" cy="237476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Q2: cold air heated in a house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a:t>
            </a:r>
          </a:p>
        </p:txBody>
      </p:sp>
      <p:sp>
        <p:nvSpPr>
          <p:cNvPr id="6" name="Rounded Rectangle 5"/>
          <p:cNvSpPr/>
          <p:nvPr/>
        </p:nvSpPr>
        <p:spPr>
          <a:xfrm>
            <a:off x="411480" y="1097280"/>
            <a:ext cx="11338560" cy="173736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200" b="1" i="0">
                <a:solidFill>
                  <a:srgbClr val="0072B2"/>
                </a:solidFill>
                <a:latin typeface="Calibri"/>
              </a:rPr>
              <a:t>The question</a:t>
            </a:r>
          </a:p>
          <a:p>
            <a:pPr algn="l">
              <a:spcAft>
                <a:spcPts val="300"/>
              </a:spcAft>
            </a:pPr>
            <a:r>
              <a:rPr sz="2200" b="0" i="0">
                <a:solidFill>
                  <a:srgbClr val="1F1F1F"/>
                </a:solidFill>
                <a:latin typeface="Calibri"/>
              </a:rPr>
              <a:t>In the winter, cold air is brought into homes and heated. How is this going to change the humidity in the house?</a:t>
            </a:r>
          </a:p>
        </p:txBody>
      </p:sp>
      <p:sp>
        <p:nvSpPr>
          <p:cNvPr id="7" name="TextBox 6"/>
          <p:cNvSpPr txBox="1"/>
          <p:nvPr/>
        </p:nvSpPr>
        <p:spPr>
          <a:xfrm>
            <a:off x="457200" y="3108959"/>
            <a:ext cx="11247120" cy="3291840"/>
          </a:xfrm>
          <a:prstGeom prst="rect">
            <a:avLst/>
          </a:prstGeom>
          <a:noFill/>
        </p:spPr>
        <p:txBody>
          <a:bodyPr wrap="square" anchor="t" lIns="45720" rIns="45720">
            <a:spAutoFit/>
          </a:bodyPr>
          <a:lstStyle/>
          <a:p>
            <a:pPr algn="l">
              <a:spcAft>
                <a:spcPts val="600"/>
              </a:spcAft>
            </a:pPr>
            <a:r>
              <a:rPr sz="2100" b="0" i="0">
                <a:solidFill>
                  <a:srgbClr val="1F1F1F"/>
                </a:solidFill>
                <a:latin typeface="Calibri"/>
              </a:rPr>
              <a:t>Follow one parcel of air. Heating changes its </a:t>
            </a:r>
            <a:r>
              <a:rPr sz="2100" b="1" i="0">
                <a:solidFill>
                  <a:srgbClr val="1F1F1F"/>
                </a:solidFill>
                <a:latin typeface="Calibri"/>
              </a:rPr>
              <a:t>temperature</a:t>
            </a:r>
            <a:r>
              <a:rPr sz="2100" b="0" i="0">
                <a:solidFill>
                  <a:srgbClr val="1F1F1F"/>
                </a:solidFill>
                <a:latin typeface="Calibri"/>
              </a:rPr>
              <a:t> (the size of the glass) but adds </a:t>
            </a:r>
            <a:r>
              <a:rPr sz="2100" b="1" i="0">
                <a:solidFill>
                  <a:srgbClr val="1F1F1F"/>
                </a:solidFill>
                <a:latin typeface="Calibri"/>
              </a:rPr>
              <a:t>no water</a:t>
            </a:r>
            <a:r>
              <a:rPr sz="2100" b="0" i="0">
                <a:solidFill>
                  <a:srgbClr val="1F1F1F"/>
                </a:solidFill>
                <a:latin typeface="Calibr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Q2: step 1 of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a:t>
            </a:r>
          </a:p>
        </p:txBody>
      </p:sp>
      <p:sp>
        <p:nvSpPr>
          <p:cNvPr id="6" name="Rounded Rectangle 5"/>
          <p:cNvSpPr/>
          <p:nvPr/>
        </p:nvSpPr>
        <p:spPr>
          <a:xfrm>
            <a:off x="365760" y="1051560"/>
            <a:ext cx="4663440" cy="1342135"/>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Outdoors:</a:t>
            </a:r>
            <a:r>
              <a:rPr sz="1900" b="0" i="0">
                <a:solidFill>
                  <a:srgbClr val="1F1F1F"/>
                </a:solidFill>
                <a:latin typeface="Calibri"/>
              </a:rPr>
              <a:t> 0 °C, RH 80 %. Table 1 (corrected): w</a:t>
            </a:r>
            <a:r>
              <a:rPr sz="1900" b="0" i="0" baseline="-25000">
                <a:solidFill>
                  <a:srgbClr val="1F1F1F"/>
                </a:solidFill>
                <a:latin typeface="Calibri"/>
              </a:rPr>
              <a:t>s</a:t>
            </a:r>
            <a:r>
              <a:rPr sz="1900" b="0" i="0">
                <a:solidFill>
                  <a:srgbClr val="1F1F1F"/>
                </a:solidFill>
                <a:latin typeface="Calibri"/>
              </a:rPr>
              <a:t>(0 °C) = 3.84 g/kg, so the air holds 0.80 × 3.84 = </a:t>
            </a:r>
            <a:r>
              <a:rPr sz="1900" b="1" i="0">
                <a:solidFill>
                  <a:srgbClr val="1F1F1F"/>
                </a:solidFill>
                <a:latin typeface="Calibri"/>
              </a:rPr>
              <a:t>3.07 g/kg</a:t>
            </a:r>
            <a:r>
              <a:rPr sz="1900" b="0" i="0">
                <a:solidFill>
                  <a:srgbClr val="1F1F1F"/>
                </a:solidFill>
                <a:latin typeface="Calibri"/>
              </a:rPr>
              <a:t>.</a:t>
            </a:r>
          </a:p>
        </p:txBody>
      </p:sp>
      <p:sp>
        <p:nvSpPr>
          <p:cNvPr id="7" name="Oval 6"/>
          <p:cNvSpPr/>
          <p:nvPr/>
        </p:nvSpPr>
        <p:spPr>
          <a:xfrm>
            <a:off x="457200" y="1548892"/>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q2_s1.png"/>
          <p:cNvPicPr>
            <a:picLocks noChangeAspect="1"/>
          </p:cNvPicPr>
          <p:nvPr/>
        </p:nvPicPr>
        <p:blipFill>
          <a:blip r:embed="rId3"/>
          <a:stretch>
            <a:fillRect/>
          </a:stretch>
        </p:blipFill>
        <p:spPr>
          <a:xfrm>
            <a:off x="5257800" y="2675292"/>
            <a:ext cx="6613855" cy="191889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Q2: step 2 of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a:t>
            </a:r>
          </a:p>
        </p:txBody>
      </p:sp>
      <p:sp>
        <p:nvSpPr>
          <p:cNvPr id="6" name="Rounded Rectangle 5"/>
          <p:cNvSpPr/>
          <p:nvPr/>
        </p:nvSpPr>
        <p:spPr>
          <a:xfrm>
            <a:off x="365760" y="1051560"/>
            <a:ext cx="4663440" cy="1342135"/>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Outdoors:</a:t>
            </a:r>
            <a:r>
              <a:rPr sz="1900" b="0" i="0">
                <a:solidFill>
                  <a:srgbClr val="6B6B6B"/>
                </a:solidFill>
                <a:latin typeface="Calibri"/>
              </a:rPr>
              <a:t> 0 °C, RH 80 %. Table 1 (corrected): w</a:t>
            </a:r>
            <a:r>
              <a:rPr sz="1900" b="0" i="0" baseline="-25000">
                <a:solidFill>
                  <a:srgbClr val="6B6B6B"/>
                </a:solidFill>
                <a:latin typeface="Calibri"/>
              </a:rPr>
              <a:t>s</a:t>
            </a:r>
            <a:r>
              <a:rPr sz="1900" b="0" i="0">
                <a:solidFill>
                  <a:srgbClr val="6B6B6B"/>
                </a:solidFill>
                <a:latin typeface="Calibri"/>
              </a:rPr>
              <a:t>(0 °C) = 3.84 g/kg, so the air holds 0.80 × 3.84 = </a:t>
            </a:r>
            <a:r>
              <a:rPr sz="1900" b="1" i="0">
                <a:solidFill>
                  <a:srgbClr val="6B6B6B"/>
                </a:solidFill>
                <a:latin typeface="Calibri"/>
              </a:rPr>
              <a:t>3.07 g/kg</a:t>
            </a:r>
            <a:r>
              <a:rPr sz="1900" b="0" i="0">
                <a:solidFill>
                  <a:srgbClr val="6B6B6B"/>
                </a:solidFill>
                <a:latin typeface="Calibri"/>
              </a:rPr>
              <a:t>.</a:t>
            </a:r>
          </a:p>
        </p:txBody>
      </p:sp>
      <p:sp>
        <p:nvSpPr>
          <p:cNvPr id="7" name="Oval 6"/>
          <p:cNvSpPr/>
          <p:nvPr/>
        </p:nvSpPr>
        <p:spPr>
          <a:xfrm>
            <a:off x="457200" y="154889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485136"/>
            <a:ext cx="4663440" cy="1342135"/>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Heat it to 21 °C</a:t>
            </a:r>
            <a:r>
              <a:rPr sz="1900" b="0" i="0">
                <a:solidFill>
                  <a:srgbClr val="1F1F1F"/>
                </a:solidFill>
                <a:latin typeface="Calibri"/>
              </a:rPr>
              <a:t> with nothing added: w is still 3.07 g/kg, but w</a:t>
            </a:r>
            <a:r>
              <a:rPr sz="1900" b="0" i="0" baseline="-25000">
                <a:solidFill>
                  <a:srgbClr val="1F1F1F"/>
                </a:solidFill>
                <a:latin typeface="Calibri"/>
              </a:rPr>
              <a:t>s</a:t>
            </a:r>
            <a:r>
              <a:rPr sz="1900" b="0" i="0">
                <a:solidFill>
                  <a:srgbClr val="1F1F1F"/>
                </a:solidFill>
                <a:latin typeface="Calibri"/>
              </a:rPr>
              <a:t>(21 °C) ≈ 15.9 g/kg. RH = 3.07 / 15.9 = </a:t>
            </a:r>
            <a:r>
              <a:rPr sz="1900" b="1" i="0">
                <a:solidFill>
                  <a:srgbClr val="1F1F1F"/>
                </a:solidFill>
                <a:latin typeface="Calibri"/>
              </a:rPr>
              <a:t>19 %</a:t>
            </a:r>
            <a:r>
              <a:rPr sz="1900" b="0" i="0">
                <a:solidFill>
                  <a:srgbClr val="1F1F1F"/>
                </a:solidFill>
                <a:latin typeface="Calibri"/>
              </a:rPr>
              <a:t>.</a:t>
            </a:r>
          </a:p>
        </p:txBody>
      </p:sp>
      <p:sp>
        <p:nvSpPr>
          <p:cNvPr id="9" name="Oval 8"/>
          <p:cNvSpPr/>
          <p:nvPr/>
        </p:nvSpPr>
        <p:spPr>
          <a:xfrm>
            <a:off x="457200" y="2982467"/>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q2_s2.png"/>
          <p:cNvPicPr>
            <a:picLocks noChangeAspect="1"/>
          </p:cNvPicPr>
          <p:nvPr/>
        </p:nvPicPr>
        <p:blipFill>
          <a:blip r:embed="rId3"/>
          <a:stretch>
            <a:fillRect/>
          </a:stretch>
        </p:blipFill>
        <p:spPr>
          <a:xfrm>
            <a:off x="5257800" y="2280799"/>
            <a:ext cx="6613855" cy="270788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Q2: step 3 of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16</a:t>
            </a:r>
          </a:p>
        </p:txBody>
      </p:sp>
      <p:sp>
        <p:nvSpPr>
          <p:cNvPr id="6" name="Rounded Rectangle 5"/>
          <p:cNvSpPr/>
          <p:nvPr/>
        </p:nvSpPr>
        <p:spPr>
          <a:xfrm>
            <a:off x="365760" y="1051560"/>
            <a:ext cx="4663440" cy="1342135"/>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Outdoors:</a:t>
            </a:r>
            <a:r>
              <a:rPr sz="1900" b="0" i="0">
                <a:solidFill>
                  <a:srgbClr val="6B6B6B"/>
                </a:solidFill>
                <a:latin typeface="Calibri"/>
              </a:rPr>
              <a:t> 0 °C, RH 80 %. Table 1 (corrected): w</a:t>
            </a:r>
            <a:r>
              <a:rPr sz="1900" b="0" i="0" baseline="-25000">
                <a:solidFill>
                  <a:srgbClr val="6B6B6B"/>
                </a:solidFill>
                <a:latin typeface="Calibri"/>
              </a:rPr>
              <a:t>s</a:t>
            </a:r>
            <a:r>
              <a:rPr sz="1900" b="0" i="0">
                <a:solidFill>
                  <a:srgbClr val="6B6B6B"/>
                </a:solidFill>
                <a:latin typeface="Calibri"/>
              </a:rPr>
              <a:t>(0 °C) = 3.84 g/kg, so the air holds 0.80 × 3.84 = </a:t>
            </a:r>
            <a:r>
              <a:rPr sz="1900" b="1" i="0">
                <a:solidFill>
                  <a:srgbClr val="6B6B6B"/>
                </a:solidFill>
                <a:latin typeface="Calibri"/>
              </a:rPr>
              <a:t>3.07 g/kg</a:t>
            </a:r>
            <a:r>
              <a:rPr sz="1900" b="0" i="0">
                <a:solidFill>
                  <a:srgbClr val="6B6B6B"/>
                </a:solidFill>
                <a:latin typeface="Calibri"/>
              </a:rPr>
              <a:t>.</a:t>
            </a:r>
          </a:p>
        </p:txBody>
      </p:sp>
      <p:sp>
        <p:nvSpPr>
          <p:cNvPr id="7" name="Oval 6"/>
          <p:cNvSpPr/>
          <p:nvPr/>
        </p:nvSpPr>
        <p:spPr>
          <a:xfrm>
            <a:off x="457200" y="154889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485136"/>
            <a:ext cx="4663440" cy="1342135"/>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Heat it to 21 °C</a:t>
            </a:r>
            <a:r>
              <a:rPr sz="1900" b="0" i="0">
                <a:solidFill>
                  <a:srgbClr val="6B6B6B"/>
                </a:solidFill>
                <a:latin typeface="Calibri"/>
              </a:rPr>
              <a:t> with nothing added: w is still 3.07 g/kg, but w</a:t>
            </a:r>
            <a:r>
              <a:rPr sz="1900" b="0" i="0" baseline="-25000">
                <a:solidFill>
                  <a:srgbClr val="6B6B6B"/>
                </a:solidFill>
                <a:latin typeface="Calibri"/>
              </a:rPr>
              <a:t>s</a:t>
            </a:r>
            <a:r>
              <a:rPr sz="1900" b="0" i="0">
                <a:solidFill>
                  <a:srgbClr val="6B6B6B"/>
                </a:solidFill>
                <a:latin typeface="Calibri"/>
              </a:rPr>
              <a:t>(21 °C) ≈ 15.9 g/kg. RH = 3.07 / 15.9 = </a:t>
            </a:r>
            <a:r>
              <a:rPr sz="1900" b="1" i="0">
                <a:solidFill>
                  <a:srgbClr val="6B6B6B"/>
                </a:solidFill>
                <a:latin typeface="Calibri"/>
              </a:rPr>
              <a:t>19 %</a:t>
            </a:r>
            <a:r>
              <a:rPr sz="1900" b="0" i="0">
                <a:solidFill>
                  <a:srgbClr val="6B6B6B"/>
                </a:solidFill>
                <a:latin typeface="Calibri"/>
              </a:rPr>
              <a:t>.</a:t>
            </a:r>
          </a:p>
        </p:txBody>
      </p:sp>
      <p:sp>
        <p:nvSpPr>
          <p:cNvPr id="9" name="Oval 8"/>
          <p:cNvSpPr/>
          <p:nvPr/>
        </p:nvSpPr>
        <p:spPr>
          <a:xfrm>
            <a:off x="457200" y="2982467"/>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918712"/>
            <a:ext cx="4663440" cy="1342135"/>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To reach a comfortable 40 %</a:t>
            </a:r>
            <a:r>
              <a:rPr sz="1900" b="0" i="0">
                <a:solidFill>
                  <a:srgbClr val="1F1F1F"/>
                </a:solidFill>
                <a:latin typeface="Calibri"/>
              </a:rPr>
              <a:t> you would need 0.40 × 15.9 = 6.4 g/kg: add </a:t>
            </a:r>
            <a:r>
              <a:rPr sz="1900" b="1" i="0">
                <a:solidFill>
                  <a:srgbClr val="1F1F1F"/>
                </a:solidFill>
                <a:latin typeface="Calibri"/>
              </a:rPr>
              <a:t>3.3 g of water</a:t>
            </a:r>
            <a:r>
              <a:rPr sz="1900" b="0" i="0">
                <a:solidFill>
                  <a:srgbClr val="1F1F1F"/>
                </a:solidFill>
                <a:latin typeface="Calibri"/>
              </a:rPr>
              <a:t> to every kilogram of air.</a:t>
            </a:r>
          </a:p>
        </p:txBody>
      </p:sp>
      <p:sp>
        <p:nvSpPr>
          <p:cNvPr id="11" name="Oval 10"/>
          <p:cNvSpPr/>
          <p:nvPr/>
        </p:nvSpPr>
        <p:spPr>
          <a:xfrm>
            <a:off x="457200" y="4416044"/>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q2_s3.png"/>
          <p:cNvPicPr>
            <a:picLocks noChangeAspect="1"/>
          </p:cNvPicPr>
          <p:nvPr/>
        </p:nvPicPr>
        <p:blipFill>
          <a:blip r:embed="rId3"/>
          <a:stretch>
            <a:fillRect/>
          </a:stretch>
        </p:blipFill>
        <p:spPr>
          <a:xfrm>
            <a:off x="5257800" y="2280799"/>
            <a:ext cx="6613855" cy="270788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Q2: the answer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17</a:t>
            </a:r>
          </a:p>
        </p:txBody>
      </p:sp>
      <p:sp>
        <p:nvSpPr>
          <p:cNvPr id="6" name="Rounded Rectangle 5"/>
          <p:cNvSpPr/>
          <p:nvPr/>
        </p:nvSpPr>
        <p:spPr>
          <a:xfrm>
            <a:off x="411480" y="1097280"/>
            <a:ext cx="5669280" cy="31089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F5F"/>
                </a:solidFill>
                <a:latin typeface="Calibri"/>
              </a:rPr>
              <a:t>Answer</a:t>
            </a:r>
          </a:p>
          <a:p>
            <a:pPr algn="l">
              <a:spcAft>
                <a:spcPts val="300"/>
              </a:spcAft>
            </a:pPr>
            <a:r>
              <a:rPr sz="2000" b="0" i="0">
                <a:solidFill>
                  <a:srgbClr val="1F1F1F"/>
                </a:solidFill>
                <a:latin typeface="Calibri"/>
              </a:rPr>
              <a:t>The humidity in the house </a:t>
            </a:r>
            <a:r>
              <a:rPr sz="2000" b="1" i="0">
                <a:solidFill>
                  <a:srgbClr val="007F5F"/>
                </a:solidFill>
                <a:latin typeface="Calibri"/>
              </a:rPr>
              <a:t>drops significantly</a:t>
            </a:r>
            <a:r>
              <a:rPr sz="2000" b="0" i="0">
                <a:solidFill>
                  <a:srgbClr val="1F1F1F"/>
                </a:solidFill>
                <a:latin typeface="Calibri"/>
              </a:rPr>
              <a:t>.</a:t>
            </a:r>
          </a:p>
          <a:p>
            <a:pPr algn="l">
              <a:spcAft>
                <a:spcPts val="300"/>
              </a:spcAft>
            </a:pPr>
            <a:r>
              <a:rPr sz="2000" b="0" i="0">
                <a:solidFill>
                  <a:srgbClr val="1F1F1F"/>
                </a:solidFill>
                <a:latin typeface="Calibri"/>
              </a:rPr>
              <a:t>Cold air holds little vapour, so the outside air has a low mixing ratio. Heated without added water, the mixing ratio is unchanged but the capacity grows, so RH becomes very low (19 % in the example).</a:t>
            </a:r>
          </a:p>
        </p:txBody>
      </p:sp>
      <p:pic>
        <p:nvPicPr>
          <p:cNvPr id="7" name="Picture 6" descr="ch02_06.png"/>
          <p:cNvPicPr>
            <a:picLocks noChangeAspect="1"/>
          </p:cNvPicPr>
          <p:nvPr/>
        </p:nvPicPr>
        <p:blipFill>
          <a:blip r:embed="rId2"/>
          <a:stretch>
            <a:fillRect/>
          </a:stretch>
        </p:blipFill>
        <p:spPr>
          <a:xfrm>
            <a:off x="6355080" y="2395711"/>
            <a:ext cx="5516575" cy="2523777"/>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Q3: who holds the most water vapour?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18</a:t>
            </a:r>
          </a:p>
        </p:txBody>
      </p:sp>
      <p:sp>
        <p:nvSpPr>
          <p:cNvPr id="6" name="Rounded Rectangle 5"/>
          <p:cNvSpPr/>
          <p:nvPr/>
        </p:nvSpPr>
        <p:spPr>
          <a:xfrm>
            <a:off x="411480" y="1097280"/>
            <a:ext cx="5760720" cy="237744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Complete the ratios for the following air samples and rank from 1 (highest) to 5 (lowest) in order of actual water vapour content: (SMR × RH, e.g. 10.14 × 0.9 = 9.126).</a:t>
            </a:r>
          </a:p>
        </p:txBody>
      </p:sp>
      <p:sp>
        <p:nvSpPr>
          <p:cNvPr id="7" name="TextBox 6"/>
          <p:cNvSpPr txBox="1"/>
          <p:nvPr/>
        </p:nvSpPr>
        <p:spPr>
          <a:xfrm>
            <a:off x="457200" y="3749039"/>
            <a:ext cx="5669280" cy="265176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Method: turn each RH back into an amount of vapour: </a:t>
            </a:r>
            <a:r>
              <a:rPr sz="1900" b="1" i="0">
                <a:solidFill>
                  <a:srgbClr val="1F1F1F"/>
                </a:solidFill>
                <a:latin typeface="Calibri"/>
              </a:rPr>
              <a:t>w = w</a:t>
            </a:r>
            <a:r>
              <a:rPr sz="1900" b="1" i="0" baseline="-25000">
                <a:solidFill>
                  <a:srgbClr val="1F1F1F"/>
                </a:solidFill>
                <a:latin typeface="Calibri"/>
              </a:rPr>
              <a:t>s</a:t>
            </a:r>
            <a:r>
              <a:rPr sz="1900" b="1" i="0">
                <a:solidFill>
                  <a:srgbClr val="1F1F1F"/>
                </a:solidFill>
                <a:latin typeface="Calibri"/>
              </a:rPr>
              <a:t> × RH</a:t>
            </a:r>
            <a:r>
              <a:rPr sz="1900" b="0" i="0">
                <a:solidFill>
                  <a:srgbClr val="1F1F1F"/>
                </a:solidFill>
                <a:latin typeface="Calibri"/>
              </a:rPr>
              <a:t>, then rank.</a:t>
            </a:r>
          </a:p>
        </p:txBody>
      </p:sp>
      <p:graphicFrame>
        <p:nvGraphicFramePr>
          <p:cNvPr id="8" name="Table 7"/>
          <p:cNvGraphicFramePr>
            <a:graphicFrameLocks noGrp="1"/>
          </p:cNvGraphicFramePr>
          <p:nvPr/>
        </p:nvGraphicFramePr>
        <p:xfrm>
          <a:off x="6309360" y="1280160"/>
          <a:ext cx="5486396" cy="3401568"/>
        </p:xfrm>
        <a:graphic>
          <a:graphicData uri="http://schemas.openxmlformats.org/drawingml/2006/table">
            <a:tbl>
              <a:tblPr firstRow="0" bandRow="0">
                <a:tableStyleId>{5940675A-B579-460E-94D1-54222C63F5DA}</a:tableStyleId>
              </a:tblPr>
              <a:tblGrid>
                <a:gridCol w="1035169"/>
                <a:gridCol w="1345720"/>
                <a:gridCol w="931652"/>
                <a:gridCol w="1242203"/>
                <a:gridCol w="931652"/>
              </a:tblGrid>
              <a:tr h="566928">
                <a:tc>
                  <a:txBody>
                    <a:bodyPr wrap="square"/>
                    <a:lstStyle/>
                    <a:p>
                      <a:pPr algn="l"/>
                      <a:r>
                        <a:rPr sz="1900" b="1" i="0">
                          <a:solidFill>
                            <a:srgbClr val="FFFFFF"/>
                          </a:solidFill>
                          <a:latin typeface="Calibri"/>
                        </a:rPr>
                        <a:t>Temp.</a:t>
                      </a:r>
                    </a:p>
                  </a:txBody>
                  <a:tcPr marL="73152" marR="73152" marT="27432" marB="27432" anchor="ctr">
                    <a:solidFill>
                      <a:srgbClr val="1B3A6B"/>
                    </a:solidFill>
                  </a:tcPr>
                </a:tc>
                <a:tc>
                  <a:txBody>
                    <a:bodyPr wrap="square"/>
                    <a:lstStyle/>
                    <a:p>
                      <a:pPr algn="l"/>
                      <a:r>
                        <a:rPr sz="1900" b="1" i="0">
                          <a:solidFill>
                            <a:srgbClr val="FFFFFF"/>
                          </a:solidFill>
                          <a:latin typeface="Calibri"/>
                        </a:rPr>
                        <a:t>SMR (g/kg)</a:t>
                      </a:r>
                    </a:p>
                  </a:txBody>
                  <a:tcPr marL="73152" marR="73152" marT="27432" marB="27432" anchor="ctr">
                    <a:solidFill>
                      <a:srgbClr val="1B3A6B"/>
                    </a:solidFill>
                  </a:tcPr>
                </a:tc>
                <a:tc>
                  <a:txBody>
                    <a:bodyPr wrap="square"/>
                    <a:lstStyle/>
                    <a:p>
                      <a:pPr algn="l"/>
                      <a:r>
                        <a:rPr sz="1900" b="1" i="0">
                          <a:solidFill>
                            <a:srgbClr val="FFFFFF"/>
                          </a:solidFill>
                          <a:latin typeface="Calibri"/>
                        </a:rPr>
                        <a:t>RH</a:t>
                      </a:r>
                    </a:p>
                  </a:txBody>
                  <a:tcPr marL="73152" marR="73152" marT="27432" marB="27432" anchor="ctr">
                    <a:solidFill>
                      <a:srgbClr val="1B3A6B"/>
                    </a:solidFill>
                  </a:tcPr>
                </a:tc>
                <a:tc>
                  <a:txBody>
                    <a:bodyPr wrap="square"/>
                    <a:lstStyle/>
                    <a:p>
                      <a:pPr algn="l"/>
                      <a:r>
                        <a:rPr sz="1900" b="1" i="0">
                          <a:solidFill>
                            <a:srgbClr val="FFFFFF"/>
                          </a:solidFill>
                          <a:latin typeface="Calibri"/>
                        </a:rPr>
                        <a:t>w (g/kg)</a:t>
                      </a:r>
                    </a:p>
                  </a:txBody>
                  <a:tcPr marL="73152" marR="73152" marT="27432" marB="27432" anchor="ctr">
                    <a:solidFill>
                      <a:srgbClr val="1B3A6B"/>
                    </a:solidFill>
                  </a:tcPr>
                </a:tc>
                <a:tc>
                  <a:txBody>
                    <a:bodyPr wrap="square"/>
                    <a:lstStyle/>
                    <a:p>
                      <a:pPr algn="l"/>
                      <a:r>
                        <a:rPr sz="1900" b="1" i="0">
                          <a:solidFill>
                            <a:srgbClr val="FFFFFF"/>
                          </a:solidFill>
                          <a:latin typeface="Calibri"/>
                        </a:rPr>
                        <a:t>Rank</a:t>
                      </a:r>
                    </a:p>
                  </a:txBody>
                  <a:tcPr marL="73152" marR="73152" marT="27432" marB="27432" anchor="ctr">
                    <a:solidFill>
                      <a:srgbClr val="1B3A6B"/>
                    </a:solidFill>
                  </a:tcPr>
                </a:tc>
              </a:tr>
              <a:tr h="566928">
                <a:tc>
                  <a:txBody>
                    <a:bodyPr wrap="square"/>
                    <a:lstStyle/>
                    <a:p>
                      <a:pPr algn="l"/>
                      <a:r>
                        <a:rPr sz="1900" b="0" i="0">
                          <a:solidFill>
                            <a:srgbClr val="1F1F1F"/>
                          </a:solidFill>
                          <a:latin typeface="Calibri"/>
                        </a:rPr>
                        <a:t>14 °C</a:t>
                      </a:r>
                    </a:p>
                  </a:txBody>
                  <a:tcPr marL="73152" marR="73152" marT="27432" marB="27432" anchor="ctr">
                    <a:solidFill>
                      <a:srgbClr val="FFFFFF"/>
                    </a:solidFill>
                  </a:tcPr>
                </a:tc>
                <a:tc>
                  <a:txBody>
                    <a:bodyPr wrap="square"/>
                    <a:lstStyle/>
                    <a:p>
                      <a:pPr algn="l"/>
                      <a:r>
                        <a:rPr sz="1900" b="0" i="0">
                          <a:solidFill>
                            <a:srgbClr val="1F1F1F"/>
                          </a:solidFill>
                          <a:latin typeface="Calibri"/>
                        </a:rPr>
                        <a:t>10.14</a:t>
                      </a:r>
                    </a:p>
                  </a:txBody>
                  <a:tcPr marL="73152" marR="73152" marT="27432" marB="27432" anchor="ctr">
                    <a:solidFill>
                      <a:srgbClr val="FFFFFF"/>
                    </a:solidFill>
                  </a:tcPr>
                </a:tc>
                <a:tc>
                  <a:txBody>
                    <a:bodyPr wrap="square"/>
                    <a:lstStyle/>
                    <a:p>
                      <a:pPr algn="l"/>
                      <a:r>
                        <a:rPr sz="1900" b="0" i="0">
                          <a:solidFill>
                            <a:srgbClr val="1F1F1F"/>
                          </a:solidFill>
                          <a:latin typeface="Calibri"/>
                        </a:rPr>
                        <a:t>90 %</a:t>
                      </a:r>
                    </a:p>
                  </a:txBody>
                  <a:tcPr marL="73152" marR="73152" marT="27432" marB="27432" anchor="ctr">
                    <a:solidFill>
                      <a:srgbClr val="FFFFFF"/>
                    </a:solidFill>
                  </a:tcPr>
                </a:tc>
                <a:tc>
                  <a:txBody>
                    <a:bodyPr wrap="square"/>
                    <a:lstStyle/>
                    <a:p>
                      <a:pPr algn="l"/>
                      <a:r>
                        <a:rPr sz="1900" b="0" i="0">
                          <a:solidFill>
                            <a:srgbClr val="1F1F1F"/>
                          </a:solidFill>
                          <a:latin typeface="Calibri"/>
                        </a:rPr>
                        <a:t>?</a:t>
                      </a:r>
                    </a:p>
                  </a:txBody>
                  <a:tcPr marL="73152" marR="73152" marT="27432" marB="27432" anchor="ctr">
                    <a:solidFill>
                      <a:srgbClr val="FFFFFF"/>
                    </a:solidFill>
                  </a:tcPr>
                </a:tc>
                <a:tc>
                  <a:txBody>
                    <a:bodyPr wrap="square"/>
                    <a:lstStyle/>
                    <a:p>
                      <a:pPr algn="l"/>
                      <a:r>
                        <a:rPr sz="1900" b="0" i="0">
                          <a:solidFill>
                            <a:srgbClr val="1F1F1F"/>
                          </a:solidFill>
                          <a:latin typeface="Calibri"/>
                        </a:rPr>
                        <a:t>?</a:t>
                      </a:r>
                    </a:p>
                  </a:txBody>
                  <a:tcPr marL="73152" marR="73152" marT="27432" marB="27432" anchor="ctr">
                    <a:solidFill>
                      <a:srgbClr val="FFFFFF"/>
                    </a:solidFill>
                  </a:tcPr>
                </a:tc>
              </a:tr>
              <a:tr h="566928">
                <a:tc>
                  <a:txBody>
                    <a:bodyPr wrap="square"/>
                    <a:lstStyle/>
                    <a:p>
                      <a:pPr algn="l"/>
                      <a:r>
                        <a:rPr sz="1900" b="0" i="0">
                          <a:solidFill>
                            <a:srgbClr val="1F1F1F"/>
                          </a:solidFill>
                          <a:latin typeface="Calibri"/>
                        </a:rPr>
                        <a:t>20 °C</a:t>
                      </a:r>
                    </a:p>
                  </a:txBody>
                  <a:tcPr marL="73152" marR="73152" marT="27432" marB="27432" anchor="ctr">
                    <a:solidFill>
                      <a:srgbClr val="F7F7F5"/>
                    </a:solidFill>
                  </a:tcPr>
                </a:tc>
                <a:tc>
                  <a:txBody>
                    <a:bodyPr wrap="square"/>
                    <a:lstStyle/>
                    <a:p>
                      <a:pPr algn="l"/>
                      <a:r>
                        <a:rPr sz="1900" b="0" i="0">
                          <a:solidFill>
                            <a:srgbClr val="1F1F1F"/>
                          </a:solidFill>
                          <a:latin typeface="Calibri"/>
                        </a:rPr>
                        <a:t>14.956</a:t>
                      </a:r>
                    </a:p>
                  </a:txBody>
                  <a:tcPr marL="73152" marR="73152" marT="27432" marB="27432" anchor="ctr">
                    <a:solidFill>
                      <a:srgbClr val="F7F7F5"/>
                    </a:solidFill>
                  </a:tcPr>
                </a:tc>
                <a:tc>
                  <a:txBody>
                    <a:bodyPr wrap="square"/>
                    <a:lstStyle/>
                    <a:p>
                      <a:pPr algn="l"/>
                      <a:r>
                        <a:rPr sz="1900" b="0" i="0">
                          <a:solidFill>
                            <a:srgbClr val="1F1F1F"/>
                          </a:solidFill>
                          <a:latin typeface="Calibri"/>
                        </a:rPr>
                        <a:t>60 %</a:t>
                      </a:r>
                    </a:p>
                  </a:txBody>
                  <a:tcPr marL="73152" marR="73152" marT="27432" marB="27432" anchor="ctr">
                    <a:solidFill>
                      <a:srgbClr val="F7F7F5"/>
                    </a:solidFill>
                  </a:tcPr>
                </a:tc>
                <a:tc>
                  <a:txBody>
                    <a:bodyPr wrap="square"/>
                    <a:lstStyle/>
                    <a:p>
                      <a:pPr algn="l"/>
                      <a:r>
                        <a:rPr sz="1900" b="0" i="0">
                          <a:solidFill>
                            <a:srgbClr val="1F1F1F"/>
                          </a:solidFill>
                          <a:latin typeface="Calibri"/>
                        </a:rPr>
                        <a:t>?</a:t>
                      </a:r>
                    </a:p>
                  </a:txBody>
                  <a:tcPr marL="73152" marR="73152" marT="27432" marB="27432" anchor="ctr">
                    <a:solidFill>
                      <a:srgbClr val="F7F7F5"/>
                    </a:solidFill>
                  </a:tcPr>
                </a:tc>
                <a:tc>
                  <a:txBody>
                    <a:bodyPr wrap="square"/>
                    <a:lstStyle/>
                    <a:p>
                      <a:pPr algn="l"/>
                      <a:r>
                        <a:rPr sz="1900" b="0" i="0">
                          <a:solidFill>
                            <a:srgbClr val="1F1F1F"/>
                          </a:solidFill>
                          <a:latin typeface="Calibri"/>
                        </a:rPr>
                        <a:t>?</a:t>
                      </a:r>
                    </a:p>
                  </a:txBody>
                  <a:tcPr marL="73152" marR="73152" marT="27432" marB="27432" anchor="ctr">
                    <a:solidFill>
                      <a:srgbClr val="F7F7F5"/>
                    </a:solidFill>
                  </a:tcPr>
                </a:tc>
              </a:tr>
              <a:tr h="566928">
                <a:tc>
                  <a:txBody>
                    <a:bodyPr wrap="square"/>
                    <a:lstStyle/>
                    <a:p>
                      <a:pPr algn="l"/>
                      <a:r>
                        <a:rPr sz="1900" b="0" i="0">
                          <a:solidFill>
                            <a:srgbClr val="1F1F1F"/>
                          </a:solidFill>
                          <a:latin typeface="Calibri"/>
                        </a:rPr>
                        <a:t>24 °C</a:t>
                      </a:r>
                    </a:p>
                  </a:txBody>
                  <a:tcPr marL="73152" marR="73152" marT="27432" marB="27432" anchor="ctr">
                    <a:solidFill>
                      <a:srgbClr val="FFFFFF"/>
                    </a:solidFill>
                  </a:tcPr>
                </a:tc>
                <a:tc>
                  <a:txBody>
                    <a:bodyPr wrap="square"/>
                    <a:lstStyle/>
                    <a:p>
                      <a:pPr algn="l"/>
                      <a:r>
                        <a:rPr sz="1900" b="0" i="0">
                          <a:solidFill>
                            <a:srgbClr val="1F1F1F"/>
                          </a:solidFill>
                          <a:latin typeface="Calibri"/>
                        </a:rPr>
                        <a:t>19.21</a:t>
                      </a:r>
                    </a:p>
                  </a:txBody>
                  <a:tcPr marL="73152" marR="73152" marT="27432" marB="27432" anchor="ctr">
                    <a:solidFill>
                      <a:srgbClr val="FFFFFF"/>
                    </a:solidFill>
                  </a:tcPr>
                </a:tc>
                <a:tc>
                  <a:txBody>
                    <a:bodyPr wrap="square"/>
                    <a:lstStyle/>
                    <a:p>
                      <a:pPr algn="l"/>
                      <a:r>
                        <a:rPr sz="1900" b="0" i="0">
                          <a:solidFill>
                            <a:srgbClr val="1F1F1F"/>
                          </a:solidFill>
                          <a:latin typeface="Calibri"/>
                        </a:rPr>
                        <a:t>40 %</a:t>
                      </a:r>
                    </a:p>
                  </a:txBody>
                  <a:tcPr marL="73152" marR="73152" marT="27432" marB="27432" anchor="ctr">
                    <a:solidFill>
                      <a:srgbClr val="FFFFFF"/>
                    </a:solidFill>
                  </a:tcPr>
                </a:tc>
                <a:tc>
                  <a:txBody>
                    <a:bodyPr wrap="square"/>
                    <a:lstStyle/>
                    <a:p>
                      <a:pPr algn="l"/>
                      <a:r>
                        <a:rPr sz="1900" b="0" i="0">
                          <a:solidFill>
                            <a:srgbClr val="1F1F1F"/>
                          </a:solidFill>
                          <a:latin typeface="Calibri"/>
                        </a:rPr>
                        <a:t>?</a:t>
                      </a:r>
                    </a:p>
                  </a:txBody>
                  <a:tcPr marL="73152" marR="73152" marT="27432" marB="27432" anchor="ctr">
                    <a:solidFill>
                      <a:srgbClr val="FFFFFF"/>
                    </a:solidFill>
                  </a:tcPr>
                </a:tc>
                <a:tc>
                  <a:txBody>
                    <a:bodyPr wrap="square"/>
                    <a:lstStyle/>
                    <a:p>
                      <a:pPr algn="l"/>
                      <a:r>
                        <a:rPr sz="1900" b="0" i="0">
                          <a:solidFill>
                            <a:srgbClr val="1F1F1F"/>
                          </a:solidFill>
                          <a:latin typeface="Calibri"/>
                        </a:rPr>
                        <a:t>?</a:t>
                      </a:r>
                    </a:p>
                  </a:txBody>
                  <a:tcPr marL="73152" marR="73152" marT="27432" marB="27432" anchor="ctr">
                    <a:solidFill>
                      <a:srgbClr val="FFFFFF"/>
                    </a:solidFill>
                  </a:tcPr>
                </a:tc>
              </a:tr>
              <a:tr h="566928">
                <a:tc>
                  <a:txBody>
                    <a:bodyPr wrap="square"/>
                    <a:lstStyle/>
                    <a:p>
                      <a:pPr algn="l"/>
                      <a:r>
                        <a:rPr sz="1900" b="0" i="0">
                          <a:solidFill>
                            <a:srgbClr val="1F1F1F"/>
                          </a:solidFill>
                          <a:latin typeface="Calibri"/>
                        </a:rPr>
                        <a:t>30 °C</a:t>
                      </a:r>
                    </a:p>
                  </a:txBody>
                  <a:tcPr marL="73152" marR="73152" marT="27432" marB="27432" anchor="ctr">
                    <a:solidFill>
                      <a:srgbClr val="F7F7F5"/>
                    </a:solidFill>
                  </a:tcPr>
                </a:tc>
                <a:tc>
                  <a:txBody>
                    <a:bodyPr wrap="square"/>
                    <a:lstStyle/>
                    <a:p>
                      <a:pPr algn="l"/>
                      <a:r>
                        <a:rPr sz="1900" b="0" i="0">
                          <a:solidFill>
                            <a:srgbClr val="1F1F1F"/>
                          </a:solidFill>
                          <a:latin typeface="Calibri"/>
                        </a:rPr>
                        <a:t>27.694</a:t>
                      </a:r>
                    </a:p>
                  </a:txBody>
                  <a:tcPr marL="73152" marR="73152" marT="27432" marB="27432" anchor="ctr">
                    <a:solidFill>
                      <a:srgbClr val="F7F7F5"/>
                    </a:solidFill>
                  </a:tcPr>
                </a:tc>
                <a:tc>
                  <a:txBody>
                    <a:bodyPr wrap="square"/>
                    <a:lstStyle/>
                    <a:p>
                      <a:pPr algn="l"/>
                      <a:r>
                        <a:rPr sz="1900" b="0" i="0">
                          <a:solidFill>
                            <a:srgbClr val="1F1F1F"/>
                          </a:solidFill>
                          <a:latin typeface="Calibri"/>
                        </a:rPr>
                        <a:t>40 %</a:t>
                      </a:r>
                    </a:p>
                  </a:txBody>
                  <a:tcPr marL="73152" marR="73152" marT="27432" marB="27432" anchor="ctr">
                    <a:solidFill>
                      <a:srgbClr val="F7F7F5"/>
                    </a:solidFill>
                  </a:tcPr>
                </a:tc>
                <a:tc>
                  <a:txBody>
                    <a:bodyPr wrap="square"/>
                    <a:lstStyle/>
                    <a:p>
                      <a:pPr algn="l"/>
                      <a:r>
                        <a:rPr sz="1900" b="0" i="0">
                          <a:solidFill>
                            <a:srgbClr val="1F1F1F"/>
                          </a:solidFill>
                          <a:latin typeface="Calibri"/>
                        </a:rPr>
                        <a:t>?</a:t>
                      </a:r>
                    </a:p>
                  </a:txBody>
                  <a:tcPr marL="73152" marR="73152" marT="27432" marB="27432" anchor="ctr">
                    <a:solidFill>
                      <a:srgbClr val="F7F7F5"/>
                    </a:solidFill>
                  </a:tcPr>
                </a:tc>
                <a:tc>
                  <a:txBody>
                    <a:bodyPr wrap="square"/>
                    <a:lstStyle/>
                    <a:p>
                      <a:pPr algn="l"/>
                      <a:r>
                        <a:rPr sz="1900" b="0" i="0">
                          <a:solidFill>
                            <a:srgbClr val="1F1F1F"/>
                          </a:solidFill>
                          <a:latin typeface="Calibri"/>
                        </a:rPr>
                        <a:t>?</a:t>
                      </a:r>
                    </a:p>
                  </a:txBody>
                  <a:tcPr marL="73152" marR="73152" marT="27432" marB="27432" anchor="ctr">
                    <a:solidFill>
                      <a:srgbClr val="F7F7F5"/>
                    </a:solidFill>
                  </a:tcPr>
                </a:tc>
              </a:tr>
              <a:tr h="566928">
                <a:tc>
                  <a:txBody>
                    <a:bodyPr wrap="square"/>
                    <a:lstStyle/>
                    <a:p>
                      <a:pPr algn="l"/>
                      <a:r>
                        <a:rPr sz="1900" b="0" i="0">
                          <a:solidFill>
                            <a:srgbClr val="1F1F1F"/>
                          </a:solidFill>
                          <a:latin typeface="Calibri"/>
                        </a:rPr>
                        <a:t>34 °C</a:t>
                      </a:r>
                    </a:p>
                  </a:txBody>
                  <a:tcPr marL="73152" marR="73152" marT="27432" marB="27432" anchor="ctr">
                    <a:solidFill>
                      <a:srgbClr val="FFFFFF"/>
                    </a:solidFill>
                  </a:tcPr>
                </a:tc>
                <a:tc>
                  <a:txBody>
                    <a:bodyPr wrap="square"/>
                    <a:lstStyle/>
                    <a:p>
                      <a:pPr algn="l"/>
                      <a:r>
                        <a:rPr sz="1900" b="0" i="0">
                          <a:solidFill>
                            <a:srgbClr val="1F1F1F"/>
                          </a:solidFill>
                          <a:latin typeface="Calibri"/>
                        </a:rPr>
                        <a:t>35.134</a:t>
                      </a:r>
                    </a:p>
                  </a:txBody>
                  <a:tcPr marL="73152" marR="73152" marT="27432" marB="27432" anchor="ctr">
                    <a:solidFill>
                      <a:srgbClr val="FFFFFF"/>
                    </a:solidFill>
                  </a:tcPr>
                </a:tc>
                <a:tc>
                  <a:txBody>
                    <a:bodyPr wrap="square"/>
                    <a:lstStyle/>
                    <a:p>
                      <a:pPr algn="l"/>
                      <a:r>
                        <a:rPr sz="1900" b="0" i="0">
                          <a:solidFill>
                            <a:srgbClr val="1F1F1F"/>
                          </a:solidFill>
                          <a:latin typeface="Calibri"/>
                        </a:rPr>
                        <a:t>30 %</a:t>
                      </a:r>
                    </a:p>
                  </a:txBody>
                  <a:tcPr marL="73152" marR="73152" marT="27432" marB="27432" anchor="ctr">
                    <a:solidFill>
                      <a:srgbClr val="FFFFFF"/>
                    </a:solidFill>
                  </a:tcPr>
                </a:tc>
                <a:tc>
                  <a:txBody>
                    <a:bodyPr wrap="square"/>
                    <a:lstStyle/>
                    <a:p>
                      <a:pPr algn="l"/>
                      <a:r>
                        <a:rPr sz="1900" b="0" i="0">
                          <a:solidFill>
                            <a:srgbClr val="1F1F1F"/>
                          </a:solidFill>
                          <a:latin typeface="Calibri"/>
                        </a:rPr>
                        <a:t>?</a:t>
                      </a:r>
                    </a:p>
                  </a:txBody>
                  <a:tcPr marL="73152" marR="73152" marT="27432" marB="27432" anchor="ctr">
                    <a:solidFill>
                      <a:srgbClr val="FFFFFF"/>
                    </a:solidFill>
                  </a:tcPr>
                </a:tc>
                <a:tc>
                  <a:txBody>
                    <a:bodyPr wrap="square"/>
                    <a:lstStyle/>
                    <a:p>
                      <a:pPr algn="l"/>
                      <a:r>
                        <a:rPr sz="1900" b="0" i="0">
                          <a:solidFill>
                            <a:srgbClr val="1F1F1F"/>
                          </a:solidFill>
                          <a:latin typeface="Calibri"/>
                        </a:rPr>
                        <a:t>?</a:t>
                      </a:r>
                    </a:p>
                  </a:txBody>
                  <a:tcPr marL="73152" marR="73152" marT="27432" marB="27432"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Q3: step 1 of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19</a:t>
            </a:r>
          </a:p>
        </p:txBody>
      </p:sp>
      <p:sp>
        <p:nvSpPr>
          <p:cNvPr id="6" name="Rounded Rectangle 5"/>
          <p:cNvSpPr/>
          <p:nvPr/>
        </p:nvSpPr>
        <p:spPr>
          <a:xfrm>
            <a:off x="365760" y="1051560"/>
            <a:ext cx="4663440" cy="1342135"/>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Look up w</a:t>
            </a:r>
            <a:r>
              <a:rPr sz="1900" b="1" i="0" baseline="-25000">
                <a:solidFill>
                  <a:srgbClr val="1F1F1F"/>
                </a:solidFill>
                <a:latin typeface="Calibri"/>
              </a:rPr>
              <a:t>s</a:t>
            </a:r>
            <a:r>
              <a:rPr sz="1900" b="0" i="0">
                <a:solidFill>
                  <a:srgbClr val="1F1F1F"/>
                </a:solidFill>
                <a:latin typeface="Calibri"/>
              </a:rPr>
              <a:t> for each temperature: 10.14, 14.956, 19.21, 27.694, 35.134 g/kg: the sizes of the glasses.</a:t>
            </a:r>
          </a:p>
        </p:txBody>
      </p:sp>
      <p:sp>
        <p:nvSpPr>
          <p:cNvPr id="7" name="Oval 6"/>
          <p:cNvSpPr/>
          <p:nvPr/>
        </p:nvSpPr>
        <p:spPr>
          <a:xfrm>
            <a:off x="457200" y="1548892"/>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q3_s1.png"/>
          <p:cNvPicPr>
            <a:picLocks noChangeAspect="1"/>
          </p:cNvPicPr>
          <p:nvPr/>
        </p:nvPicPr>
        <p:blipFill>
          <a:blip r:embed="rId3"/>
          <a:stretch>
            <a:fillRect/>
          </a:stretch>
        </p:blipFill>
        <p:spPr>
          <a:xfrm>
            <a:off x="5257800" y="2172570"/>
            <a:ext cx="6613855" cy="292433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Q3: step 2 of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20</a:t>
            </a:r>
          </a:p>
        </p:txBody>
      </p:sp>
      <p:sp>
        <p:nvSpPr>
          <p:cNvPr id="6" name="Rounded Rectangle 5"/>
          <p:cNvSpPr/>
          <p:nvPr/>
        </p:nvSpPr>
        <p:spPr>
          <a:xfrm>
            <a:off x="365760" y="1051560"/>
            <a:ext cx="4663440" cy="1342135"/>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Look up w</a:t>
            </a:r>
            <a:r>
              <a:rPr sz="1900" b="1" i="0" baseline="-25000">
                <a:solidFill>
                  <a:srgbClr val="6B6B6B"/>
                </a:solidFill>
                <a:latin typeface="Calibri"/>
              </a:rPr>
              <a:t>s</a:t>
            </a:r>
            <a:r>
              <a:rPr sz="1900" b="0" i="0">
                <a:solidFill>
                  <a:srgbClr val="6B6B6B"/>
                </a:solidFill>
                <a:latin typeface="Calibri"/>
              </a:rPr>
              <a:t> for each temperature: 10.14, 14.956, 19.21, 27.694, 35.134 g/kg: the sizes of the glasses.</a:t>
            </a:r>
          </a:p>
        </p:txBody>
      </p:sp>
      <p:sp>
        <p:nvSpPr>
          <p:cNvPr id="7" name="Oval 6"/>
          <p:cNvSpPr/>
          <p:nvPr/>
        </p:nvSpPr>
        <p:spPr>
          <a:xfrm>
            <a:off x="457200" y="154889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485136"/>
            <a:ext cx="4663440" cy="1342135"/>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w = w</a:t>
            </a:r>
            <a:r>
              <a:rPr sz="1900" b="1" i="0" baseline="-25000">
                <a:solidFill>
                  <a:srgbClr val="1F1F1F"/>
                </a:solidFill>
                <a:latin typeface="Calibri"/>
              </a:rPr>
              <a:t>s</a:t>
            </a:r>
            <a:r>
              <a:rPr sz="1900" b="1" i="0">
                <a:solidFill>
                  <a:srgbClr val="1F1F1F"/>
                </a:solidFill>
                <a:latin typeface="Calibri"/>
              </a:rPr>
              <a:t> × RH:</a:t>
            </a:r>
            <a:r>
              <a:rPr sz="1900" b="0" i="0">
                <a:solidFill>
                  <a:srgbClr val="1F1F1F"/>
                </a:solidFill>
                <a:latin typeface="Calibri"/>
              </a:rPr>
              <a:t> 10.14×0.9 = 9.126;  14.956×0.6 = 8.974;  19.21×0.4 = 7.684;  27.694×0.4 = 11.078;  35.134×0.3 = 10.54 g/kg.</a:t>
            </a:r>
          </a:p>
        </p:txBody>
      </p:sp>
      <p:sp>
        <p:nvSpPr>
          <p:cNvPr id="9" name="Oval 8"/>
          <p:cNvSpPr/>
          <p:nvPr/>
        </p:nvSpPr>
        <p:spPr>
          <a:xfrm>
            <a:off x="457200" y="2982467"/>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q3_s2.png"/>
          <p:cNvPicPr>
            <a:picLocks noChangeAspect="1"/>
          </p:cNvPicPr>
          <p:nvPr/>
        </p:nvPicPr>
        <p:blipFill>
          <a:blip r:embed="rId3"/>
          <a:stretch>
            <a:fillRect/>
          </a:stretch>
        </p:blipFill>
        <p:spPr>
          <a:xfrm>
            <a:off x="5257800" y="2024838"/>
            <a:ext cx="6613855" cy="321980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Q3: step 3 of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21</a:t>
            </a:r>
          </a:p>
        </p:txBody>
      </p:sp>
      <p:sp>
        <p:nvSpPr>
          <p:cNvPr id="6" name="Rounded Rectangle 5"/>
          <p:cNvSpPr/>
          <p:nvPr/>
        </p:nvSpPr>
        <p:spPr>
          <a:xfrm>
            <a:off x="365760" y="1051560"/>
            <a:ext cx="4663440" cy="1342135"/>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Look up w</a:t>
            </a:r>
            <a:r>
              <a:rPr sz="1900" b="1" i="0" baseline="-25000">
                <a:solidFill>
                  <a:srgbClr val="6B6B6B"/>
                </a:solidFill>
                <a:latin typeface="Calibri"/>
              </a:rPr>
              <a:t>s</a:t>
            </a:r>
            <a:r>
              <a:rPr sz="1900" b="0" i="0">
                <a:solidFill>
                  <a:srgbClr val="6B6B6B"/>
                </a:solidFill>
                <a:latin typeface="Calibri"/>
              </a:rPr>
              <a:t> for each temperature: 10.14, 14.956, 19.21, 27.694, 35.134 g/kg: the sizes of the glasses.</a:t>
            </a:r>
          </a:p>
        </p:txBody>
      </p:sp>
      <p:sp>
        <p:nvSpPr>
          <p:cNvPr id="7" name="Oval 6"/>
          <p:cNvSpPr/>
          <p:nvPr/>
        </p:nvSpPr>
        <p:spPr>
          <a:xfrm>
            <a:off x="457200" y="154889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485136"/>
            <a:ext cx="4663440" cy="1342135"/>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w = w</a:t>
            </a:r>
            <a:r>
              <a:rPr sz="1900" b="1" i="0" baseline="-25000">
                <a:solidFill>
                  <a:srgbClr val="6B6B6B"/>
                </a:solidFill>
                <a:latin typeface="Calibri"/>
              </a:rPr>
              <a:t>s</a:t>
            </a:r>
            <a:r>
              <a:rPr sz="1900" b="1" i="0">
                <a:solidFill>
                  <a:srgbClr val="6B6B6B"/>
                </a:solidFill>
                <a:latin typeface="Calibri"/>
              </a:rPr>
              <a:t> × RH:</a:t>
            </a:r>
            <a:r>
              <a:rPr sz="1900" b="0" i="0">
                <a:solidFill>
                  <a:srgbClr val="6B6B6B"/>
                </a:solidFill>
                <a:latin typeface="Calibri"/>
              </a:rPr>
              <a:t> 10.14×0.9 = 9.126;  14.956×0.6 = 8.974;  19.21×0.4 = 7.684;  27.694×0.4 = 11.078;  35.134×0.3 = 10.54 g/kg.</a:t>
            </a:r>
          </a:p>
        </p:txBody>
      </p:sp>
      <p:sp>
        <p:nvSpPr>
          <p:cNvPr id="9" name="Oval 8"/>
          <p:cNvSpPr/>
          <p:nvPr/>
        </p:nvSpPr>
        <p:spPr>
          <a:xfrm>
            <a:off x="457200" y="2982467"/>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918712"/>
            <a:ext cx="4663440" cy="1047749"/>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Rank</a:t>
            </a:r>
            <a:r>
              <a:rPr sz="1900" b="0" i="0">
                <a:solidFill>
                  <a:srgbClr val="1F1F1F"/>
                </a:solidFill>
                <a:latin typeface="Calibri"/>
              </a:rPr>
              <a:t> from the most vapour to the least: 30 °C (1), 34 °C (2), 14 °C (3), 20 °C (4), 24 °C (5).</a:t>
            </a:r>
          </a:p>
        </p:txBody>
      </p:sp>
      <p:sp>
        <p:nvSpPr>
          <p:cNvPr id="11" name="Oval 10"/>
          <p:cNvSpPr/>
          <p:nvPr/>
        </p:nvSpPr>
        <p:spPr>
          <a:xfrm>
            <a:off x="457200" y="4268851"/>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q3_s3.png"/>
          <p:cNvPicPr>
            <a:picLocks noChangeAspect="1"/>
          </p:cNvPicPr>
          <p:nvPr/>
        </p:nvPicPr>
        <p:blipFill>
          <a:blip r:embed="rId3"/>
          <a:stretch>
            <a:fillRect/>
          </a:stretch>
        </p:blipFill>
        <p:spPr>
          <a:xfrm>
            <a:off x="5257800" y="1835438"/>
            <a:ext cx="6613855" cy="359860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Q3: the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22</a:t>
            </a:r>
          </a:p>
        </p:txBody>
      </p:sp>
      <p:sp>
        <p:nvSpPr>
          <p:cNvPr id="6" name="Rounded Rectangle 5"/>
          <p:cNvSpPr/>
          <p:nvPr/>
        </p:nvSpPr>
        <p:spPr>
          <a:xfrm>
            <a:off x="411480" y="1097280"/>
            <a:ext cx="5669280" cy="2448763"/>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200" b="1" i="0">
                <a:solidFill>
                  <a:srgbClr val="007F5F"/>
                </a:solidFill>
                <a:latin typeface="Calibri"/>
              </a:rPr>
              <a:t>Answer</a:t>
            </a:r>
          </a:p>
          <a:p>
            <a:pPr algn="l">
              <a:spcAft>
                <a:spcPts val="300"/>
              </a:spcAft>
            </a:pPr>
            <a:r>
              <a:rPr sz="2200" b="0" i="0">
                <a:solidFill>
                  <a:srgbClr val="1F1F1F"/>
                </a:solidFill>
                <a:latin typeface="Calibri"/>
              </a:rPr>
              <a:t>Mixing ratios: </a:t>
            </a:r>
            <a:r>
              <a:rPr sz="2200" b="1" i="0">
                <a:solidFill>
                  <a:srgbClr val="1F1F1F"/>
                </a:solidFill>
                <a:latin typeface="Calibri"/>
              </a:rPr>
              <a:t>9.126, 8.974, 7.684, 11.078, 10.54</a:t>
            </a:r>
            <a:r>
              <a:rPr sz="2200" b="0" i="0">
                <a:solidFill>
                  <a:srgbClr val="1F1F1F"/>
                </a:solidFill>
                <a:latin typeface="Calibri"/>
              </a:rPr>
              <a:t> g/kg</a:t>
            </a:r>
          </a:p>
          <a:p>
            <a:pPr algn="l">
              <a:spcAft>
                <a:spcPts val="300"/>
              </a:spcAft>
            </a:pPr>
            <a:r>
              <a:rPr sz="2200" b="0" i="0">
                <a:solidFill>
                  <a:srgbClr val="1F1F1F"/>
                </a:solidFill>
                <a:latin typeface="Calibri"/>
              </a:rPr>
              <a:t>Ranks: </a:t>
            </a:r>
            <a:r>
              <a:rPr sz="2200" b="1" i="0">
                <a:solidFill>
                  <a:srgbClr val="1F1F1F"/>
                </a:solidFill>
                <a:latin typeface="Calibri"/>
              </a:rPr>
              <a:t>3, 4, 5, 1, 2</a:t>
            </a:r>
          </a:p>
        </p:txBody>
      </p:sp>
      <p:sp>
        <p:nvSpPr>
          <p:cNvPr id="7" name="Rounded Rectangle 6"/>
          <p:cNvSpPr/>
          <p:nvPr/>
        </p:nvSpPr>
        <p:spPr>
          <a:xfrm>
            <a:off x="411480" y="3728923"/>
            <a:ext cx="5669280" cy="2093061"/>
          </a:xfrm>
          <a:prstGeom prst="roundRect">
            <a:avLst>
              <a:gd name="adj" fmla="val 6000"/>
            </a:avLst>
          </a:prstGeom>
          <a:solidFill>
            <a:srgbClr val="FFF1DA"/>
          </a:solidFill>
          <a:ln w="22225">
            <a:solidFill>
              <a:srgbClr val="B87A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8A5A00"/>
                </a:solidFill>
                <a:latin typeface="Calibri"/>
              </a:rPr>
              <a:t>Common mistake</a:t>
            </a:r>
          </a:p>
          <a:p>
            <a:pPr algn="l">
              <a:spcAft>
                <a:spcPts val="300"/>
              </a:spcAft>
            </a:pPr>
            <a:r>
              <a:rPr sz="1800" b="0" i="0">
                <a:solidFill>
                  <a:srgbClr val="1F1F1F"/>
                </a:solidFill>
                <a:latin typeface="Calibri"/>
              </a:rPr>
              <a:t>Ranking by RH would put 14 °C first. A small glass 90 % full holds less than a big glass 40 % full.</a:t>
            </a:r>
          </a:p>
        </p:txBody>
      </p:sp>
      <p:pic>
        <p:nvPicPr>
          <p:cNvPr id="8" name="Picture 7" descr="ch02_07.png"/>
          <p:cNvPicPr>
            <a:picLocks noChangeAspect="1"/>
          </p:cNvPicPr>
          <p:nvPr/>
        </p:nvPicPr>
        <p:blipFill>
          <a:blip r:embed="rId2"/>
          <a:stretch>
            <a:fillRect/>
          </a:stretch>
        </p:blipFill>
        <p:spPr>
          <a:xfrm>
            <a:off x="6355080" y="2644922"/>
            <a:ext cx="5516575" cy="2025355"/>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Q4: the disadvantage of relative humidity</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23</a:t>
            </a:r>
          </a:p>
        </p:txBody>
      </p:sp>
      <p:sp>
        <p:nvSpPr>
          <p:cNvPr id="6" name="Rounded Rectangle 5"/>
          <p:cNvSpPr/>
          <p:nvPr/>
        </p:nvSpPr>
        <p:spPr>
          <a:xfrm>
            <a:off x="411480" y="1143000"/>
            <a:ext cx="11338560" cy="10058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007F5F"/>
                </a:solidFill>
                <a:latin typeface="Calibri"/>
              </a:rPr>
              <a:t>Answer</a:t>
            </a:r>
          </a:p>
          <a:p>
            <a:pPr algn="l">
              <a:spcAft>
                <a:spcPts val="300"/>
              </a:spcAft>
            </a:pPr>
            <a:r>
              <a:rPr sz="1800" b="0" i="0">
                <a:solidFill>
                  <a:srgbClr val="1F1F1F"/>
                </a:solidFill>
                <a:latin typeface="Calibri"/>
              </a:rPr>
              <a:t>Relative humidity </a:t>
            </a:r>
            <a:r>
              <a:rPr sz="1800" b="1" i="0">
                <a:solidFill>
                  <a:srgbClr val="1F1F1F"/>
                </a:solidFill>
                <a:latin typeface="Calibri"/>
              </a:rPr>
              <a:t>does not tell you how much water vapour is actually in the air</a:t>
            </a:r>
            <a:r>
              <a:rPr sz="1800" b="0" i="0">
                <a:solidFill>
                  <a:srgbClr val="1F1F1F"/>
                </a:solidFill>
                <a:latin typeface="Calibri"/>
              </a:rPr>
              <a:t>.</a:t>
            </a:r>
          </a:p>
        </p:txBody>
      </p:sp>
      <p:sp>
        <p:nvSpPr>
          <p:cNvPr id="7" name="TextBox 6"/>
          <p:cNvSpPr txBox="1"/>
          <p:nvPr/>
        </p:nvSpPr>
        <p:spPr>
          <a:xfrm>
            <a:off x="457200" y="2468880"/>
            <a:ext cx="11247120" cy="3840480"/>
          </a:xfrm>
          <a:prstGeom prst="rect">
            <a:avLst/>
          </a:prstGeom>
          <a:noFill/>
        </p:spPr>
        <p:txBody>
          <a:bodyPr wrap="square" anchor="t" lIns="45720" rIns="45720">
            <a:spAutoFit/>
          </a:bodyPr>
          <a:lstStyle/>
          <a:p>
            <a:pPr algn="l">
              <a:spcAft>
                <a:spcPts val="600"/>
              </a:spcAft>
            </a:pPr>
            <a:r>
              <a:rPr sz="2100" b="1" i="0">
                <a:solidFill>
                  <a:srgbClr val="1F1F1F"/>
                </a:solidFill>
                <a:latin typeface="Calibri"/>
              </a:rPr>
              <a:t>Why?</a:t>
            </a:r>
          </a:p>
          <a:p>
            <a:pPr algn="l">
              <a:spcAft>
                <a:spcPts val="600"/>
              </a:spcAft>
            </a:pPr>
            <a:r>
              <a:rPr sz="2100" b="0" i="0">
                <a:solidFill>
                  <a:srgbClr val="1F1F1F"/>
                </a:solidFill>
                <a:latin typeface="Calibri"/>
              </a:rPr>
              <a:t>•  It depends on </a:t>
            </a:r>
            <a:r>
              <a:rPr sz="2100" b="1" i="0">
                <a:solidFill>
                  <a:srgbClr val="1F1F1F"/>
                </a:solidFill>
                <a:latin typeface="Calibri"/>
              </a:rPr>
              <a:t>temperature</a:t>
            </a:r>
            <a:r>
              <a:rPr sz="2100" b="0" i="0">
                <a:solidFill>
                  <a:srgbClr val="1F1F1F"/>
                </a:solidFill>
                <a:latin typeface="Calibri"/>
              </a:rPr>
              <a:t> as well as on the vapour: the same air has RH 49 % at 14 °C and 26 % at 24 °C (Q1).</a:t>
            </a:r>
          </a:p>
          <a:p>
            <a:pPr algn="l">
              <a:spcAft>
                <a:spcPts val="600"/>
              </a:spcAft>
            </a:pPr>
            <a:r>
              <a:rPr sz="2100" b="0" i="0">
                <a:solidFill>
                  <a:srgbClr val="1F1F1F"/>
                </a:solidFill>
                <a:latin typeface="Calibri"/>
              </a:rPr>
              <a:t>•  It changes through the day for no reason connected with moisture: the temperature rises after dawn, so RH falls.</a:t>
            </a:r>
          </a:p>
          <a:p>
            <a:pPr algn="l">
              <a:spcAft>
                <a:spcPts val="600"/>
              </a:spcAft>
            </a:pPr>
            <a:r>
              <a:rPr sz="2100" b="0" i="0">
                <a:solidFill>
                  <a:srgbClr val="1F1F1F"/>
                </a:solidFill>
                <a:latin typeface="Calibri"/>
              </a:rPr>
              <a:t>•  It cannot compare places: the 90 % sample in Q3 held less vapour than three drier-feeling ones.</a:t>
            </a:r>
          </a:p>
          <a:p>
            <a:pPr algn="l">
              <a:spcAft>
                <a:spcPts val="600"/>
              </a:spcAft>
            </a:pPr>
            <a:r>
              <a:rPr sz="2100" b="1" i="0">
                <a:solidFill>
                  <a:srgbClr val="1F1F1F"/>
                </a:solidFill>
                <a:latin typeface="Calibri"/>
              </a:rPr>
              <a:t>Better measures:</a:t>
            </a:r>
            <a:r>
              <a:rPr sz="2100" b="0" i="0">
                <a:solidFill>
                  <a:srgbClr val="1F1F1F"/>
                </a:solidFill>
                <a:latin typeface="Calibri"/>
              </a:rPr>
              <a:t> the </a:t>
            </a:r>
            <a:r>
              <a:rPr sz="2100" b="1" i="0">
                <a:solidFill>
                  <a:srgbClr val="1F1F1F"/>
                </a:solidFill>
                <a:latin typeface="Calibri"/>
              </a:rPr>
              <a:t>mixing ratio</a:t>
            </a:r>
            <a:r>
              <a:rPr sz="2100" b="0" i="0">
                <a:solidFill>
                  <a:srgbClr val="1F1F1F"/>
                </a:solidFill>
                <a:latin typeface="Calibri"/>
              </a:rPr>
              <a:t> and the </a:t>
            </a:r>
            <a:r>
              <a:rPr sz="2100" b="1" i="0">
                <a:solidFill>
                  <a:srgbClr val="1F1F1F"/>
                </a:solidFill>
                <a:latin typeface="Calibri"/>
              </a:rPr>
              <a:t>dew point</a:t>
            </a:r>
            <a:r>
              <a:rPr sz="2100" b="0" i="0">
                <a:solidFill>
                  <a:srgbClr val="1F1F1F"/>
                </a:solidFill>
                <a:latin typeface="Calibri"/>
              </a:rPr>
              <a:t> measure the vapour itself, and do not change when air is heated or cooled.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two slips in Table 1</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24</a:t>
            </a:r>
          </a:p>
        </p:txBody>
      </p:sp>
      <p:sp>
        <p:nvSpPr>
          <p:cNvPr id="6" name="TextBox 5"/>
          <p:cNvSpPr txBox="1"/>
          <p:nvPr/>
        </p:nvSpPr>
        <p:spPr>
          <a:xfrm>
            <a:off x="411480" y="1097280"/>
            <a:ext cx="4572000" cy="502920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At 0 °C the table prints </a:t>
            </a:r>
            <a:r>
              <a:rPr sz="1900" b="1" i="0">
                <a:solidFill>
                  <a:srgbClr val="1F1F1F"/>
                </a:solidFill>
                <a:latin typeface="Calibri"/>
              </a:rPr>
              <a:t>3.189</a:t>
            </a:r>
            <a:r>
              <a:rPr sz="1900" b="0" i="0">
                <a:solidFill>
                  <a:srgbClr val="1F1F1F"/>
                </a:solidFill>
                <a:latin typeface="Calibri"/>
              </a:rPr>
              <a:t> g/kg, which is </a:t>
            </a:r>
            <a:r>
              <a:rPr sz="1900" b="1" i="0">
                <a:solidFill>
                  <a:srgbClr val="1F1F1F"/>
                </a:solidFill>
                <a:latin typeface="Calibri"/>
              </a:rPr>
              <a:t>less</a:t>
            </a:r>
            <a:r>
              <a:rPr sz="1900" b="0" i="0">
                <a:solidFill>
                  <a:srgbClr val="1F1F1F"/>
                </a:solidFill>
                <a:latin typeface="Calibri"/>
              </a:rPr>
              <a:t> than the 3.313 printed at −2 °C: impossible.</a:t>
            </a:r>
          </a:p>
          <a:p>
            <a:pPr algn="l">
              <a:spcAft>
                <a:spcPts val="600"/>
              </a:spcAft>
            </a:pPr>
            <a:r>
              <a:rPr sz="1900" b="0" i="0">
                <a:solidFill>
                  <a:srgbClr val="1F1F1F"/>
                </a:solidFill>
                <a:latin typeface="Calibri"/>
              </a:rPr>
              <a:t>The formula at 995.5 hPa gives </a:t>
            </a:r>
            <a:r>
              <a:rPr sz="1900" b="1" i="0">
                <a:solidFill>
                  <a:srgbClr val="1F1F1F"/>
                </a:solidFill>
                <a:latin typeface="Calibri"/>
              </a:rPr>
              <a:t>3.840</a:t>
            </a:r>
            <a:r>
              <a:rPr sz="1900" b="0" i="0">
                <a:solidFill>
                  <a:srgbClr val="1F1F1F"/>
                </a:solidFill>
                <a:latin typeface="Calibri"/>
              </a:rPr>
              <a:t>.</a:t>
            </a:r>
          </a:p>
          <a:p>
            <a:pPr algn="l">
              <a:spcAft>
                <a:spcPts val="600"/>
              </a:spcAft>
            </a:pPr>
            <a:r>
              <a:rPr sz="1900" b="0" i="0">
                <a:solidFill>
                  <a:srgbClr val="1F1F1F"/>
                </a:solidFill>
                <a:latin typeface="Calibri"/>
              </a:rPr>
              <a:t>At −8 °C: printed </a:t>
            </a:r>
            <a:r>
              <a:rPr sz="1900" b="1" i="0">
                <a:solidFill>
                  <a:srgbClr val="1F1F1F"/>
                </a:solidFill>
                <a:latin typeface="Calibri"/>
              </a:rPr>
              <a:t>2.009</a:t>
            </a:r>
            <a:r>
              <a:rPr sz="1900" b="0" i="0">
                <a:solidFill>
                  <a:srgbClr val="1F1F1F"/>
                </a:solidFill>
                <a:latin typeface="Calibri"/>
              </a:rPr>
              <a:t>, should be </a:t>
            </a:r>
            <a:r>
              <a:rPr sz="1900" b="1" i="0">
                <a:solidFill>
                  <a:srgbClr val="1F1F1F"/>
                </a:solidFill>
                <a:latin typeface="Calibri"/>
              </a:rPr>
              <a:t>2.099</a:t>
            </a:r>
            <a:r>
              <a:rPr sz="1900" b="0" i="0">
                <a:solidFill>
                  <a:srgbClr val="1F1F1F"/>
                </a:solidFill>
                <a:latin typeface="Calibri"/>
              </a:rPr>
              <a:t>.</a:t>
            </a:r>
          </a:p>
          <a:p>
            <a:pPr algn="l">
              <a:spcAft>
                <a:spcPts val="600"/>
              </a:spcAft>
            </a:pPr>
            <a:r>
              <a:rPr sz="1900" b="0" i="0">
                <a:solidFill>
                  <a:srgbClr val="1F1F1F"/>
                </a:solidFill>
                <a:latin typeface="Calibri"/>
              </a:rPr>
              <a:t>All other rows fit the formula to better than 0.1 %.</a:t>
            </a:r>
          </a:p>
          <a:p>
            <a:pPr algn="l">
              <a:spcAft>
                <a:spcPts val="600"/>
              </a:spcAft>
            </a:pPr>
            <a:r>
              <a:rPr sz="1900" b="0" i="0">
                <a:solidFill>
                  <a:srgbClr val="1F1F1F"/>
                </a:solidFill>
                <a:latin typeface="Calibri"/>
              </a:rPr>
              <a:t>No question on the sheet uses these two rows (Q2 uses the corrected 0 °C value).</a:t>
            </a:r>
          </a:p>
        </p:txBody>
      </p:sp>
      <p:pic>
        <p:nvPicPr>
          <p:cNvPr id="7" name="Picture 6" descr="ch02_08.png"/>
          <p:cNvPicPr>
            <a:picLocks noChangeAspect="1"/>
          </p:cNvPicPr>
          <p:nvPr/>
        </p:nvPicPr>
        <p:blipFill>
          <a:blip r:embed="rId3"/>
          <a:stretch>
            <a:fillRect/>
          </a:stretch>
        </p:blipFill>
        <p:spPr>
          <a:xfrm>
            <a:off x="5120640" y="2158467"/>
            <a:ext cx="6675120" cy="299826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A: try it yourself</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25</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6B6B6B"/>
                </a:solidFill>
                <a:latin typeface="Calibri"/>
              </a:rPr>
              <a:t>Practice Set A</a:t>
            </a:r>
          </a:p>
          <a:p>
            <a:pPr algn="l">
              <a:spcAft>
                <a:spcPts val="1200"/>
              </a:spcAft>
            </a:pPr>
            <a:r>
              <a:rPr sz="2400" b="1" i="0">
                <a:solidFill>
                  <a:srgbClr val="1F1F1F"/>
                </a:solidFill>
                <a:latin typeface="Calibri"/>
              </a:rPr>
              <a:t>A1.</a:t>
            </a:r>
            <a:r>
              <a:rPr sz="2400" b="0" i="0">
                <a:solidFill>
                  <a:srgbClr val="1F1F1F"/>
                </a:solidFill>
                <a:latin typeface="Calibri"/>
              </a:rPr>
              <a:t>  Air at 28 °C has a mixing ratio of 15 g/kg. Relative humidity?</a:t>
            </a:r>
          </a:p>
          <a:p>
            <a:pPr algn="l">
              <a:spcAft>
                <a:spcPts val="1200"/>
              </a:spcAft>
            </a:pPr>
            <a:r>
              <a:rPr sz="2400" b="1" i="0">
                <a:solidFill>
                  <a:srgbClr val="1F1F1F"/>
                </a:solidFill>
                <a:latin typeface="Calibri"/>
              </a:rPr>
              <a:t>A2.</a:t>
            </a:r>
            <a:r>
              <a:rPr sz="2400" b="0" i="0">
                <a:solidFill>
                  <a:srgbClr val="1F1F1F"/>
                </a:solidFill>
                <a:latin typeface="Calibri"/>
              </a:rPr>
              <a:t>  Air at 10 °C, RH 70 %. How much vapour per kilogram?</a:t>
            </a:r>
          </a:p>
          <a:p>
            <a:pPr algn="l">
              <a:spcAft>
                <a:spcPts val="1200"/>
              </a:spcAft>
            </a:pPr>
            <a:r>
              <a:rPr sz="2400" b="1" i="0">
                <a:solidFill>
                  <a:srgbClr val="1F1F1F"/>
                </a:solidFill>
                <a:latin typeface="Calibri"/>
              </a:rPr>
              <a:t>A3.</a:t>
            </a:r>
            <a:r>
              <a:rPr sz="2400" b="0" i="0">
                <a:solidFill>
                  <a:srgbClr val="1F1F1F"/>
                </a:solidFill>
                <a:latin typeface="Calibri"/>
              </a:rPr>
              <a:t>  P: 32 °C, RH 25 %.  Q: 20 °C, RH 85 %.  Which holds more vapour, and by how much?</a:t>
            </a:r>
          </a:p>
          <a:p>
            <a:pPr algn="l">
              <a:spcAft>
                <a:spcPts val="1200"/>
              </a:spcAft>
            </a:pPr>
            <a:r>
              <a:rPr sz="2400" b="1" i="0">
                <a:solidFill>
                  <a:srgbClr val="1F1F1F"/>
                </a:solidFill>
                <a:latin typeface="Calibri"/>
              </a:rPr>
              <a:t>A4.</a:t>
            </a:r>
            <a:r>
              <a:rPr sz="2400" b="0" i="0">
                <a:solidFill>
                  <a:srgbClr val="1F1F1F"/>
                </a:solidFill>
                <a:latin typeface="Calibri"/>
              </a:rPr>
              <a:t>  Air at 0 °C, RH 90 %, heated to 20 °C with no water added. New RH?</a:t>
            </a:r>
          </a:p>
          <a:p>
            <a:pPr algn="l">
              <a:spcAft>
                <a:spcPts val="1200"/>
              </a:spcAft>
            </a:pPr>
            <a:r>
              <a:rPr sz="2400" b="1" i="0">
                <a:solidFill>
                  <a:srgbClr val="1F1F1F"/>
                </a:solidFill>
                <a:latin typeface="Calibri"/>
              </a:rPr>
              <a:t>A5.</a:t>
            </a:r>
            <a:r>
              <a:rPr sz="2400" b="0" i="0">
                <a:solidFill>
                  <a:srgbClr val="1F1F1F"/>
                </a:solidFill>
                <a:latin typeface="Calibri"/>
              </a:rPr>
              <a:t>  Air at 24 °C, RH 50 %, cooled to 14 °C (no condensation). New RH?</a:t>
            </a:r>
          </a:p>
          <a:p>
            <a:pPr algn="l">
              <a:spcAft>
                <a:spcPts val="1200"/>
              </a:spcAft>
            </a:pPr>
            <a:r>
              <a:rPr sz="2400" b="1" i="0">
                <a:solidFill>
                  <a:srgbClr val="1F1F1F"/>
                </a:solidFill>
                <a:latin typeface="Calibri"/>
              </a:rPr>
              <a:t>A6.</a:t>
            </a:r>
            <a:r>
              <a:rPr sz="2400" b="0" i="0">
                <a:solidFill>
                  <a:srgbClr val="1F1F1F"/>
                </a:solidFill>
                <a:latin typeface="Calibri"/>
              </a:rPr>
              <a:t>  Interpolate w</a:t>
            </a:r>
            <a:r>
              <a:rPr sz="2400" b="0" i="0" baseline="-25000">
                <a:solidFill>
                  <a:srgbClr val="1F1F1F"/>
                </a:solidFill>
                <a:latin typeface="Calibri"/>
              </a:rPr>
              <a:t>s</a:t>
            </a:r>
            <a:r>
              <a:rPr sz="2400" b="0" i="0">
                <a:solidFill>
                  <a:srgbClr val="1F1F1F"/>
                </a:solidFill>
                <a:latin typeface="Calibri"/>
              </a:rPr>
              <a:t> at 31 °C, then the mixing ratio of 31 °C air at RH 55 %.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A: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26</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007F5F"/>
                </a:solidFill>
                <a:latin typeface="Calibri"/>
              </a:rPr>
              <a:t>Answers</a:t>
            </a:r>
          </a:p>
          <a:p>
            <a:pPr algn="l">
              <a:spcAft>
                <a:spcPts val="1200"/>
              </a:spcAft>
            </a:pPr>
            <a:r>
              <a:rPr sz="2400" b="1" i="0">
                <a:solidFill>
                  <a:srgbClr val="1F1F1F"/>
                </a:solidFill>
                <a:latin typeface="Calibri"/>
              </a:rPr>
              <a:t>A1.</a:t>
            </a:r>
            <a:r>
              <a:rPr sz="2400" b="0" i="0">
                <a:solidFill>
                  <a:srgbClr val="1F1F1F"/>
                </a:solidFill>
                <a:latin typeface="Calibri"/>
              </a:rPr>
              <a:t>  w</a:t>
            </a:r>
            <a:r>
              <a:rPr sz="2400" b="0" i="0" baseline="-25000">
                <a:solidFill>
                  <a:srgbClr val="1F1F1F"/>
                </a:solidFill>
                <a:latin typeface="Calibri"/>
              </a:rPr>
              <a:t>s</a:t>
            </a:r>
            <a:r>
              <a:rPr sz="2400" b="0" i="0">
                <a:solidFill>
                  <a:srgbClr val="1F1F1F"/>
                </a:solidFill>
                <a:latin typeface="Calibri"/>
              </a:rPr>
              <a:t>(28) = 24.557 → RH = 15/24.557 = </a:t>
            </a:r>
            <a:r>
              <a:rPr sz="2400" b="1" i="0">
                <a:solidFill>
                  <a:srgbClr val="007F5F"/>
                </a:solidFill>
                <a:latin typeface="Calibri"/>
              </a:rPr>
              <a:t>61 %</a:t>
            </a:r>
            <a:r>
              <a:rPr sz="2400" b="0" i="0">
                <a:solidFill>
                  <a:srgbClr val="1F1F1F"/>
                </a:solidFill>
                <a:latin typeface="Calibri"/>
              </a:rPr>
              <a:t>.</a:t>
            </a:r>
          </a:p>
          <a:p>
            <a:pPr algn="l">
              <a:spcAft>
                <a:spcPts val="1200"/>
              </a:spcAft>
            </a:pPr>
            <a:r>
              <a:rPr sz="2400" b="1" i="0">
                <a:solidFill>
                  <a:srgbClr val="1F1F1F"/>
                </a:solidFill>
                <a:latin typeface="Calibri"/>
              </a:rPr>
              <a:t>A2.</a:t>
            </a:r>
            <a:r>
              <a:rPr sz="2400" b="0" i="0">
                <a:solidFill>
                  <a:srgbClr val="1F1F1F"/>
                </a:solidFill>
                <a:latin typeface="Calibri"/>
              </a:rPr>
              <a:t>  w</a:t>
            </a:r>
            <a:r>
              <a:rPr sz="2400" b="0" i="0" baseline="-25000">
                <a:solidFill>
                  <a:srgbClr val="1F1F1F"/>
                </a:solidFill>
                <a:latin typeface="Calibri"/>
              </a:rPr>
              <a:t>s</a:t>
            </a:r>
            <a:r>
              <a:rPr sz="2400" b="0" i="0">
                <a:solidFill>
                  <a:srgbClr val="1F1F1F"/>
                </a:solidFill>
                <a:latin typeface="Calibri"/>
              </a:rPr>
              <a:t>(10) = 7.762 → w = 0.70 × 7.762 = </a:t>
            </a:r>
            <a:r>
              <a:rPr sz="2400" b="1" i="0">
                <a:solidFill>
                  <a:srgbClr val="007F5F"/>
                </a:solidFill>
                <a:latin typeface="Calibri"/>
              </a:rPr>
              <a:t>5.43 g/kg</a:t>
            </a:r>
            <a:r>
              <a:rPr sz="2400" b="0" i="0">
                <a:solidFill>
                  <a:srgbClr val="1F1F1F"/>
                </a:solidFill>
                <a:latin typeface="Calibri"/>
              </a:rPr>
              <a:t>.</a:t>
            </a:r>
          </a:p>
          <a:p>
            <a:pPr algn="l">
              <a:spcAft>
                <a:spcPts val="1200"/>
              </a:spcAft>
            </a:pPr>
            <a:r>
              <a:rPr sz="2400" b="1" i="0">
                <a:solidFill>
                  <a:srgbClr val="1F1F1F"/>
                </a:solidFill>
                <a:latin typeface="Calibri"/>
              </a:rPr>
              <a:t>A3.</a:t>
            </a:r>
            <a:r>
              <a:rPr sz="2400" b="0" i="0">
                <a:solidFill>
                  <a:srgbClr val="1F1F1F"/>
                </a:solidFill>
                <a:latin typeface="Calibri"/>
              </a:rPr>
              <a:t>  P: 31.213 × 0.25 = 7.80 g/kg.  Q: 14.956 × 0.85 = 12.71 g/kg.  </a:t>
            </a:r>
            <a:r>
              <a:rPr sz="2400" b="1" i="0">
                <a:solidFill>
                  <a:srgbClr val="007F5F"/>
                </a:solidFill>
                <a:latin typeface="Calibri"/>
              </a:rPr>
              <a:t>Q holds 4.91 g/kg more</a:t>
            </a:r>
            <a:r>
              <a:rPr sz="2400" b="0" i="0">
                <a:solidFill>
                  <a:srgbClr val="1F1F1F"/>
                </a:solidFill>
                <a:latin typeface="Calibri"/>
              </a:rPr>
              <a:t>, though it is 12 °C cooler.</a:t>
            </a:r>
          </a:p>
          <a:p>
            <a:pPr algn="l">
              <a:spcAft>
                <a:spcPts val="1200"/>
              </a:spcAft>
            </a:pPr>
            <a:r>
              <a:rPr sz="2400" b="1" i="0">
                <a:solidFill>
                  <a:srgbClr val="1F1F1F"/>
                </a:solidFill>
                <a:latin typeface="Calibri"/>
              </a:rPr>
              <a:t>A4.</a:t>
            </a:r>
            <a:r>
              <a:rPr sz="2400" b="0" i="0">
                <a:solidFill>
                  <a:srgbClr val="1F1F1F"/>
                </a:solidFill>
                <a:latin typeface="Calibri"/>
              </a:rPr>
              <a:t>  w = 0.90 × 3.84 = 3.456; w</a:t>
            </a:r>
            <a:r>
              <a:rPr sz="2400" b="0" i="0" baseline="-25000">
                <a:solidFill>
                  <a:srgbClr val="1F1F1F"/>
                </a:solidFill>
                <a:latin typeface="Calibri"/>
              </a:rPr>
              <a:t>s</a:t>
            </a:r>
            <a:r>
              <a:rPr sz="2400" b="0" i="0">
                <a:solidFill>
                  <a:srgbClr val="1F1F1F"/>
                </a:solidFill>
                <a:latin typeface="Calibri"/>
              </a:rPr>
              <a:t>(20) = 14.956 → RH = </a:t>
            </a:r>
            <a:r>
              <a:rPr sz="2400" b="1" i="0">
                <a:solidFill>
                  <a:srgbClr val="007F5F"/>
                </a:solidFill>
                <a:latin typeface="Calibri"/>
              </a:rPr>
              <a:t>23 %</a:t>
            </a:r>
            <a:r>
              <a:rPr sz="2400" b="0" i="0">
                <a:solidFill>
                  <a:srgbClr val="1F1F1F"/>
                </a:solidFill>
                <a:latin typeface="Calibri"/>
              </a:rPr>
              <a:t>.</a:t>
            </a:r>
          </a:p>
          <a:p>
            <a:pPr algn="l">
              <a:spcAft>
                <a:spcPts val="1200"/>
              </a:spcAft>
            </a:pPr>
            <a:r>
              <a:rPr sz="2400" b="1" i="0">
                <a:solidFill>
                  <a:srgbClr val="1F1F1F"/>
                </a:solidFill>
                <a:latin typeface="Calibri"/>
              </a:rPr>
              <a:t>A5.</a:t>
            </a:r>
            <a:r>
              <a:rPr sz="2400" b="0" i="0">
                <a:solidFill>
                  <a:srgbClr val="1F1F1F"/>
                </a:solidFill>
                <a:latin typeface="Calibri"/>
              </a:rPr>
              <a:t>  w = 0.50 × 19.21 = 9.605; w</a:t>
            </a:r>
            <a:r>
              <a:rPr sz="2400" b="0" i="0" baseline="-25000">
                <a:solidFill>
                  <a:srgbClr val="1F1F1F"/>
                </a:solidFill>
                <a:latin typeface="Calibri"/>
              </a:rPr>
              <a:t>s</a:t>
            </a:r>
            <a:r>
              <a:rPr sz="2400" b="0" i="0">
                <a:solidFill>
                  <a:srgbClr val="1F1F1F"/>
                </a:solidFill>
                <a:latin typeface="Calibri"/>
              </a:rPr>
              <a:t>(14) = 10.14 → RH = </a:t>
            </a:r>
            <a:r>
              <a:rPr sz="2400" b="1" i="0">
                <a:solidFill>
                  <a:srgbClr val="007F5F"/>
                </a:solidFill>
                <a:latin typeface="Calibri"/>
              </a:rPr>
              <a:t>94.7 %</a:t>
            </a:r>
            <a:r>
              <a:rPr sz="2400" b="0" i="0">
                <a:solidFill>
                  <a:srgbClr val="1F1F1F"/>
                </a:solidFill>
                <a:latin typeface="Calibri"/>
              </a:rPr>
              <a:t>: nearly saturated.</a:t>
            </a:r>
          </a:p>
          <a:p>
            <a:pPr algn="l">
              <a:spcAft>
                <a:spcPts val="1200"/>
              </a:spcAft>
            </a:pPr>
            <a:r>
              <a:rPr sz="2400" b="1" i="0">
                <a:solidFill>
                  <a:srgbClr val="1F1F1F"/>
                </a:solidFill>
                <a:latin typeface="Calibri"/>
              </a:rPr>
              <a:t>A6.</a:t>
            </a:r>
            <a:r>
              <a:rPr sz="2400" b="0" i="0">
                <a:solidFill>
                  <a:srgbClr val="1F1F1F"/>
                </a:solidFill>
                <a:latin typeface="Calibri"/>
              </a:rPr>
              <a:t>  w</a:t>
            </a:r>
            <a:r>
              <a:rPr sz="2400" b="0" i="0" baseline="-25000">
                <a:solidFill>
                  <a:srgbClr val="1F1F1F"/>
                </a:solidFill>
                <a:latin typeface="Calibri"/>
              </a:rPr>
              <a:t>s</a:t>
            </a:r>
            <a:r>
              <a:rPr sz="2400" b="0" i="0">
                <a:solidFill>
                  <a:srgbClr val="1F1F1F"/>
                </a:solidFill>
                <a:latin typeface="Calibri"/>
              </a:rPr>
              <a:t>(31) ≈ (27.694 + 31.213)/2 = 29.45 → w = 0.55 × 29.45 = </a:t>
            </a:r>
            <a:r>
              <a:rPr sz="2400" b="1" i="0">
                <a:solidFill>
                  <a:srgbClr val="007F5F"/>
                </a:solidFill>
                <a:latin typeface="Calibri"/>
              </a:rPr>
              <a:t>16.2 g/kg</a:t>
            </a:r>
            <a:r>
              <a:rPr sz="2400" b="0" i="0">
                <a:solidFill>
                  <a:srgbClr val="1F1F1F"/>
                </a:solidFill>
                <a:latin typeface="Calibri"/>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dew point: cool the glass until it is full</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27</a:t>
            </a:r>
          </a:p>
        </p:txBody>
      </p:sp>
      <p:sp>
        <p:nvSpPr>
          <p:cNvPr id="6" name="Rounded Rectangle 5"/>
          <p:cNvSpPr/>
          <p:nvPr/>
        </p:nvSpPr>
        <p:spPr>
          <a:xfrm>
            <a:off x="411480" y="1097280"/>
            <a:ext cx="5852160" cy="173736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0072B2"/>
                </a:solidFill>
                <a:latin typeface="Calibri"/>
              </a:rPr>
              <a:t>Definition</a:t>
            </a:r>
          </a:p>
          <a:p>
            <a:pPr algn="l">
              <a:spcAft>
                <a:spcPts val="300"/>
              </a:spcAft>
            </a:pPr>
            <a:r>
              <a:rPr sz="1800" b="0" i="0">
                <a:solidFill>
                  <a:srgbClr val="1F1F1F"/>
                </a:solidFill>
                <a:latin typeface="Calibri"/>
              </a:rPr>
              <a:t>The </a:t>
            </a:r>
            <a:r>
              <a:rPr sz="1800" b="1" i="0">
                <a:solidFill>
                  <a:srgbClr val="1F1F1F"/>
                </a:solidFill>
                <a:latin typeface="Calibri"/>
              </a:rPr>
              <a:t>dew point</a:t>
            </a:r>
            <a:r>
              <a:rPr sz="1800" b="0" i="0">
                <a:solidFill>
                  <a:srgbClr val="1F1F1F"/>
                </a:solidFill>
                <a:latin typeface="Calibri"/>
              </a:rPr>
              <a:t> T</a:t>
            </a:r>
            <a:r>
              <a:rPr sz="1800" b="0" i="0" baseline="-25000">
                <a:solidFill>
                  <a:srgbClr val="1F1F1F"/>
                </a:solidFill>
                <a:latin typeface="Calibri"/>
              </a:rPr>
              <a:t>d</a:t>
            </a:r>
            <a:r>
              <a:rPr sz="1800" b="0" i="0">
                <a:solidFill>
                  <a:srgbClr val="1F1F1F"/>
                </a:solidFill>
                <a:latin typeface="Calibri"/>
              </a:rPr>
              <a:t> is the temperature to which an air sample must be cooled, without adding or removing water, to reach saturation:  w</a:t>
            </a:r>
            <a:r>
              <a:rPr sz="1800" b="0" i="0" baseline="-25000">
                <a:solidFill>
                  <a:srgbClr val="1F1F1F"/>
                </a:solidFill>
                <a:latin typeface="Calibri"/>
              </a:rPr>
              <a:t>s</a:t>
            </a:r>
            <a:r>
              <a:rPr sz="1800" b="0" i="0">
                <a:solidFill>
                  <a:srgbClr val="1F1F1F"/>
                </a:solidFill>
                <a:latin typeface="Calibri"/>
              </a:rPr>
              <a:t>(T</a:t>
            </a:r>
            <a:r>
              <a:rPr sz="1800" b="0" i="0" baseline="-25000">
                <a:solidFill>
                  <a:srgbClr val="1F1F1F"/>
                </a:solidFill>
                <a:latin typeface="Calibri"/>
              </a:rPr>
              <a:t>d</a:t>
            </a:r>
            <a:r>
              <a:rPr sz="1800" b="0" i="0">
                <a:solidFill>
                  <a:srgbClr val="1F1F1F"/>
                </a:solidFill>
                <a:latin typeface="Calibri"/>
              </a:rPr>
              <a:t>) = w.</a:t>
            </a:r>
          </a:p>
        </p:txBody>
      </p:sp>
      <p:sp>
        <p:nvSpPr>
          <p:cNvPr id="7" name="TextBox 6"/>
          <p:cNvSpPr txBox="1"/>
          <p:nvPr/>
        </p:nvSpPr>
        <p:spPr>
          <a:xfrm>
            <a:off x="457200" y="3063240"/>
            <a:ext cx="5760720" cy="3200400"/>
          </a:xfrm>
          <a:prstGeom prst="rect">
            <a:avLst/>
          </a:prstGeom>
          <a:noFill/>
        </p:spPr>
        <p:txBody>
          <a:bodyPr wrap="square" anchor="t" lIns="45720" rIns="45720">
            <a:spAutoFit/>
          </a:bodyPr>
          <a:lstStyle/>
          <a:p>
            <a:pPr algn="l">
              <a:spcAft>
                <a:spcPts val="600"/>
              </a:spcAft>
            </a:pPr>
            <a:r>
              <a:rPr sz="1900" b="1" i="0">
                <a:solidFill>
                  <a:srgbClr val="1F1F1F"/>
                </a:solidFill>
                <a:latin typeface="Calibri"/>
              </a:rPr>
              <a:t>Three ways to find it</a:t>
            </a:r>
            <a:r>
              <a:rPr sz="1900" b="0" i="0">
                <a:solidFill>
                  <a:srgbClr val="1F1F1F"/>
                </a:solidFill>
                <a:latin typeface="Calibri"/>
              </a:rPr>
              <a:t> (all agree):</a:t>
            </a:r>
          </a:p>
          <a:p>
            <a:pPr algn="l">
              <a:spcAft>
                <a:spcPts val="600"/>
              </a:spcAft>
            </a:pPr>
            <a:r>
              <a:rPr sz="1900" b="0" i="0">
                <a:solidFill>
                  <a:srgbClr val="1F1F1F"/>
                </a:solidFill>
                <a:latin typeface="Calibri"/>
              </a:rPr>
              <a:t>•  </a:t>
            </a:r>
            <a:r>
              <a:rPr sz="1900" b="1" i="0">
                <a:solidFill>
                  <a:srgbClr val="1F1F1F"/>
                </a:solidFill>
                <a:latin typeface="Calibri"/>
              </a:rPr>
              <a:t>A. Graph</a:t>
            </a:r>
            <a:r>
              <a:rPr sz="1900" b="0" i="0">
                <a:solidFill>
                  <a:srgbClr val="1F1F1F"/>
                </a:solidFill>
                <a:latin typeface="Calibri"/>
              </a:rPr>
              <a:t> (Figure 3): move left from the point until you meet the curve; read down.</a:t>
            </a:r>
          </a:p>
          <a:p>
            <a:pPr algn="l">
              <a:spcAft>
                <a:spcPts val="600"/>
              </a:spcAft>
            </a:pPr>
            <a:r>
              <a:rPr sz="1900" b="0" i="0">
                <a:solidFill>
                  <a:srgbClr val="1F1F1F"/>
                </a:solidFill>
                <a:latin typeface="Calibri"/>
              </a:rPr>
              <a:t>•  </a:t>
            </a:r>
            <a:r>
              <a:rPr sz="1900" b="1" i="0">
                <a:solidFill>
                  <a:srgbClr val="1F1F1F"/>
                </a:solidFill>
                <a:latin typeface="Calibri"/>
              </a:rPr>
              <a:t>B. Table 1 backwards:</a:t>
            </a:r>
            <a:r>
              <a:rPr sz="1900" b="0" i="0">
                <a:solidFill>
                  <a:srgbClr val="1F1F1F"/>
                </a:solidFill>
                <a:latin typeface="Calibri"/>
              </a:rPr>
              <a:t> bracket w between two rows; interpolate for T.</a:t>
            </a:r>
          </a:p>
          <a:p>
            <a:pPr algn="l">
              <a:spcAft>
                <a:spcPts val="600"/>
              </a:spcAft>
            </a:pPr>
            <a:r>
              <a:rPr sz="1900" b="0" i="0">
                <a:solidFill>
                  <a:srgbClr val="1F1F1F"/>
                </a:solidFill>
                <a:latin typeface="Calibri"/>
              </a:rPr>
              <a:t>•  </a:t>
            </a:r>
            <a:r>
              <a:rPr sz="1900" b="1" i="0">
                <a:solidFill>
                  <a:srgbClr val="1F1F1F"/>
                </a:solidFill>
                <a:latin typeface="Calibri"/>
              </a:rPr>
              <a:t>C. Formula:</a:t>
            </a:r>
            <a:r>
              <a:rPr sz="1900" b="0" i="0">
                <a:solidFill>
                  <a:srgbClr val="1F1F1F"/>
                </a:solidFill>
                <a:latin typeface="Calibri"/>
              </a:rPr>
              <a:t> e = wp/(622 + w), then invert e</a:t>
            </a:r>
            <a:r>
              <a:rPr sz="1900" b="0" i="0" baseline="-25000">
                <a:solidFill>
                  <a:srgbClr val="1F1F1F"/>
                </a:solidFill>
                <a:latin typeface="Calibri"/>
              </a:rPr>
              <a:t>s</a:t>
            </a:r>
            <a:r>
              <a:rPr sz="1900" b="0" i="0">
                <a:solidFill>
                  <a:srgbClr val="1F1F1F"/>
                </a:solidFill>
                <a:latin typeface="Calibri"/>
              </a:rPr>
              <a:t>(T).</a:t>
            </a:r>
          </a:p>
        </p:txBody>
      </p:sp>
      <p:pic>
        <p:nvPicPr>
          <p:cNvPr id="8" name="Picture 7" descr="ch03_04.png"/>
          <p:cNvPicPr>
            <a:picLocks noChangeAspect="1"/>
          </p:cNvPicPr>
          <p:nvPr/>
        </p:nvPicPr>
        <p:blipFill>
          <a:blip r:embed="rId3"/>
          <a:stretch>
            <a:fillRect/>
          </a:stretch>
        </p:blipFill>
        <p:spPr>
          <a:xfrm>
            <a:off x="6492240" y="1982187"/>
            <a:ext cx="5303520" cy="335082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Q5: dew point of 20 °C air with 10 g/kg</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28</a:t>
            </a:r>
          </a:p>
        </p:txBody>
      </p:sp>
      <p:sp>
        <p:nvSpPr>
          <p:cNvPr id="6" name="Rounded Rectangle 5"/>
          <p:cNvSpPr/>
          <p:nvPr/>
        </p:nvSpPr>
        <p:spPr>
          <a:xfrm>
            <a:off x="411480" y="1097280"/>
            <a:ext cx="5760720" cy="301752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Consider a sample of air with a temperature of 20 °C and a mixing ratio of 10 g/kg. Plot this point on the graph below (Figure 3). Demonstrate on your graph to which temperature the sample needs to cool before it will reach saturation. This is the dew point temperature.</a:t>
            </a:r>
          </a:p>
        </p:txBody>
      </p:sp>
      <p:sp>
        <p:nvSpPr>
          <p:cNvPr id="7" name="TextBox 6"/>
          <p:cNvSpPr txBox="1"/>
          <p:nvPr/>
        </p:nvSpPr>
        <p:spPr>
          <a:xfrm>
            <a:off x="457200" y="4389120"/>
            <a:ext cx="5669280" cy="20116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Cooling moves the point </a:t>
            </a:r>
            <a:r>
              <a:rPr sz="1900" b="1" i="0">
                <a:solidFill>
                  <a:srgbClr val="1F1F1F"/>
                </a:solidFill>
                <a:latin typeface="Calibri"/>
              </a:rPr>
              <a:t>horizontally to the left</a:t>
            </a:r>
            <a:r>
              <a:rPr sz="1900" b="0" i="0">
                <a:solidFill>
                  <a:srgbClr val="1F1F1F"/>
                </a:solidFill>
                <a:latin typeface="Calibri"/>
              </a:rPr>
              <a:t>: only the temperature changes.</a:t>
            </a:r>
          </a:p>
        </p:txBody>
      </p:sp>
      <p:pic>
        <p:nvPicPr>
          <p:cNvPr id="8" name="Picture 7" descr="q5_s1.png"/>
          <p:cNvPicPr>
            <a:picLocks noChangeAspect="1"/>
          </p:cNvPicPr>
          <p:nvPr/>
        </p:nvPicPr>
        <p:blipFill>
          <a:blip r:embed="rId2"/>
          <a:stretch>
            <a:fillRect/>
          </a:stretch>
        </p:blipFill>
        <p:spPr>
          <a:xfrm>
            <a:off x="6400800" y="1713751"/>
            <a:ext cx="5394960" cy="3887697"/>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Q5: step 1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29</a:t>
            </a:r>
          </a:p>
        </p:txBody>
      </p:sp>
      <p:sp>
        <p:nvSpPr>
          <p:cNvPr id="6" name="Rounded Rectangle 5"/>
          <p:cNvSpPr/>
          <p:nvPr/>
        </p:nvSpPr>
        <p:spPr>
          <a:xfrm>
            <a:off x="365760" y="1051560"/>
            <a:ext cx="4663440" cy="753364"/>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Plot the point:</a:t>
            </a:r>
            <a:r>
              <a:rPr sz="1900" b="0" i="0">
                <a:solidFill>
                  <a:srgbClr val="1F1F1F"/>
                </a:solidFill>
                <a:latin typeface="Calibri"/>
              </a:rPr>
              <a:t> 20 °C along the bottom, 10 g/kg up the side.</a:t>
            </a:r>
          </a:p>
        </p:txBody>
      </p:sp>
      <p:sp>
        <p:nvSpPr>
          <p:cNvPr id="7" name="Oval 6"/>
          <p:cNvSpPr/>
          <p:nvPr/>
        </p:nvSpPr>
        <p:spPr>
          <a:xfrm>
            <a:off x="457200" y="1254506"/>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q5_s1.png"/>
          <p:cNvPicPr>
            <a:picLocks noChangeAspect="1"/>
          </p:cNvPicPr>
          <p:nvPr/>
        </p:nvPicPr>
        <p:blipFill>
          <a:blip r:embed="rId3"/>
          <a:stretch>
            <a:fillRect/>
          </a:stretch>
        </p:blipFill>
        <p:spPr>
          <a:xfrm>
            <a:off x="5257800" y="1251713"/>
            <a:ext cx="6613855" cy="4766053"/>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Q5: step 2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30</a:t>
            </a:r>
          </a:p>
        </p:txBody>
      </p:sp>
      <p:sp>
        <p:nvSpPr>
          <p:cNvPr id="6" name="Rounded Rectangle 5"/>
          <p:cNvSpPr/>
          <p:nvPr/>
        </p:nvSpPr>
        <p:spPr>
          <a:xfrm>
            <a:off x="365760" y="1051560"/>
            <a:ext cx="4663440" cy="753364"/>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Plot the point:</a:t>
            </a:r>
            <a:r>
              <a:rPr sz="1900" b="0" i="0">
                <a:solidFill>
                  <a:srgbClr val="6B6B6B"/>
                </a:solidFill>
                <a:latin typeface="Calibri"/>
              </a:rPr>
              <a:t> 20 °C along the bottom, 10 g/kg up the side.</a:t>
            </a:r>
          </a:p>
        </p:txBody>
      </p:sp>
      <p:sp>
        <p:nvSpPr>
          <p:cNvPr id="7" name="Oval 6"/>
          <p:cNvSpPr/>
          <p:nvPr/>
        </p:nvSpPr>
        <p:spPr>
          <a:xfrm>
            <a:off x="457200" y="125450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1896364"/>
            <a:ext cx="4663440" cy="1047749"/>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Cool it:</a:t>
            </a:r>
            <a:r>
              <a:rPr sz="1900" b="0" i="0">
                <a:solidFill>
                  <a:srgbClr val="1F1F1F"/>
                </a:solidFill>
                <a:latin typeface="Calibri"/>
              </a:rPr>
              <a:t> the vapour does not change, so the point moves </a:t>
            </a:r>
            <a:r>
              <a:rPr sz="1900" b="1" i="0">
                <a:solidFill>
                  <a:srgbClr val="1F1F1F"/>
                </a:solidFill>
                <a:latin typeface="Calibri"/>
              </a:rPr>
              <a:t>left</a:t>
            </a:r>
            <a:r>
              <a:rPr sz="1900" b="0" i="0">
                <a:solidFill>
                  <a:srgbClr val="1F1F1F"/>
                </a:solidFill>
                <a:latin typeface="Calibri"/>
              </a:rPr>
              <a:t> along the line at 10 g/kg.</a:t>
            </a:r>
          </a:p>
        </p:txBody>
      </p:sp>
      <p:sp>
        <p:nvSpPr>
          <p:cNvPr id="9" name="Oval 8"/>
          <p:cNvSpPr/>
          <p:nvPr/>
        </p:nvSpPr>
        <p:spPr>
          <a:xfrm>
            <a:off x="457200" y="2246503"/>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q5_s2.png"/>
          <p:cNvPicPr>
            <a:picLocks noChangeAspect="1"/>
          </p:cNvPicPr>
          <p:nvPr/>
        </p:nvPicPr>
        <p:blipFill>
          <a:blip r:embed="rId3"/>
          <a:stretch>
            <a:fillRect/>
          </a:stretch>
        </p:blipFill>
        <p:spPr>
          <a:xfrm>
            <a:off x="5257800" y="1251713"/>
            <a:ext cx="6613855" cy="4766053"/>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Q5: step 3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31</a:t>
            </a:r>
          </a:p>
        </p:txBody>
      </p:sp>
      <p:sp>
        <p:nvSpPr>
          <p:cNvPr id="6" name="Rounded Rectangle 5"/>
          <p:cNvSpPr/>
          <p:nvPr/>
        </p:nvSpPr>
        <p:spPr>
          <a:xfrm>
            <a:off x="365760" y="1051560"/>
            <a:ext cx="4663440" cy="753364"/>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Plot the point:</a:t>
            </a:r>
            <a:r>
              <a:rPr sz="1900" b="0" i="0">
                <a:solidFill>
                  <a:srgbClr val="6B6B6B"/>
                </a:solidFill>
                <a:latin typeface="Calibri"/>
              </a:rPr>
              <a:t> 20 °C along the bottom, 10 g/kg up the side.</a:t>
            </a:r>
          </a:p>
        </p:txBody>
      </p:sp>
      <p:sp>
        <p:nvSpPr>
          <p:cNvPr id="7" name="Oval 6"/>
          <p:cNvSpPr/>
          <p:nvPr/>
        </p:nvSpPr>
        <p:spPr>
          <a:xfrm>
            <a:off x="457200" y="125450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1896364"/>
            <a:ext cx="4663440" cy="1047749"/>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Cool it:</a:t>
            </a:r>
            <a:r>
              <a:rPr sz="1900" b="0" i="0">
                <a:solidFill>
                  <a:srgbClr val="6B6B6B"/>
                </a:solidFill>
                <a:latin typeface="Calibri"/>
              </a:rPr>
              <a:t> the vapour does not change, so the point moves </a:t>
            </a:r>
            <a:r>
              <a:rPr sz="1900" b="1" i="0">
                <a:solidFill>
                  <a:srgbClr val="6B6B6B"/>
                </a:solidFill>
                <a:latin typeface="Calibri"/>
              </a:rPr>
              <a:t>left</a:t>
            </a:r>
            <a:r>
              <a:rPr sz="1900" b="0" i="0">
                <a:solidFill>
                  <a:srgbClr val="6B6B6B"/>
                </a:solidFill>
                <a:latin typeface="Calibri"/>
              </a:rPr>
              <a:t> along the line at 10 g/kg.</a:t>
            </a:r>
          </a:p>
        </p:txBody>
      </p:sp>
      <p:sp>
        <p:nvSpPr>
          <p:cNvPr id="9" name="Oval 8"/>
          <p:cNvSpPr/>
          <p:nvPr/>
        </p:nvSpPr>
        <p:spPr>
          <a:xfrm>
            <a:off x="457200" y="2246503"/>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035554"/>
            <a:ext cx="4663440" cy="1047749"/>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Meet the curve:</a:t>
            </a:r>
            <a:r>
              <a:rPr sz="1900" b="0" i="0">
                <a:solidFill>
                  <a:srgbClr val="1F1F1F"/>
                </a:solidFill>
                <a:latin typeface="Calibri"/>
              </a:rPr>
              <a:t> where the air holds all it can (w</a:t>
            </a:r>
            <a:r>
              <a:rPr sz="1900" b="0" i="0" baseline="-25000">
                <a:solidFill>
                  <a:srgbClr val="1F1F1F"/>
                </a:solidFill>
                <a:latin typeface="Calibri"/>
              </a:rPr>
              <a:t>s</a:t>
            </a:r>
            <a:r>
              <a:rPr sz="1900" b="0" i="0">
                <a:solidFill>
                  <a:srgbClr val="1F1F1F"/>
                </a:solidFill>
                <a:latin typeface="Calibri"/>
              </a:rPr>
              <a:t> = 10 g/kg), it is saturated.</a:t>
            </a:r>
          </a:p>
        </p:txBody>
      </p:sp>
      <p:sp>
        <p:nvSpPr>
          <p:cNvPr id="11" name="Oval 10"/>
          <p:cNvSpPr/>
          <p:nvPr/>
        </p:nvSpPr>
        <p:spPr>
          <a:xfrm>
            <a:off x="457200" y="3385693"/>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q5_s3.png"/>
          <p:cNvPicPr>
            <a:picLocks noChangeAspect="1"/>
          </p:cNvPicPr>
          <p:nvPr/>
        </p:nvPicPr>
        <p:blipFill>
          <a:blip r:embed="rId3"/>
          <a:stretch>
            <a:fillRect/>
          </a:stretch>
        </p:blipFill>
        <p:spPr>
          <a:xfrm>
            <a:off x="5257800" y="1251713"/>
            <a:ext cx="6613855" cy="4766053"/>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Q5: step 4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32</a:t>
            </a:r>
          </a:p>
        </p:txBody>
      </p:sp>
      <p:sp>
        <p:nvSpPr>
          <p:cNvPr id="6" name="Rounded Rectangle 5"/>
          <p:cNvSpPr/>
          <p:nvPr/>
        </p:nvSpPr>
        <p:spPr>
          <a:xfrm>
            <a:off x="365760" y="1051560"/>
            <a:ext cx="4663440" cy="753364"/>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Plot the point:</a:t>
            </a:r>
            <a:r>
              <a:rPr sz="1900" b="0" i="0">
                <a:solidFill>
                  <a:srgbClr val="6B6B6B"/>
                </a:solidFill>
                <a:latin typeface="Calibri"/>
              </a:rPr>
              <a:t> 20 °C along the bottom, 10 g/kg up the side.</a:t>
            </a:r>
          </a:p>
        </p:txBody>
      </p:sp>
      <p:sp>
        <p:nvSpPr>
          <p:cNvPr id="7" name="Oval 6"/>
          <p:cNvSpPr/>
          <p:nvPr/>
        </p:nvSpPr>
        <p:spPr>
          <a:xfrm>
            <a:off x="457200" y="125450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1896364"/>
            <a:ext cx="4663440" cy="1047749"/>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Cool it:</a:t>
            </a:r>
            <a:r>
              <a:rPr sz="1900" b="0" i="0">
                <a:solidFill>
                  <a:srgbClr val="6B6B6B"/>
                </a:solidFill>
                <a:latin typeface="Calibri"/>
              </a:rPr>
              <a:t> the vapour does not change, so the point moves </a:t>
            </a:r>
            <a:r>
              <a:rPr sz="1900" b="1" i="0">
                <a:solidFill>
                  <a:srgbClr val="6B6B6B"/>
                </a:solidFill>
                <a:latin typeface="Calibri"/>
              </a:rPr>
              <a:t>left</a:t>
            </a:r>
            <a:r>
              <a:rPr sz="1900" b="0" i="0">
                <a:solidFill>
                  <a:srgbClr val="6B6B6B"/>
                </a:solidFill>
                <a:latin typeface="Calibri"/>
              </a:rPr>
              <a:t> along the line at 10 g/kg.</a:t>
            </a:r>
          </a:p>
        </p:txBody>
      </p:sp>
      <p:sp>
        <p:nvSpPr>
          <p:cNvPr id="9" name="Oval 8"/>
          <p:cNvSpPr/>
          <p:nvPr/>
        </p:nvSpPr>
        <p:spPr>
          <a:xfrm>
            <a:off x="457200" y="2246503"/>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035554"/>
            <a:ext cx="4663440" cy="1047749"/>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Meet the curve:</a:t>
            </a:r>
            <a:r>
              <a:rPr sz="1900" b="0" i="0">
                <a:solidFill>
                  <a:srgbClr val="6B6B6B"/>
                </a:solidFill>
                <a:latin typeface="Calibri"/>
              </a:rPr>
              <a:t> where the air holds all it can (w</a:t>
            </a:r>
            <a:r>
              <a:rPr sz="1900" b="0" i="0" baseline="-25000">
                <a:solidFill>
                  <a:srgbClr val="6B6B6B"/>
                </a:solidFill>
                <a:latin typeface="Calibri"/>
              </a:rPr>
              <a:t>s</a:t>
            </a:r>
            <a:r>
              <a:rPr sz="1900" b="0" i="0">
                <a:solidFill>
                  <a:srgbClr val="6B6B6B"/>
                </a:solidFill>
                <a:latin typeface="Calibri"/>
              </a:rPr>
              <a:t> = 10 g/kg), it is saturated.</a:t>
            </a:r>
          </a:p>
        </p:txBody>
      </p:sp>
      <p:sp>
        <p:nvSpPr>
          <p:cNvPr id="11" name="Oval 10"/>
          <p:cNvSpPr/>
          <p:nvPr/>
        </p:nvSpPr>
        <p:spPr>
          <a:xfrm>
            <a:off x="457200" y="3385693"/>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174744"/>
            <a:ext cx="4663440" cy="753364"/>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Read down</a:t>
            </a:r>
            <a:r>
              <a:rPr sz="1900" b="0" i="0">
                <a:solidFill>
                  <a:srgbClr val="1F1F1F"/>
                </a:solidFill>
                <a:latin typeface="Calibri"/>
              </a:rPr>
              <a:t> to the temperature axis: the dew point is about </a:t>
            </a:r>
            <a:r>
              <a:rPr sz="1900" b="1" i="0">
                <a:solidFill>
                  <a:srgbClr val="1F1F1F"/>
                </a:solidFill>
                <a:latin typeface="Calibri"/>
              </a:rPr>
              <a:t>14 °C</a:t>
            </a:r>
            <a:r>
              <a:rPr sz="1900" b="0" i="0">
                <a:solidFill>
                  <a:srgbClr val="1F1F1F"/>
                </a:solidFill>
                <a:latin typeface="Calibri"/>
              </a:rPr>
              <a:t>.</a:t>
            </a:r>
          </a:p>
        </p:txBody>
      </p:sp>
      <p:sp>
        <p:nvSpPr>
          <p:cNvPr id="13" name="Oval 12"/>
          <p:cNvSpPr/>
          <p:nvPr/>
        </p:nvSpPr>
        <p:spPr>
          <a:xfrm>
            <a:off x="457200" y="4377690"/>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pic>
        <p:nvPicPr>
          <p:cNvPr id="14" name="Picture 13" descr="q5_s4.png"/>
          <p:cNvPicPr>
            <a:picLocks noChangeAspect="1"/>
          </p:cNvPicPr>
          <p:nvPr/>
        </p:nvPicPr>
        <p:blipFill>
          <a:blip r:embed="rId3"/>
          <a:stretch>
            <a:fillRect/>
          </a:stretch>
        </p:blipFill>
        <p:spPr>
          <a:xfrm>
            <a:off x="5257800" y="1251713"/>
            <a:ext cx="6613855" cy="476605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Q5: checking with Table 1 and the formula</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33</a:t>
            </a:r>
          </a:p>
        </p:txBody>
      </p:sp>
      <p:sp>
        <p:nvSpPr>
          <p:cNvPr id="6" name="Rounded Rectangle 5"/>
          <p:cNvSpPr/>
          <p:nvPr/>
        </p:nvSpPr>
        <p:spPr>
          <a:xfrm>
            <a:off x="411480" y="1097280"/>
            <a:ext cx="5669280" cy="23774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1B3A6B"/>
                </a:solidFill>
                <a:latin typeface="Calibri"/>
              </a:rPr>
              <a:t>Method B: Table 1 backwards</a:t>
            </a:r>
          </a:p>
          <a:p>
            <a:pPr algn="l">
              <a:spcAft>
                <a:spcPts val="300"/>
              </a:spcAft>
            </a:pPr>
            <a:r>
              <a:rPr sz="1800" b="0" i="0">
                <a:solidFill>
                  <a:srgbClr val="1F1F1F"/>
                </a:solidFill>
                <a:latin typeface="Calibri"/>
              </a:rPr>
              <a:t>12 °C holds 8.882 g/kg;  14 °C holds 10.14 g/kg.</a:t>
            </a:r>
          </a:p>
          <a:p>
            <a:pPr algn="l">
              <a:spcAft>
                <a:spcPts val="300"/>
              </a:spcAft>
            </a:pPr>
            <a:r>
              <a:rPr sz="1800" b="0" i="0">
                <a:solidFill>
                  <a:srgbClr val="1F1F1F"/>
                </a:solidFill>
                <a:latin typeface="Calibri"/>
              </a:rPr>
              <a:t>Fraction: (10 − 8.882)/(10.14 − 8.882) = 0.89</a:t>
            </a:r>
          </a:p>
          <a:p>
            <a:pPr algn="l">
              <a:spcAft>
                <a:spcPts val="300"/>
              </a:spcAft>
            </a:pPr>
            <a:r>
              <a:rPr sz="1800" b="0" i="0">
                <a:solidFill>
                  <a:srgbClr val="1F1F1F"/>
                </a:solidFill>
                <a:latin typeface="Calibri"/>
              </a:rPr>
              <a:t>T</a:t>
            </a:r>
            <a:r>
              <a:rPr sz="1800" b="0" i="0" baseline="-25000">
                <a:solidFill>
                  <a:srgbClr val="1F1F1F"/>
                </a:solidFill>
                <a:latin typeface="Calibri"/>
              </a:rPr>
              <a:t>d</a:t>
            </a:r>
            <a:r>
              <a:rPr sz="1800" b="0" i="0">
                <a:solidFill>
                  <a:srgbClr val="1F1F1F"/>
                </a:solidFill>
                <a:latin typeface="Calibri"/>
              </a:rPr>
              <a:t> ≈ 12 + 0.89 × 2 = </a:t>
            </a:r>
            <a:r>
              <a:rPr sz="1800" b="1" i="0">
                <a:solidFill>
                  <a:srgbClr val="1F1F1F"/>
                </a:solidFill>
                <a:latin typeface="Calibri"/>
              </a:rPr>
              <a:t>13.8 °C</a:t>
            </a:r>
          </a:p>
        </p:txBody>
      </p:sp>
      <p:sp>
        <p:nvSpPr>
          <p:cNvPr id="7" name="Rounded Rectangle 6"/>
          <p:cNvSpPr/>
          <p:nvPr/>
        </p:nvSpPr>
        <p:spPr>
          <a:xfrm>
            <a:off x="6309360" y="1097280"/>
            <a:ext cx="5486400" cy="23774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1B3A6B"/>
                </a:solidFill>
                <a:latin typeface="Calibri"/>
              </a:rPr>
              <a:t>Method C: formula</a:t>
            </a:r>
          </a:p>
          <a:p>
            <a:pPr algn="l">
              <a:spcAft>
                <a:spcPts val="300"/>
              </a:spcAft>
            </a:pPr>
            <a:r>
              <a:rPr sz="1800" b="0" i="0">
                <a:solidFill>
                  <a:srgbClr val="1F1F1F"/>
                </a:solidFill>
                <a:latin typeface="Calibri"/>
              </a:rPr>
              <a:t>e = wp/(622 + w) = 10 × 995.5 / 632 = 15.75 hPa</a:t>
            </a:r>
          </a:p>
          <a:p>
            <a:pPr algn="l">
              <a:spcAft>
                <a:spcPts val="300"/>
              </a:spcAft>
            </a:pPr>
            <a:r>
              <a:rPr sz="1800" b="0" i="0">
                <a:solidFill>
                  <a:srgbClr val="1F1F1F"/>
                </a:solidFill>
                <a:latin typeface="Calibri"/>
              </a:rPr>
              <a:t>Invert e</a:t>
            </a:r>
            <a:r>
              <a:rPr sz="1800" b="0" i="0" baseline="-25000">
                <a:solidFill>
                  <a:srgbClr val="1F1F1F"/>
                </a:solidFill>
                <a:latin typeface="Calibri"/>
              </a:rPr>
              <a:t>s</a:t>
            </a:r>
            <a:r>
              <a:rPr sz="1800" b="0" i="0">
                <a:solidFill>
                  <a:srgbClr val="1F1F1F"/>
                </a:solidFill>
                <a:latin typeface="Calibri"/>
              </a:rPr>
              <a:t>(T) = 6.112 exp[17.67T/(T + 243.5)]:</a:t>
            </a:r>
          </a:p>
          <a:p>
            <a:pPr algn="l">
              <a:spcAft>
                <a:spcPts val="300"/>
              </a:spcAft>
            </a:pPr>
            <a:r>
              <a:rPr sz="1800" b="0" i="0">
                <a:solidFill>
                  <a:srgbClr val="1F1F1F"/>
                </a:solidFill>
                <a:latin typeface="Calibri"/>
              </a:rPr>
              <a:t>T</a:t>
            </a:r>
            <a:r>
              <a:rPr sz="1800" b="0" i="0" baseline="-25000">
                <a:solidFill>
                  <a:srgbClr val="1F1F1F"/>
                </a:solidFill>
                <a:latin typeface="Calibri"/>
              </a:rPr>
              <a:t>d</a:t>
            </a:r>
            <a:r>
              <a:rPr sz="1800" b="0" i="0">
                <a:solidFill>
                  <a:srgbClr val="1F1F1F"/>
                </a:solidFill>
                <a:latin typeface="Calibri"/>
              </a:rPr>
              <a:t> = </a:t>
            </a:r>
            <a:r>
              <a:rPr sz="1800" b="1" i="0">
                <a:solidFill>
                  <a:srgbClr val="1F1F1F"/>
                </a:solidFill>
                <a:latin typeface="Calibri"/>
              </a:rPr>
              <a:t>13.78 °C</a:t>
            </a:r>
          </a:p>
        </p:txBody>
      </p:sp>
      <p:sp>
        <p:nvSpPr>
          <p:cNvPr id="8" name="Rounded Rectangle 7"/>
          <p:cNvSpPr/>
          <p:nvPr/>
        </p:nvSpPr>
        <p:spPr>
          <a:xfrm>
            <a:off x="411480" y="3749039"/>
            <a:ext cx="11338560" cy="10058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700" b="1" i="0">
                <a:solidFill>
                  <a:srgbClr val="007F5F"/>
                </a:solidFill>
                <a:latin typeface="Calibri"/>
              </a:rPr>
              <a:t>Answer to Moisture Q5</a:t>
            </a:r>
          </a:p>
          <a:p>
            <a:pPr algn="l">
              <a:spcAft>
                <a:spcPts val="300"/>
              </a:spcAft>
            </a:pPr>
            <a:r>
              <a:rPr sz="1700" b="0" i="0">
                <a:solidFill>
                  <a:srgbClr val="1F1F1F"/>
                </a:solidFill>
                <a:latin typeface="Calibri"/>
              </a:rPr>
              <a:t>The sample cools along the 10 g/kg line and meets the curve at about </a:t>
            </a:r>
            <a:r>
              <a:rPr sz="1700" b="1" i="0">
                <a:solidFill>
                  <a:srgbClr val="007F5F"/>
                </a:solidFill>
                <a:latin typeface="Calibri"/>
              </a:rPr>
              <a:t>14 °C</a:t>
            </a:r>
            <a:r>
              <a:rPr sz="1700" b="0" i="0">
                <a:solidFill>
                  <a:srgbClr val="1F1F1F"/>
                </a:solidFill>
                <a:latin typeface="Calibri"/>
              </a:rPr>
              <a:t> (13.8 °C): its dew point.</a:t>
            </a:r>
          </a:p>
        </p:txBody>
      </p:sp>
      <p:sp>
        <p:nvSpPr>
          <p:cNvPr id="9" name="TextBox 8"/>
          <p:cNvSpPr txBox="1"/>
          <p:nvPr/>
        </p:nvSpPr>
        <p:spPr>
          <a:xfrm>
            <a:off x="457200" y="4983480"/>
            <a:ext cx="11247120" cy="1280160"/>
          </a:xfrm>
          <a:prstGeom prst="rect">
            <a:avLst/>
          </a:prstGeom>
          <a:noFill/>
        </p:spPr>
        <p:txBody>
          <a:bodyPr wrap="square" anchor="t" lIns="45720" rIns="45720">
            <a:spAutoFit/>
          </a:bodyPr>
          <a:lstStyle/>
          <a:p>
            <a:pPr algn="l">
              <a:spcAft>
                <a:spcPts val="600"/>
              </a:spcAft>
            </a:pPr>
            <a:r>
              <a:rPr sz="1900" b="1" i="0">
                <a:solidFill>
                  <a:srgbClr val="1F1F1F"/>
                </a:solidFill>
                <a:latin typeface="Calibri"/>
              </a:rPr>
              <a:t>Check:</a:t>
            </a:r>
            <a:r>
              <a:rPr sz="1900" b="0" i="0">
                <a:solidFill>
                  <a:srgbClr val="1F1F1F"/>
                </a:solidFill>
                <a:latin typeface="Calibri"/>
              </a:rPr>
              <a:t> the dew point (14 °C) is below the air temperature (20 °C) ✓.   At 14 °C the air could hold 10.14 g/kg, just above the 10 g/kg it has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Q6: 34 °C and 62 % humidity</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34</a:t>
            </a:r>
          </a:p>
        </p:txBody>
      </p:sp>
      <p:sp>
        <p:nvSpPr>
          <p:cNvPr id="6" name="Rounded Rectangle 5"/>
          <p:cNvSpPr/>
          <p:nvPr/>
        </p:nvSpPr>
        <p:spPr>
          <a:xfrm>
            <a:off x="411480" y="1097280"/>
            <a:ext cx="5760720" cy="237744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Now consider an air sample with a temperature of 34 °C and a relative humidity of 62 %.  What is its saturation mixing ratio?  What is its mixing ratio?  What is its dew point?</a:t>
            </a:r>
          </a:p>
        </p:txBody>
      </p:sp>
      <p:sp>
        <p:nvSpPr>
          <p:cNvPr id="7" name="TextBox 6"/>
          <p:cNvSpPr txBox="1"/>
          <p:nvPr/>
        </p:nvSpPr>
        <p:spPr>
          <a:xfrm>
            <a:off x="457200" y="3749039"/>
            <a:ext cx="5669280" cy="265176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Three steps: Table 1, then RH, then the graph or Table 1 backwards.</a:t>
            </a:r>
          </a:p>
        </p:txBody>
      </p:sp>
      <p:pic>
        <p:nvPicPr>
          <p:cNvPr id="8" name="Picture 7" descr="q6_s1.png"/>
          <p:cNvPicPr>
            <a:picLocks noChangeAspect="1"/>
          </p:cNvPicPr>
          <p:nvPr/>
        </p:nvPicPr>
        <p:blipFill>
          <a:blip r:embed="rId2"/>
          <a:stretch>
            <a:fillRect/>
          </a:stretch>
        </p:blipFill>
        <p:spPr>
          <a:xfrm>
            <a:off x="6400800" y="1928623"/>
            <a:ext cx="5394960" cy="345795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Q6: step 1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35</a:t>
            </a:r>
          </a:p>
        </p:txBody>
      </p:sp>
      <p:sp>
        <p:nvSpPr>
          <p:cNvPr id="6" name="Rounded Rectangle 5"/>
          <p:cNvSpPr/>
          <p:nvPr/>
        </p:nvSpPr>
        <p:spPr>
          <a:xfrm>
            <a:off x="365760" y="1051560"/>
            <a:ext cx="4663440" cy="72237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Saturation mixing ratio</a:t>
            </a:r>
            <a:r>
              <a:rPr sz="1800" b="0" i="0">
                <a:solidFill>
                  <a:srgbClr val="1F1F1F"/>
                </a:solidFill>
                <a:latin typeface="Calibri"/>
              </a:rPr>
              <a:t> at 34 °C (Table 1): </a:t>
            </a:r>
            <a:r>
              <a:rPr sz="1800" b="1" i="0">
                <a:solidFill>
                  <a:srgbClr val="007F5F"/>
                </a:solidFill>
                <a:latin typeface="Calibri"/>
              </a:rPr>
              <a:t>35.134 g/kg</a:t>
            </a:r>
            <a:r>
              <a:rPr sz="1800" b="0" i="0">
                <a:solidFill>
                  <a:srgbClr val="1F1F1F"/>
                </a:solidFill>
                <a:latin typeface="Calibri"/>
              </a:rPr>
              <a:t>.</a:t>
            </a:r>
          </a:p>
        </p:txBody>
      </p:sp>
      <p:sp>
        <p:nvSpPr>
          <p:cNvPr id="7" name="Oval 6"/>
          <p:cNvSpPr/>
          <p:nvPr/>
        </p:nvSpPr>
        <p:spPr>
          <a:xfrm>
            <a:off x="457200" y="1239012"/>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q6_s1.png"/>
          <p:cNvPicPr>
            <a:picLocks noChangeAspect="1"/>
          </p:cNvPicPr>
          <p:nvPr/>
        </p:nvPicPr>
        <p:blipFill>
          <a:blip r:embed="rId3"/>
          <a:stretch>
            <a:fillRect/>
          </a:stretch>
        </p:blipFill>
        <p:spPr>
          <a:xfrm>
            <a:off x="5257800" y="1515132"/>
            <a:ext cx="6613855" cy="423921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Q6: step 2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36</a:t>
            </a:r>
          </a:p>
        </p:txBody>
      </p:sp>
      <p:sp>
        <p:nvSpPr>
          <p:cNvPr id="6" name="Rounded Rectangle 5"/>
          <p:cNvSpPr/>
          <p:nvPr/>
        </p:nvSpPr>
        <p:spPr>
          <a:xfrm>
            <a:off x="365760" y="1051560"/>
            <a:ext cx="4663440" cy="72237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Saturation mixing ratio</a:t>
            </a:r>
            <a:r>
              <a:rPr sz="1800" b="0" i="0">
                <a:solidFill>
                  <a:srgbClr val="6B6B6B"/>
                </a:solidFill>
                <a:latin typeface="Calibri"/>
              </a:rPr>
              <a:t> at 34 °C (Table 1): </a:t>
            </a:r>
            <a:r>
              <a:rPr sz="1800" b="1" i="0">
                <a:solidFill>
                  <a:srgbClr val="007F5F"/>
                </a:solidFill>
                <a:latin typeface="Calibri"/>
              </a:rPr>
              <a:t>35.134 g/kg</a:t>
            </a:r>
            <a:r>
              <a:rPr sz="1800" b="0" i="0">
                <a:solidFill>
                  <a:srgbClr val="6B6B6B"/>
                </a:solidFill>
                <a:latin typeface="Calibri"/>
              </a:rPr>
              <a:t>.</a:t>
            </a:r>
          </a:p>
        </p:txBody>
      </p:sp>
      <p:sp>
        <p:nvSpPr>
          <p:cNvPr id="7" name="Oval 6"/>
          <p:cNvSpPr/>
          <p:nvPr/>
        </p:nvSpPr>
        <p:spPr>
          <a:xfrm>
            <a:off x="457200" y="123901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1865376"/>
            <a:ext cx="4663440" cy="72237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Mixing ratio:</a:t>
            </a:r>
            <a:r>
              <a:rPr sz="1800" b="0" i="0">
                <a:solidFill>
                  <a:srgbClr val="1F1F1F"/>
                </a:solidFill>
                <a:latin typeface="Calibri"/>
              </a:rPr>
              <a:t> w = 35.134 × 0.62 = </a:t>
            </a:r>
            <a:r>
              <a:rPr sz="1800" b="1" i="0">
                <a:solidFill>
                  <a:srgbClr val="007F5F"/>
                </a:solidFill>
                <a:latin typeface="Calibri"/>
              </a:rPr>
              <a:t>21.78 g/kg</a:t>
            </a:r>
            <a:r>
              <a:rPr sz="1800" b="0" i="0">
                <a:solidFill>
                  <a:srgbClr val="1F1F1F"/>
                </a:solidFill>
                <a:latin typeface="Calibri"/>
              </a:rPr>
              <a:t>.</a:t>
            </a:r>
          </a:p>
        </p:txBody>
      </p:sp>
      <p:sp>
        <p:nvSpPr>
          <p:cNvPr id="9" name="Oval 8"/>
          <p:cNvSpPr/>
          <p:nvPr/>
        </p:nvSpPr>
        <p:spPr>
          <a:xfrm>
            <a:off x="457200" y="2052828"/>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q6_s1.png"/>
          <p:cNvPicPr>
            <a:picLocks noChangeAspect="1"/>
          </p:cNvPicPr>
          <p:nvPr/>
        </p:nvPicPr>
        <p:blipFill>
          <a:blip r:embed="rId3"/>
          <a:stretch>
            <a:fillRect/>
          </a:stretch>
        </p:blipFill>
        <p:spPr>
          <a:xfrm>
            <a:off x="5257800" y="1515132"/>
            <a:ext cx="6613855" cy="423921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Q6: step 3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37</a:t>
            </a:r>
          </a:p>
        </p:txBody>
      </p:sp>
      <p:sp>
        <p:nvSpPr>
          <p:cNvPr id="6" name="Rounded Rectangle 5"/>
          <p:cNvSpPr/>
          <p:nvPr/>
        </p:nvSpPr>
        <p:spPr>
          <a:xfrm>
            <a:off x="365760" y="1051560"/>
            <a:ext cx="4663440" cy="72237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Saturation mixing ratio</a:t>
            </a:r>
            <a:r>
              <a:rPr sz="1800" b="0" i="0">
                <a:solidFill>
                  <a:srgbClr val="6B6B6B"/>
                </a:solidFill>
                <a:latin typeface="Calibri"/>
              </a:rPr>
              <a:t> at 34 °C (Table 1): </a:t>
            </a:r>
            <a:r>
              <a:rPr sz="1800" b="1" i="0">
                <a:solidFill>
                  <a:srgbClr val="007F5F"/>
                </a:solidFill>
                <a:latin typeface="Calibri"/>
              </a:rPr>
              <a:t>35.134 g/kg</a:t>
            </a:r>
            <a:r>
              <a:rPr sz="1800" b="0" i="0">
                <a:solidFill>
                  <a:srgbClr val="6B6B6B"/>
                </a:solidFill>
                <a:latin typeface="Calibri"/>
              </a:rPr>
              <a:t>.</a:t>
            </a:r>
          </a:p>
        </p:txBody>
      </p:sp>
      <p:sp>
        <p:nvSpPr>
          <p:cNvPr id="7" name="Oval 6"/>
          <p:cNvSpPr/>
          <p:nvPr/>
        </p:nvSpPr>
        <p:spPr>
          <a:xfrm>
            <a:off x="457200" y="123901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1865376"/>
            <a:ext cx="4663440" cy="72237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Mixing ratio:</a:t>
            </a:r>
            <a:r>
              <a:rPr sz="1800" b="0" i="0">
                <a:solidFill>
                  <a:srgbClr val="6B6B6B"/>
                </a:solidFill>
                <a:latin typeface="Calibri"/>
              </a:rPr>
              <a:t> w = 35.134 × 0.62 = </a:t>
            </a:r>
            <a:r>
              <a:rPr sz="1800" b="1" i="0">
                <a:solidFill>
                  <a:srgbClr val="007F5F"/>
                </a:solidFill>
                <a:latin typeface="Calibri"/>
              </a:rPr>
              <a:t>21.78 g/kg</a:t>
            </a:r>
            <a:r>
              <a:rPr sz="1800" b="0" i="0">
                <a:solidFill>
                  <a:srgbClr val="6B6B6B"/>
                </a:solidFill>
                <a:latin typeface="Calibri"/>
              </a:rPr>
              <a:t>.</a:t>
            </a:r>
          </a:p>
        </p:txBody>
      </p:sp>
      <p:sp>
        <p:nvSpPr>
          <p:cNvPr id="9" name="Oval 8"/>
          <p:cNvSpPr/>
          <p:nvPr/>
        </p:nvSpPr>
        <p:spPr>
          <a:xfrm>
            <a:off x="457200" y="205282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2679192"/>
            <a:ext cx="4663440" cy="1001268"/>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Plot the point</a:t>
            </a:r>
            <a:r>
              <a:rPr sz="1800" b="0" i="0">
                <a:solidFill>
                  <a:srgbClr val="1F1F1F"/>
                </a:solidFill>
                <a:latin typeface="Calibri"/>
              </a:rPr>
              <a:t> (34 °C, 21.78 g/kg) and </a:t>
            </a:r>
            <a:r>
              <a:rPr sz="1800" b="1" i="0">
                <a:solidFill>
                  <a:srgbClr val="1F1F1F"/>
                </a:solidFill>
                <a:latin typeface="Calibri"/>
              </a:rPr>
              <a:t>cool it</a:t>
            </a:r>
            <a:r>
              <a:rPr sz="1800" b="0" i="0">
                <a:solidFill>
                  <a:srgbClr val="1F1F1F"/>
                </a:solidFill>
                <a:latin typeface="Calibri"/>
              </a:rPr>
              <a:t>: move left along the line.</a:t>
            </a:r>
          </a:p>
        </p:txBody>
      </p:sp>
      <p:sp>
        <p:nvSpPr>
          <p:cNvPr id="11" name="Oval 10"/>
          <p:cNvSpPr/>
          <p:nvPr/>
        </p:nvSpPr>
        <p:spPr>
          <a:xfrm>
            <a:off x="457200" y="3006090"/>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q6_s2.png"/>
          <p:cNvPicPr>
            <a:picLocks noChangeAspect="1"/>
          </p:cNvPicPr>
          <p:nvPr/>
        </p:nvPicPr>
        <p:blipFill>
          <a:blip r:embed="rId3"/>
          <a:stretch>
            <a:fillRect/>
          </a:stretch>
        </p:blipFill>
        <p:spPr>
          <a:xfrm>
            <a:off x="5257800" y="1515132"/>
            <a:ext cx="6613855" cy="4239214"/>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Q6: step 4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38</a:t>
            </a:r>
          </a:p>
        </p:txBody>
      </p:sp>
      <p:sp>
        <p:nvSpPr>
          <p:cNvPr id="6" name="Rounded Rectangle 5"/>
          <p:cNvSpPr/>
          <p:nvPr/>
        </p:nvSpPr>
        <p:spPr>
          <a:xfrm>
            <a:off x="365760" y="1051560"/>
            <a:ext cx="4663440" cy="72237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Saturation mixing ratio</a:t>
            </a:r>
            <a:r>
              <a:rPr sz="1800" b="0" i="0">
                <a:solidFill>
                  <a:srgbClr val="6B6B6B"/>
                </a:solidFill>
                <a:latin typeface="Calibri"/>
              </a:rPr>
              <a:t> at 34 °C (Table 1): </a:t>
            </a:r>
            <a:r>
              <a:rPr sz="1800" b="1" i="0">
                <a:solidFill>
                  <a:srgbClr val="007F5F"/>
                </a:solidFill>
                <a:latin typeface="Calibri"/>
              </a:rPr>
              <a:t>35.134 g/kg</a:t>
            </a:r>
            <a:r>
              <a:rPr sz="1800" b="0" i="0">
                <a:solidFill>
                  <a:srgbClr val="6B6B6B"/>
                </a:solidFill>
                <a:latin typeface="Calibri"/>
              </a:rPr>
              <a:t>.</a:t>
            </a:r>
          </a:p>
        </p:txBody>
      </p:sp>
      <p:sp>
        <p:nvSpPr>
          <p:cNvPr id="7" name="Oval 6"/>
          <p:cNvSpPr/>
          <p:nvPr/>
        </p:nvSpPr>
        <p:spPr>
          <a:xfrm>
            <a:off x="457200" y="123901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1865376"/>
            <a:ext cx="4663440" cy="72237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Mixing ratio:</a:t>
            </a:r>
            <a:r>
              <a:rPr sz="1800" b="0" i="0">
                <a:solidFill>
                  <a:srgbClr val="6B6B6B"/>
                </a:solidFill>
                <a:latin typeface="Calibri"/>
              </a:rPr>
              <a:t> w = 35.134 × 0.62 = </a:t>
            </a:r>
            <a:r>
              <a:rPr sz="1800" b="1" i="0">
                <a:solidFill>
                  <a:srgbClr val="007F5F"/>
                </a:solidFill>
                <a:latin typeface="Calibri"/>
              </a:rPr>
              <a:t>21.78 g/kg</a:t>
            </a:r>
            <a:r>
              <a:rPr sz="1800" b="0" i="0">
                <a:solidFill>
                  <a:srgbClr val="6B6B6B"/>
                </a:solidFill>
                <a:latin typeface="Calibri"/>
              </a:rPr>
              <a:t>.</a:t>
            </a:r>
          </a:p>
        </p:txBody>
      </p:sp>
      <p:sp>
        <p:nvSpPr>
          <p:cNvPr id="9" name="Oval 8"/>
          <p:cNvSpPr/>
          <p:nvPr/>
        </p:nvSpPr>
        <p:spPr>
          <a:xfrm>
            <a:off x="457200" y="205282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2679192"/>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Plot the point</a:t>
            </a:r>
            <a:r>
              <a:rPr sz="1800" b="0" i="0">
                <a:solidFill>
                  <a:srgbClr val="6B6B6B"/>
                </a:solidFill>
                <a:latin typeface="Calibri"/>
              </a:rPr>
              <a:t> (34 °C, 21.78 g/kg) and </a:t>
            </a:r>
            <a:r>
              <a:rPr sz="1800" b="1" i="0">
                <a:solidFill>
                  <a:srgbClr val="6B6B6B"/>
                </a:solidFill>
                <a:latin typeface="Calibri"/>
              </a:rPr>
              <a:t>cool it</a:t>
            </a:r>
            <a:r>
              <a:rPr sz="1800" b="0" i="0">
                <a:solidFill>
                  <a:srgbClr val="6B6B6B"/>
                </a:solidFill>
                <a:latin typeface="Calibri"/>
              </a:rPr>
              <a:t>: move left along the line.</a:t>
            </a:r>
          </a:p>
        </p:txBody>
      </p:sp>
      <p:sp>
        <p:nvSpPr>
          <p:cNvPr id="11" name="Oval 10"/>
          <p:cNvSpPr/>
          <p:nvPr/>
        </p:nvSpPr>
        <p:spPr>
          <a:xfrm>
            <a:off x="457200" y="3006090"/>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3771900"/>
            <a:ext cx="4663440" cy="1001268"/>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Meet the curve</a:t>
            </a:r>
            <a:r>
              <a:rPr sz="1800" b="0" i="0">
                <a:solidFill>
                  <a:srgbClr val="1F1F1F"/>
                </a:solidFill>
                <a:latin typeface="Calibri"/>
              </a:rPr>
              <a:t> where w</a:t>
            </a:r>
            <a:r>
              <a:rPr sz="1800" b="0" i="0" baseline="-25000">
                <a:solidFill>
                  <a:srgbClr val="1F1F1F"/>
                </a:solidFill>
                <a:latin typeface="Calibri"/>
              </a:rPr>
              <a:t>s</a:t>
            </a:r>
            <a:r>
              <a:rPr sz="1800" b="0" i="0">
                <a:solidFill>
                  <a:srgbClr val="1F1F1F"/>
                </a:solidFill>
                <a:latin typeface="Calibri"/>
              </a:rPr>
              <a:t> = 21.78: Table 1 has 21.734 at 26 °C and 24.557 at 28 °C, so just above 26 °C.</a:t>
            </a:r>
          </a:p>
        </p:txBody>
      </p:sp>
      <p:sp>
        <p:nvSpPr>
          <p:cNvPr id="13" name="Oval 12"/>
          <p:cNvSpPr/>
          <p:nvPr/>
        </p:nvSpPr>
        <p:spPr>
          <a:xfrm>
            <a:off x="457200" y="4098798"/>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pic>
        <p:nvPicPr>
          <p:cNvPr id="14" name="Picture 13" descr="q6_s3.png"/>
          <p:cNvPicPr>
            <a:picLocks noChangeAspect="1"/>
          </p:cNvPicPr>
          <p:nvPr/>
        </p:nvPicPr>
        <p:blipFill>
          <a:blip r:embed="rId3"/>
          <a:stretch>
            <a:fillRect/>
          </a:stretch>
        </p:blipFill>
        <p:spPr>
          <a:xfrm>
            <a:off x="5257800" y="1515132"/>
            <a:ext cx="6613855" cy="423921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Q6: step 5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39</a:t>
            </a:r>
          </a:p>
        </p:txBody>
      </p:sp>
      <p:sp>
        <p:nvSpPr>
          <p:cNvPr id="6" name="Rounded Rectangle 5"/>
          <p:cNvSpPr/>
          <p:nvPr/>
        </p:nvSpPr>
        <p:spPr>
          <a:xfrm>
            <a:off x="365760" y="1051560"/>
            <a:ext cx="4663440" cy="72237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Saturation mixing ratio</a:t>
            </a:r>
            <a:r>
              <a:rPr sz="1800" b="0" i="0">
                <a:solidFill>
                  <a:srgbClr val="6B6B6B"/>
                </a:solidFill>
                <a:latin typeface="Calibri"/>
              </a:rPr>
              <a:t> at 34 °C (Table 1): </a:t>
            </a:r>
            <a:r>
              <a:rPr sz="1800" b="1" i="0">
                <a:solidFill>
                  <a:srgbClr val="007F5F"/>
                </a:solidFill>
                <a:latin typeface="Calibri"/>
              </a:rPr>
              <a:t>35.134 g/kg</a:t>
            </a:r>
            <a:r>
              <a:rPr sz="1800" b="0" i="0">
                <a:solidFill>
                  <a:srgbClr val="6B6B6B"/>
                </a:solidFill>
                <a:latin typeface="Calibri"/>
              </a:rPr>
              <a:t>.</a:t>
            </a:r>
          </a:p>
        </p:txBody>
      </p:sp>
      <p:sp>
        <p:nvSpPr>
          <p:cNvPr id="7" name="Oval 6"/>
          <p:cNvSpPr/>
          <p:nvPr/>
        </p:nvSpPr>
        <p:spPr>
          <a:xfrm>
            <a:off x="457200" y="123901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1865376"/>
            <a:ext cx="4663440" cy="72237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Mixing ratio:</a:t>
            </a:r>
            <a:r>
              <a:rPr sz="1800" b="0" i="0">
                <a:solidFill>
                  <a:srgbClr val="6B6B6B"/>
                </a:solidFill>
                <a:latin typeface="Calibri"/>
              </a:rPr>
              <a:t> w = 35.134 × 0.62 = </a:t>
            </a:r>
            <a:r>
              <a:rPr sz="1800" b="1" i="0">
                <a:solidFill>
                  <a:srgbClr val="007F5F"/>
                </a:solidFill>
                <a:latin typeface="Calibri"/>
              </a:rPr>
              <a:t>21.78 g/kg</a:t>
            </a:r>
            <a:r>
              <a:rPr sz="1800" b="0" i="0">
                <a:solidFill>
                  <a:srgbClr val="6B6B6B"/>
                </a:solidFill>
                <a:latin typeface="Calibri"/>
              </a:rPr>
              <a:t>.</a:t>
            </a:r>
          </a:p>
        </p:txBody>
      </p:sp>
      <p:sp>
        <p:nvSpPr>
          <p:cNvPr id="9" name="Oval 8"/>
          <p:cNvSpPr/>
          <p:nvPr/>
        </p:nvSpPr>
        <p:spPr>
          <a:xfrm>
            <a:off x="457200" y="205282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2679192"/>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Plot the point</a:t>
            </a:r>
            <a:r>
              <a:rPr sz="1800" b="0" i="0">
                <a:solidFill>
                  <a:srgbClr val="6B6B6B"/>
                </a:solidFill>
                <a:latin typeface="Calibri"/>
              </a:rPr>
              <a:t> (34 °C, 21.78 g/kg) and </a:t>
            </a:r>
            <a:r>
              <a:rPr sz="1800" b="1" i="0">
                <a:solidFill>
                  <a:srgbClr val="6B6B6B"/>
                </a:solidFill>
                <a:latin typeface="Calibri"/>
              </a:rPr>
              <a:t>cool it</a:t>
            </a:r>
            <a:r>
              <a:rPr sz="1800" b="0" i="0">
                <a:solidFill>
                  <a:srgbClr val="6B6B6B"/>
                </a:solidFill>
                <a:latin typeface="Calibri"/>
              </a:rPr>
              <a:t>: move left along the line.</a:t>
            </a:r>
          </a:p>
        </p:txBody>
      </p:sp>
      <p:sp>
        <p:nvSpPr>
          <p:cNvPr id="11" name="Oval 10"/>
          <p:cNvSpPr/>
          <p:nvPr/>
        </p:nvSpPr>
        <p:spPr>
          <a:xfrm>
            <a:off x="457200" y="3006090"/>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3771900"/>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Meet the curve</a:t>
            </a:r>
            <a:r>
              <a:rPr sz="1800" b="0" i="0">
                <a:solidFill>
                  <a:srgbClr val="6B6B6B"/>
                </a:solidFill>
                <a:latin typeface="Calibri"/>
              </a:rPr>
              <a:t> where w</a:t>
            </a:r>
            <a:r>
              <a:rPr sz="1800" b="0" i="0" baseline="-25000">
                <a:solidFill>
                  <a:srgbClr val="6B6B6B"/>
                </a:solidFill>
                <a:latin typeface="Calibri"/>
              </a:rPr>
              <a:t>s</a:t>
            </a:r>
            <a:r>
              <a:rPr sz="1800" b="0" i="0">
                <a:solidFill>
                  <a:srgbClr val="6B6B6B"/>
                </a:solidFill>
                <a:latin typeface="Calibri"/>
              </a:rPr>
              <a:t> = 21.78: Table 1 has 21.734 at 26 °C and 24.557 at 28 °C, so just above 26 °C.</a:t>
            </a:r>
          </a:p>
        </p:txBody>
      </p:sp>
      <p:sp>
        <p:nvSpPr>
          <p:cNvPr id="13" name="Oval 12"/>
          <p:cNvSpPr/>
          <p:nvPr/>
        </p:nvSpPr>
        <p:spPr>
          <a:xfrm>
            <a:off x="457200" y="409879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sp>
        <p:nvSpPr>
          <p:cNvPr id="14" name="Rounded Rectangle 13"/>
          <p:cNvSpPr/>
          <p:nvPr/>
        </p:nvSpPr>
        <p:spPr>
          <a:xfrm>
            <a:off x="365760" y="4864608"/>
            <a:ext cx="4663440" cy="72237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Read down:</a:t>
            </a:r>
            <a:r>
              <a:rPr sz="1800" b="0" i="0">
                <a:solidFill>
                  <a:srgbClr val="1F1F1F"/>
                </a:solidFill>
                <a:latin typeface="Calibri"/>
              </a:rPr>
              <a:t> T</a:t>
            </a:r>
            <a:r>
              <a:rPr sz="1800" b="0" i="0" baseline="-25000">
                <a:solidFill>
                  <a:srgbClr val="1F1F1F"/>
                </a:solidFill>
                <a:latin typeface="Calibri"/>
              </a:rPr>
              <a:t>d</a:t>
            </a:r>
            <a:r>
              <a:rPr sz="1800" b="0" i="0">
                <a:solidFill>
                  <a:srgbClr val="1F1F1F"/>
                </a:solidFill>
                <a:latin typeface="Calibri"/>
              </a:rPr>
              <a:t> = 26 + 0.016 × 2 ≈ </a:t>
            </a:r>
            <a:r>
              <a:rPr sz="1800" b="1" i="0">
                <a:solidFill>
                  <a:srgbClr val="007F5F"/>
                </a:solidFill>
                <a:latin typeface="Calibri"/>
              </a:rPr>
              <a:t>26 °C</a:t>
            </a:r>
            <a:r>
              <a:rPr sz="1800" b="0" i="0">
                <a:solidFill>
                  <a:srgbClr val="1F1F1F"/>
                </a:solidFill>
                <a:latin typeface="Calibri"/>
              </a:rPr>
              <a:t>.</a:t>
            </a:r>
          </a:p>
        </p:txBody>
      </p:sp>
      <p:sp>
        <p:nvSpPr>
          <p:cNvPr id="15" name="Oval 14"/>
          <p:cNvSpPr/>
          <p:nvPr/>
        </p:nvSpPr>
        <p:spPr>
          <a:xfrm>
            <a:off x="457200" y="5052059"/>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5</a:t>
            </a:r>
          </a:p>
        </p:txBody>
      </p:sp>
      <p:pic>
        <p:nvPicPr>
          <p:cNvPr id="16" name="Picture 15" descr="q6_s4.png"/>
          <p:cNvPicPr>
            <a:picLocks noChangeAspect="1"/>
          </p:cNvPicPr>
          <p:nvPr/>
        </p:nvPicPr>
        <p:blipFill>
          <a:blip r:embed="rId3"/>
          <a:stretch>
            <a:fillRect/>
          </a:stretch>
        </p:blipFill>
        <p:spPr>
          <a:xfrm>
            <a:off x="5257800" y="1515132"/>
            <a:ext cx="6613855" cy="4239214"/>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Moisture Q6: the answer, and a correction to the key</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40</a:t>
            </a:r>
          </a:p>
        </p:txBody>
      </p:sp>
      <p:sp>
        <p:nvSpPr>
          <p:cNvPr id="6" name="Rounded Rectangle 5"/>
          <p:cNvSpPr/>
          <p:nvPr/>
        </p:nvSpPr>
        <p:spPr>
          <a:xfrm>
            <a:off x="411480" y="1097280"/>
            <a:ext cx="5669280" cy="17373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700" b="1" i="0">
                <a:solidFill>
                  <a:srgbClr val="007F5F"/>
                </a:solidFill>
                <a:latin typeface="Calibri"/>
              </a:rPr>
              <a:t>Answer</a:t>
            </a:r>
          </a:p>
          <a:p>
            <a:pPr algn="l">
              <a:spcAft>
                <a:spcPts val="300"/>
              </a:spcAft>
            </a:pPr>
            <a:r>
              <a:rPr sz="1700" b="0" i="0">
                <a:solidFill>
                  <a:srgbClr val="1F1F1F"/>
                </a:solidFill>
                <a:latin typeface="Calibri"/>
              </a:rPr>
              <a:t>Saturation mixing ratio </a:t>
            </a:r>
            <a:r>
              <a:rPr sz="1700" b="1" i="0">
                <a:solidFill>
                  <a:srgbClr val="1F1F1F"/>
                </a:solidFill>
                <a:latin typeface="Calibri"/>
              </a:rPr>
              <a:t>35.134 g/kg</a:t>
            </a:r>
          </a:p>
          <a:p>
            <a:pPr algn="l">
              <a:spcAft>
                <a:spcPts val="300"/>
              </a:spcAft>
            </a:pPr>
            <a:r>
              <a:rPr sz="1700" b="0" i="0">
                <a:solidFill>
                  <a:srgbClr val="1F1F1F"/>
                </a:solidFill>
                <a:latin typeface="Calibri"/>
              </a:rPr>
              <a:t>Mixing ratio 35.134 × 0.62 = </a:t>
            </a:r>
            <a:r>
              <a:rPr sz="1700" b="1" i="0">
                <a:solidFill>
                  <a:srgbClr val="1F1F1F"/>
                </a:solidFill>
                <a:latin typeface="Calibri"/>
              </a:rPr>
              <a:t>21.78 g/kg</a:t>
            </a:r>
          </a:p>
          <a:p>
            <a:pPr algn="l">
              <a:spcAft>
                <a:spcPts val="300"/>
              </a:spcAft>
            </a:pPr>
            <a:r>
              <a:rPr sz="1700" b="0" i="0">
                <a:solidFill>
                  <a:srgbClr val="1F1F1F"/>
                </a:solidFill>
                <a:latin typeface="Calibri"/>
              </a:rPr>
              <a:t>Dew point about </a:t>
            </a:r>
            <a:r>
              <a:rPr sz="1700" b="1" i="0">
                <a:solidFill>
                  <a:srgbClr val="1F1F1F"/>
                </a:solidFill>
                <a:latin typeface="Calibri"/>
              </a:rPr>
              <a:t>26 °C</a:t>
            </a:r>
          </a:p>
        </p:txBody>
      </p:sp>
      <p:sp>
        <p:nvSpPr>
          <p:cNvPr id="7" name="Rounded Rectangle 6"/>
          <p:cNvSpPr/>
          <p:nvPr/>
        </p:nvSpPr>
        <p:spPr>
          <a:xfrm>
            <a:off x="411480" y="3017520"/>
            <a:ext cx="5669280" cy="3246120"/>
          </a:xfrm>
          <a:prstGeom prst="roundRect">
            <a:avLst>
              <a:gd name="adj" fmla="val 6000"/>
            </a:avLst>
          </a:prstGeom>
          <a:solidFill>
            <a:srgbClr val="FBE9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D55E00"/>
                </a:solidFill>
                <a:latin typeface="Calibri"/>
              </a:rPr>
              <a:t>The key says 25 °C. Why that cannot be right</a:t>
            </a:r>
          </a:p>
          <a:p>
            <a:pPr algn="l">
              <a:spcAft>
                <a:spcPts val="300"/>
              </a:spcAft>
            </a:pPr>
            <a:r>
              <a:rPr sz="1800" b="0" i="0">
                <a:solidFill>
                  <a:srgbClr val="1F1F1F"/>
                </a:solidFill>
                <a:latin typeface="Calibri"/>
              </a:rPr>
              <a:t>•  </a:t>
            </a:r>
            <a:r>
              <a:rPr sz="1800" b="1" i="0">
                <a:solidFill>
                  <a:srgbClr val="1F1F1F"/>
                </a:solidFill>
                <a:latin typeface="Calibri"/>
              </a:rPr>
              <a:t>Table 1:</a:t>
            </a:r>
            <a:r>
              <a:rPr sz="1800" b="0" i="0">
                <a:solidFill>
                  <a:srgbClr val="1F1F1F"/>
                </a:solidFill>
                <a:latin typeface="Calibri"/>
              </a:rPr>
              <a:t> at 25 °C air holds only ≈ 20.4 g/kg, less than 21.78: oversaturated (RH 107 %).</a:t>
            </a:r>
          </a:p>
          <a:p>
            <a:pPr algn="l">
              <a:spcAft>
                <a:spcPts val="300"/>
              </a:spcAft>
            </a:pPr>
            <a:r>
              <a:rPr sz="1800" b="0" i="0">
                <a:solidFill>
                  <a:srgbClr val="1F1F1F"/>
                </a:solidFill>
                <a:latin typeface="Calibri"/>
              </a:rPr>
              <a:t>•  </a:t>
            </a:r>
            <a:r>
              <a:rPr sz="1800" b="1" i="0">
                <a:solidFill>
                  <a:srgbClr val="1F1F1F"/>
                </a:solidFill>
                <a:latin typeface="Calibri"/>
              </a:rPr>
              <a:t>Graph:</a:t>
            </a:r>
            <a:r>
              <a:rPr sz="1800" b="0" i="0">
                <a:solidFill>
                  <a:srgbClr val="1F1F1F"/>
                </a:solidFill>
                <a:latin typeface="Calibri"/>
              </a:rPr>
              <a:t> the 21.78 g/kg line meets the curve at 26 °C, not 25 °C.</a:t>
            </a:r>
          </a:p>
          <a:p>
            <a:pPr algn="l">
              <a:spcAft>
                <a:spcPts val="300"/>
              </a:spcAft>
            </a:pPr>
            <a:r>
              <a:rPr sz="1800" b="0" i="0">
                <a:solidFill>
                  <a:srgbClr val="1F1F1F"/>
                </a:solidFill>
                <a:latin typeface="Calibri"/>
              </a:rPr>
              <a:t>•  </a:t>
            </a:r>
            <a:r>
              <a:rPr sz="1800" b="1" i="0">
                <a:solidFill>
                  <a:srgbClr val="1F1F1F"/>
                </a:solidFill>
                <a:latin typeface="Calibri"/>
              </a:rPr>
              <a:t>Rule of thumb:</a:t>
            </a:r>
            <a:r>
              <a:rPr sz="1800" b="0" i="0">
                <a:solidFill>
                  <a:srgbClr val="1F1F1F"/>
                </a:solidFill>
                <a:latin typeface="Calibri"/>
              </a:rPr>
              <a:t> RH ≈ 100 − 5(T − T</a:t>
            </a:r>
            <a:r>
              <a:rPr sz="1800" b="0" i="0" baseline="-25000">
                <a:solidFill>
                  <a:srgbClr val="1F1F1F"/>
                </a:solidFill>
                <a:latin typeface="Calibri"/>
              </a:rPr>
              <a:t>d</a:t>
            </a:r>
            <a:r>
              <a:rPr sz="1800" b="0" i="0">
                <a:solidFill>
                  <a:srgbClr val="1F1F1F"/>
                </a:solidFill>
                <a:latin typeface="Calibri"/>
              </a:rPr>
              <a:t>); T</a:t>
            </a:r>
            <a:r>
              <a:rPr sz="1800" b="0" i="0" baseline="-25000">
                <a:solidFill>
                  <a:srgbClr val="1F1F1F"/>
                </a:solidFill>
                <a:latin typeface="Calibri"/>
              </a:rPr>
              <a:t>d</a:t>
            </a:r>
            <a:r>
              <a:rPr sz="1800" b="0" i="0">
                <a:solidFill>
                  <a:srgbClr val="1F1F1F"/>
                </a:solidFill>
                <a:latin typeface="Calibri"/>
              </a:rPr>
              <a:t> = 26 gives 60 % (✓), T</a:t>
            </a:r>
            <a:r>
              <a:rPr sz="1800" b="0" i="0" baseline="-25000">
                <a:solidFill>
                  <a:srgbClr val="1F1F1F"/>
                </a:solidFill>
                <a:latin typeface="Calibri"/>
              </a:rPr>
              <a:t>d</a:t>
            </a:r>
            <a:r>
              <a:rPr sz="1800" b="0" i="0">
                <a:solidFill>
                  <a:srgbClr val="1F1F1F"/>
                </a:solidFill>
                <a:latin typeface="Calibri"/>
              </a:rPr>
              <a:t> = 25 gives 55 %.</a:t>
            </a:r>
          </a:p>
        </p:txBody>
      </p:sp>
      <p:pic>
        <p:nvPicPr>
          <p:cNvPr id="8" name="Picture 7" descr="q6_s4.png"/>
          <p:cNvPicPr>
            <a:picLocks noChangeAspect="1"/>
          </p:cNvPicPr>
          <p:nvPr/>
        </p:nvPicPr>
        <p:blipFill>
          <a:blip r:embed="rId3"/>
          <a:stretch>
            <a:fillRect/>
          </a:stretch>
        </p:blipFill>
        <p:spPr>
          <a:xfrm>
            <a:off x="6217920" y="1870014"/>
            <a:ext cx="5577840" cy="357517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A quick check: the rule of thumb</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41</a:t>
            </a:r>
          </a:p>
        </p:txBody>
      </p:sp>
      <p:sp>
        <p:nvSpPr>
          <p:cNvPr id="6" name="TextBox 5"/>
          <p:cNvSpPr txBox="1"/>
          <p:nvPr/>
        </p:nvSpPr>
        <p:spPr>
          <a:xfrm>
            <a:off x="411480" y="1097280"/>
            <a:ext cx="4754880" cy="2926080"/>
          </a:xfrm>
          <a:prstGeom prst="rect">
            <a:avLst/>
          </a:prstGeom>
          <a:noFill/>
        </p:spPr>
        <p:txBody>
          <a:bodyPr wrap="square" anchor="t" lIns="45720" rIns="45720">
            <a:spAutoFit/>
          </a:bodyPr>
          <a:lstStyle/>
          <a:p>
            <a:pPr algn="l">
              <a:spcAft>
                <a:spcPts val="600"/>
              </a:spcAft>
            </a:pPr>
            <a:r>
              <a:rPr sz="2000" b="0" i="0">
                <a:solidFill>
                  <a:srgbClr val="1F1F1F"/>
                </a:solidFill>
                <a:latin typeface="Calibri"/>
              </a:rPr>
              <a:t>Each degree by which the dew point lies below the temperature lowers RH by about </a:t>
            </a:r>
            <a:r>
              <a:rPr sz="2000" b="1" i="0">
                <a:solidFill>
                  <a:srgbClr val="1F1F1F"/>
                </a:solidFill>
                <a:latin typeface="Calibri"/>
              </a:rPr>
              <a:t>5 %</a:t>
            </a:r>
            <a:r>
              <a:rPr sz="2000" b="0" i="0">
                <a:solidFill>
                  <a:srgbClr val="1F1F1F"/>
                </a:solidFill>
                <a:latin typeface="Calibri"/>
              </a:rPr>
              <a:t>.</a:t>
            </a:r>
          </a:p>
        </p:txBody>
      </p:sp>
      <p:sp>
        <p:nvSpPr>
          <p:cNvPr id="7" name="Rounded Rectangle 6"/>
          <p:cNvSpPr/>
          <p:nvPr/>
        </p:nvSpPr>
        <p:spPr>
          <a:xfrm>
            <a:off x="457200" y="2286000"/>
            <a:ext cx="4572000" cy="109728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Rule of thumb</a:t>
            </a:r>
          </a:p>
          <a:p>
            <a:pPr algn="l">
              <a:spcAft>
                <a:spcPts val="300"/>
              </a:spcAft>
            </a:pPr>
            <a:r>
              <a:rPr sz="2000" b="0" i="0">
                <a:solidFill>
                  <a:srgbClr val="1F1F1F"/>
                </a:solidFill>
                <a:latin typeface="Calibri"/>
              </a:rPr>
              <a:t>RH ≈ 100 − 5 (T − T</a:t>
            </a:r>
            <a:r>
              <a:rPr sz="2000" b="0" i="0" baseline="-25000">
                <a:solidFill>
                  <a:srgbClr val="1F1F1F"/>
                </a:solidFill>
                <a:latin typeface="Calibri"/>
              </a:rPr>
              <a:t>d</a:t>
            </a:r>
            <a:r>
              <a:rPr sz="2000" b="0" i="0">
                <a:solidFill>
                  <a:srgbClr val="1F1F1F"/>
                </a:solidFill>
                <a:latin typeface="Calibri"/>
              </a:rPr>
              <a:t>)</a:t>
            </a:r>
          </a:p>
        </p:txBody>
      </p:sp>
      <p:sp>
        <p:nvSpPr>
          <p:cNvPr id="8" name="TextBox 7"/>
          <p:cNvSpPr txBox="1"/>
          <p:nvPr/>
        </p:nvSpPr>
        <p:spPr>
          <a:xfrm>
            <a:off x="457200" y="3657600"/>
            <a:ext cx="4663440" cy="256032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Air at 80 % is about 4 °C above its dew point; at 50 % about 10 °C.</a:t>
            </a:r>
          </a:p>
          <a:p>
            <a:pPr algn="l">
              <a:spcAft>
                <a:spcPts val="600"/>
              </a:spcAft>
            </a:pPr>
            <a:r>
              <a:rPr sz="1900" b="0" i="0">
                <a:solidFill>
                  <a:srgbClr val="1F1F1F"/>
                </a:solidFill>
                <a:latin typeface="Calibri"/>
              </a:rPr>
              <a:t>Good to a few percent for RH above ≈ 50 %.</a:t>
            </a:r>
          </a:p>
        </p:txBody>
      </p:sp>
      <p:pic>
        <p:nvPicPr>
          <p:cNvPr id="9" name="Picture 8" descr="ch03_02.png"/>
          <p:cNvPicPr>
            <a:picLocks noChangeAspect="1"/>
          </p:cNvPicPr>
          <p:nvPr/>
        </p:nvPicPr>
        <p:blipFill>
          <a:blip r:embed="rId2"/>
          <a:stretch>
            <a:fillRect/>
          </a:stretch>
        </p:blipFill>
        <p:spPr>
          <a:xfrm>
            <a:off x="5303520" y="2116514"/>
            <a:ext cx="6492240" cy="2990731"/>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Below the dew point: what condenses?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42</a:t>
            </a:r>
          </a:p>
        </p:txBody>
      </p:sp>
      <p:sp>
        <p:nvSpPr>
          <p:cNvPr id="6" name="TextBox 5"/>
          <p:cNvSpPr txBox="1"/>
          <p:nvPr/>
        </p:nvSpPr>
        <p:spPr>
          <a:xfrm>
            <a:off x="411480" y="1097280"/>
            <a:ext cx="4754880" cy="502920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Keep cooling the Q6 sample below 26 °C. The glass keeps shrinking, so the surplus must condense:</a:t>
            </a:r>
          </a:p>
          <a:p>
            <a:pPr algn="l">
              <a:spcAft>
                <a:spcPts val="600"/>
              </a:spcAft>
            </a:pPr>
            <a:r>
              <a:rPr sz="1900" b="1" i="0">
                <a:solidFill>
                  <a:srgbClr val="1F1F1F"/>
                </a:solidFill>
                <a:latin typeface="Calibri"/>
              </a:rPr>
              <a:t>condensed water = w − w</a:t>
            </a:r>
            <a:r>
              <a:rPr sz="1900" b="1" i="0" baseline="-25000">
                <a:solidFill>
                  <a:srgbClr val="1F1F1F"/>
                </a:solidFill>
                <a:latin typeface="Calibri"/>
              </a:rPr>
              <a:t>s</a:t>
            </a:r>
            <a:r>
              <a:rPr sz="1900" b="1" i="0">
                <a:solidFill>
                  <a:srgbClr val="1F1F1F"/>
                </a:solidFill>
                <a:latin typeface="Calibri"/>
              </a:rPr>
              <a:t>(T)</a:t>
            </a:r>
          </a:p>
          <a:p>
            <a:pPr algn="l">
              <a:spcAft>
                <a:spcPts val="600"/>
              </a:spcAft>
            </a:pPr>
            <a:r>
              <a:rPr sz="1900" b="0" i="0">
                <a:solidFill>
                  <a:srgbClr val="1F1F1F"/>
                </a:solidFill>
                <a:latin typeface="Calibri"/>
              </a:rPr>
              <a:t>At 20 °C the air holds only 14.956 g/kg as vapour, so 21.78 − 14.956 = </a:t>
            </a:r>
            <a:r>
              <a:rPr sz="1900" b="1" i="0">
                <a:solidFill>
                  <a:srgbClr val="1F1F1F"/>
                </a:solidFill>
                <a:latin typeface="Calibri"/>
              </a:rPr>
              <a:t>6.8 g/kg</a:t>
            </a:r>
            <a:r>
              <a:rPr sz="1900" b="0" i="0">
                <a:solidFill>
                  <a:srgbClr val="1F1F1F"/>
                </a:solidFill>
                <a:latin typeface="Calibri"/>
              </a:rPr>
              <a:t> has become liquid: dew, fog or cloud.</a:t>
            </a:r>
          </a:p>
          <a:p>
            <a:pPr algn="l">
              <a:spcAft>
                <a:spcPts val="600"/>
              </a:spcAft>
            </a:pPr>
            <a:r>
              <a:rPr sz="1900" b="0" i="0">
                <a:solidFill>
                  <a:srgbClr val="1F1F1F"/>
                </a:solidFill>
                <a:latin typeface="Calibri"/>
              </a:rPr>
              <a:t>Condensation releases latent heat, which is why cloud keeps air warmer than it would otherwise be as it cools.</a:t>
            </a:r>
          </a:p>
        </p:txBody>
      </p:sp>
      <p:pic>
        <p:nvPicPr>
          <p:cNvPr id="7" name="Picture 6" descr="ch03_03.png"/>
          <p:cNvPicPr>
            <a:picLocks noChangeAspect="1"/>
          </p:cNvPicPr>
          <p:nvPr/>
        </p:nvPicPr>
        <p:blipFill>
          <a:blip r:embed="rId2"/>
          <a:stretch>
            <a:fillRect/>
          </a:stretch>
        </p:blipFill>
        <p:spPr>
          <a:xfrm>
            <a:off x="5303520" y="2176272"/>
            <a:ext cx="6492240" cy="259689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From dew point to cloud base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43</a:t>
            </a:r>
          </a:p>
        </p:txBody>
      </p:sp>
      <p:sp>
        <p:nvSpPr>
          <p:cNvPr id="6" name="TextBox 5"/>
          <p:cNvSpPr txBox="1"/>
          <p:nvPr/>
        </p:nvSpPr>
        <p:spPr>
          <a:xfrm>
            <a:off x="411480" y="1097280"/>
            <a:ext cx="4846320" cy="5029200"/>
          </a:xfrm>
          <a:prstGeom prst="rect">
            <a:avLst/>
          </a:prstGeom>
          <a:noFill/>
        </p:spPr>
        <p:txBody>
          <a:bodyPr wrap="square" anchor="t" lIns="45720" rIns="45720">
            <a:spAutoFit/>
          </a:bodyPr>
          <a:lstStyle/>
          <a:p>
            <a:pPr algn="l">
              <a:spcAft>
                <a:spcPts val="600"/>
              </a:spcAft>
            </a:pPr>
            <a:r>
              <a:rPr sz="2000" b="0" i="0">
                <a:solidFill>
                  <a:srgbClr val="1F1F1F"/>
                </a:solidFill>
                <a:latin typeface="Calibri"/>
              </a:rPr>
              <a:t>Rising air cools at 9.8 K/km; its dew point falls only 1.8 K/km. The gap closes at 8 K/km:</a:t>
            </a:r>
          </a:p>
          <a:p>
            <a:pPr algn="l">
              <a:spcAft>
                <a:spcPts val="600"/>
              </a:spcAft>
            </a:pPr>
            <a:r>
              <a:rPr sz="2000" b="1" i="0">
                <a:solidFill>
                  <a:srgbClr val="1F1F1F"/>
                </a:solidFill>
                <a:latin typeface="Calibri"/>
              </a:rPr>
              <a:t>cloud base ≈ 125 × (T − T</a:t>
            </a:r>
            <a:r>
              <a:rPr sz="2000" b="1" i="0" baseline="-25000">
                <a:solidFill>
                  <a:srgbClr val="1F1F1F"/>
                </a:solidFill>
                <a:latin typeface="Calibri"/>
              </a:rPr>
              <a:t>d</a:t>
            </a:r>
            <a:r>
              <a:rPr sz="2000" b="1" i="0">
                <a:solidFill>
                  <a:srgbClr val="1F1F1F"/>
                </a:solidFill>
                <a:latin typeface="Calibri"/>
              </a:rPr>
              <a:t>) metres</a:t>
            </a:r>
          </a:p>
          <a:p>
            <a:pPr algn="l">
              <a:spcAft>
                <a:spcPts val="600"/>
              </a:spcAft>
            </a:pPr>
            <a:r>
              <a:rPr sz="2000" b="1" i="0">
                <a:solidFill>
                  <a:srgbClr val="1F1F1F"/>
                </a:solidFill>
                <a:latin typeface="Calibri"/>
              </a:rPr>
              <a:t>Q6 air:</a:t>
            </a:r>
            <a:r>
              <a:rPr sz="2000" b="0" i="0">
                <a:solidFill>
                  <a:srgbClr val="1F1F1F"/>
                </a:solidFill>
                <a:latin typeface="Calibri"/>
              </a:rPr>
              <a:t> T − T</a:t>
            </a:r>
            <a:r>
              <a:rPr sz="2000" b="0" i="0" baseline="-25000">
                <a:solidFill>
                  <a:srgbClr val="1F1F1F"/>
                </a:solidFill>
                <a:latin typeface="Calibri"/>
              </a:rPr>
              <a:t>d</a:t>
            </a:r>
            <a:r>
              <a:rPr sz="2000" b="0" i="0">
                <a:solidFill>
                  <a:srgbClr val="1F1F1F"/>
                </a:solidFill>
                <a:latin typeface="Calibri"/>
              </a:rPr>
              <a:t> = 8 °C → cloud base ≈ </a:t>
            </a:r>
            <a:r>
              <a:rPr sz="2000" b="1" i="0">
                <a:solidFill>
                  <a:srgbClr val="1F1F1F"/>
                </a:solidFill>
                <a:latin typeface="Calibri"/>
              </a:rPr>
              <a:t>1 000 m</a:t>
            </a:r>
            <a:r>
              <a:rPr sz="2000" b="0" i="0">
                <a:solidFill>
                  <a:srgbClr val="1F1F1F"/>
                </a:solidFill>
                <a:latin typeface="Calibri"/>
              </a:rPr>
              <a:t>.</a:t>
            </a:r>
          </a:p>
          <a:p>
            <a:pPr algn="l">
              <a:spcAft>
                <a:spcPts val="600"/>
              </a:spcAft>
            </a:pPr>
            <a:r>
              <a:rPr sz="2000" b="1" i="0">
                <a:solidFill>
                  <a:srgbClr val="1F1F1F"/>
                </a:solidFill>
                <a:latin typeface="Calibri"/>
              </a:rPr>
              <a:t>A day with T = 30 °C, T</a:t>
            </a:r>
            <a:r>
              <a:rPr sz="2000" b="1" i="0" baseline="-25000">
                <a:solidFill>
                  <a:srgbClr val="1F1F1F"/>
                </a:solidFill>
                <a:latin typeface="Calibri"/>
              </a:rPr>
              <a:t>d</a:t>
            </a:r>
            <a:r>
              <a:rPr sz="2000" b="1" i="0">
                <a:solidFill>
                  <a:srgbClr val="1F1F1F"/>
                </a:solidFill>
                <a:latin typeface="Calibri"/>
              </a:rPr>
              <a:t> = 18 °C:</a:t>
            </a:r>
            <a:r>
              <a:rPr sz="2000" b="0" i="0">
                <a:solidFill>
                  <a:srgbClr val="1F1F1F"/>
                </a:solidFill>
                <a:latin typeface="Calibri"/>
              </a:rPr>
              <a:t> gap 12 °C → about </a:t>
            </a:r>
            <a:r>
              <a:rPr sz="2000" b="1" i="0">
                <a:solidFill>
                  <a:srgbClr val="1F1F1F"/>
                </a:solidFill>
                <a:latin typeface="Calibri"/>
              </a:rPr>
              <a:t>1 500 m</a:t>
            </a:r>
            <a:r>
              <a:rPr sz="2000" b="0" i="0">
                <a:solidFill>
                  <a:srgbClr val="1F1F1F"/>
                </a:solidFill>
                <a:latin typeface="Calibri"/>
              </a:rPr>
              <a:t>.</a:t>
            </a:r>
          </a:p>
        </p:txBody>
      </p:sp>
      <p:pic>
        <p:nvPicPr>
          <p:cNvPr id="7" name="Picture 6" descr="ch03_01.png"/>
          <p:cNvPicPr>
            <a:picLocks noChangeAspect="1"/>
          </p:cNvPicPr>
          <p:nvPr/>
        </p:nvPicPr>
        <p:blipFill>
          <a:blip r:embed="rId2"/>
          <a:stretch>
            <a:fillRect/>
          </a:stretch>
        </p:blipFill>
        <p:spPr>
          <a:xfrm>
            <a:off x="5394960" y="1664260"/>
            <a:ext cx="6400800" cy="3986678"/>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B: try it yourself</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44</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6B6B6B"/>
                </a:solidFill>
                <a:latin typeface="Calibri"/>
              </a:rPr>
              <a:t>Practice Set B</a:t>
            </a:r>
          </a:p>
          <a:p>
            <a:pPr algn="l">
              <a:spcAft>
                <a:spcPts val="1200"/>
              </a:spcAft>
            </a:pPr>
            <a:r>
              <a:rPr sz="2400" b="1" i="0">
                <a:solidFill>
                  <a:srgbClr val="1F1F1F"/>
                </a:solidFill>
                <a:latin typeface="Calibri"/>
              </a:rPr>
              <a:t>B1.</a:t>
            </a:r>
            <a:r>
              <a:rPr sz="2400" b="0" i="0">
                <a:solidFill>
                  <a:srgbClr val="1F1F1F"/>
                </a:solidFill>
                <a:latin typeface="Calibri"/>
              </a:rPr>
              <a:t>  30 °C air, mixing ratio 12 g/kg: dew point (a) by Table 1, (b) by rule of thumb.</a:t>
            </a:r>
          </a:p>
          <a:p>
            <a:pPr algn="l">
              <a:spcAft>
                <a:spcPts val="1200"/>
              </a:spcAft>
            </a:pPr>
            <a:r>
              <a:rPr sz="2400" b="1" i="0">
                <a:solidFill>
                  <a:srgbClr val="1F1F1F"/>
                </a:solidFill>
                <a:latin typeface="Calibri"/>
              </a:rPr>
              <a:t>B2.</a:t>
            </a:r>
            <a:r>
              <a:rPr sz="2400" b="0" i="0">
                <a:solidFill>
                  <a:srgbClr val="1F1F1F"/>
                </a:solidFill>
                <a:latin typeface="Calibri"/>
              </a:rPr>
              <a:t>  20 °C, RH 50 %: dew point?</a:t>
            </a:r>
          </a:p>
          <a:p>
            <a:pPr algn="l">
              <a:spcAft>
                <a:spcPts val="1200"/>
              </a:spcAft>
            </a:pPr>
            <a:r>
              <a:rPr sz="2400" b="1" i="0">
                <a:solidFill>
                  <a:srgbClr val="1F1F1F"/>
                </a:solidFill>
                <a:latin typeface="Calibri"/>
              </a:rPr>
              <a:t>B3.</a:t>
            </a:r>
            <a:r>
              <a:rPr sz="2400" b="0" i="0">
                <a:solidFill>
                  <a:srgbClr val="1F1F1F"/>
                </a:solidFill>
                <a:latin typeface="Calibri"/>
              </a:rPr>
              <a:t>  28 °C, RH 40 %. Overnight it cools to 12 °C. Does dew form?</a:t>
            </a:r>
          </a:p>
          <a:p>
            <a:pPr algn="l">
              <a:spcAft>
                <a:spcPts val="1200"/>
              </a:spcAft>
            </a:pPr>
            <a:r>
              <a:rPr sz="2400" b="1" i="0">
                <a:solidFill>
                  <a:srgbClr val="1F1F1F"/>
                </a:solidFill>
                <a:latin typeface="Calibri"/>
              </a:rPr>
              <a:t>B4.</a:t>
            </a:r>
            <a:r>
              <a:rPr sz="2400" b="0" i="0">
                <a:solidFill>
                  <a:srgbClr val="1F1F1F"/>
                </a:solidFill>
                <a:latin typeface="Calibri"/>
              </a:rPr>
              <a:t>  Cloud base for T = 30 °C, T</a:t>
            </a:r>
            <a:r>
              <a:rPr sz="2400" b="0" i="0" baseline="-25000">
                <a:solidFill>
                  <a:srgbClr val="1F1F1F"/>
                </a:solidFill>
                <a:latin typeface="Calibri"/>
              </a:rPr>
              <a:t>d</a:t>
            </a:r>
            <a:r>
              <a:rPr sz="2400" b="0" i="0">
                <a:solidFill>
                  <a:srgbClr val="1F1F1F"/>
                </a:solidFill>
                <a:latin typeface="Calibri"/>
              </a:rPr>
              <a:t> = 18 °C?</a:t>
            </a:r>
          </a:p>
          <a:p>
            <a:pPr algn="l">
              <a:spcAft>
                <a:spcPts val="1200"/>
              </a:spcAft>
            </a:pPr>
            <a:r>
              <a:rPr sz="2400" b="1" i="0">
                <a:solidFill>
                  <a:srgbClr val="1F1F1F"/>
                </a:solidFill>
                <a:latin typeface="Calibri"/>
              </a:rPr>
              <a:t>B5.</a:t>
            </a:r>
            <a:r>
              <a:rPr sz="2400" b="0" i="0">
                <a:solidFill>
                  <a:srgbClr val="1F1F1F"/>
                </a:solidFill>
                <a:latin typeface="Calibri"/>
              </a:rPr>
              <a:t>  25 °C air with dew point 15 °C: mixing ratio and RH?</a:t>
            </a:r>
          </a:p>
          <a:p>
            <a:pPr algn="l">
              <a:spcAft>
                <a:spcPts val="1200"/>
              </a:spcAft>
            </a:pPr>
            <a:r>
              <a:rPr sz="2400" b="1" i="0">
                <a:solidFill>
                  <a:srgbClr val="1F1F1F"/>
                </a:solidFill>
                <a:latin typeface="Calibri"/>
              </a:rPr>
              <a:t>B6.</a:t>
            </a:r>
            <a:r>
              <a:rPr sz="2400" b="0" i="0">
                <a:solidFill>
                  <a:srgbClr val="1F1F1F"/>
                </a:solidFill>
                <a:latin typeface="Calibri"/>
              </a:rPr>
              <a:t>  The Q6 sample cooled to 20 °C: how much liquid water forms?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B: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 · Moisture · Dew point</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45</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007F5F"/>
                </a:solidFill>
                <a:latin typeface="Calibri"/>
              </a:rPr>
              <a:t>Answers</a:t>
            </a:r>
          </a:p>
          <a:p>
            <a:pPr algn="l">
              <a:spcAft>
                <a:spcPts val="1200"/>
              </a:spcAft>
            </a:pPr>
            <a:r>
              <a:rPr sz="2400" b="1" i="0">
                <a:solidFill>
                  <a:srgbClr val="1F1F1F"/>
                </a:solidFill>
                <a:latin typeface="Calibri"/>
              </a:rPr>
              <a:t>B1.</a:t>
            </a:r>
            <a:r>
              <a:rPr sz="2400" b="0" i="0">
                <a:solidFill>
                  <a:srgbClr val="1F1F1F"/>
                </a:solidFill>
                <a:latin typeface="Calibri"/>
              </a:rPr>
              <a:t>  (a) 16 °C holds 11.56, 18 °C holds 13.162 → T</a:t>
            </a:r>
            <a:r>
              <a:rPr sz="2400" b="0" i="0" baseline="-25000">
                <a:solidFill>
                  <a:srgbClr val="1F1F1F"/>
                </a:solidFill>
                <a:latin typeface="Calibri"/>
              </a:rPr>
              <a:t>d</a:t>
            </a:r>
            <a:r>
              <a:rPr sz="2400" b="0" i="0">
                <a:solidFill>
                  <a:srgbClr val="1F1F1F"/>
                </a:solidFill>
                <a:latin typeface="Calibri"/>
              </a:rPr>
              <a:t> = 16 + 2(12 − 11.56)/1.602 = </a:t>
            </a:r>
            <a:r>
              <a:rPr sz="2400" b="1" i="0">
                <a:solidFill>
                  <a:srgbClr val="007F5F"/>
                </a:solidFill>
                <a:latin typeface="Calibri"/>
              </a:rPr>
              <a:t>16.6 °C</a:t>
            </a:r>
            <a:r>
              <a:rPr sz="2400" b="0" i="0">
                <a:solidFill>
                  <a:srgbClr val="1F1F1F"/>
                </a:solidFill>
                <a:latin typeface="Calibri"/>
              </a:rPr>
              <a:t>.  (b) RH = 43 %, so T − T</a:t>
            </a:r>
            <a:r>
              <a:rPr sz="2400" b="0" i="0" baseline="-25000">
                <a:solidFill>
                  <a:srgbClr val="1F1F1F"/>
                </a:solidFill>
                <a:latin typeface="Calibri"/>
              </a:rPr>
              <a:t>d</a:t>
            </a:r>
            <a:r>
              <a:rPr sz="2400" b="0" i="0">
                <a:solidFill>
                  <a:srgbClr val="1F1F1F"/>
                </a:solidFill>
                <a:latin typeface="Calibri"/>
              </a:rPr>
              <a:t> ≈ 11.4 → 18.6 °C (rough).</a:t>
            </a:r>
          </a:p>
          <a:p>
            <a:pPr algn="l">
              <a:spcAft>
                <a:spcPts val="1200"/>
              </a:spcAft>
            </a:pPr>
            <a:r>
              <a:rPr sz="2400" b="1" i="0">
                <a:solidFill>
                  <a:srgbClr val="1F1F1F"/>
                </a:solidFill>
                <a:latin typeface="Calibri"/>
              </a:rPr>
              <a:t>B2.</a:t>
            </a:r>
            <a:r>
              <a:rPr sz="2400" b="0" i="0">
                <a:solidFill>
                  <a:srgbClr val="1F1F1F"/>
                </a:solidFill>
                <a:latin typeface="Calibri"/>
              </a:rPr>
              <a:t>  w = 0.5 × 14.956 = 7.478 g/kg; 8 °C holds 6.771, 10 °C holds 7.762 → T</a:t>
            </a:r>
            <a:r>
              <a:rPr sz="2400" b="0" i="0" baseline="-25000">
                <a:solidFill>
                  <a:srgbClr val="1F1F1F"/>
                </a:solidFill>
                <a:latin typeface="Calibri"/>
              </a:rPr>
              <a:t>d</a:t>
            </a:r>
            <a:r>
              <a:rPr sz="2400" b="0" i="0">
                <a:solidFill>
                  <a:srgbClr val="1F1F1F"/>
                </a:solidFill>
                <a:latin typeface="Calibri"/>
              </a:rPr>
              <a:t> = </a:t>
            </a:r>
            <a:r>
              <a:rPr sz="2400" b="1" i="0">
                <a:solidFill>
                  <a:srgbClr val="007F5F"/>
                </a:solidFill>
                <a:latin typeface="Calibri"/>
              </a:rPr>
              <a:t>9.4 °C</a:t>
            </a:r>
            <a:r>
              <a:rPr sz="2400" b="0" i="0">
                <a:solidFill>
                  <a:srgbClr val="1F1F1F"/>
                </a:solidFill>
                <a:latin typeface="Calibri"/>
              </a:rPr>
              <a:t>.</a:t>
            </a:r>
          </a:p>
          <a:p>
            <a:pPr algn="l">
              <a:spcAft>
                <a:spcPts val="1200"/>
              </a:spcAft>
            </a:pPr>
            <a:r>
              <a:rPr sz="2400" b="1" i="0">
                <a:solidFill>
                  <a:srgbClr val="1F1F1F"/>
                </a:solidFill>
                <a:latin typeface="Calibri"/>
              </a:rPr>
              <a:t>B3.</a:t>
            </a:r>
            <a:r>
              <a:rPr sz="2400" b="0" i="0">
                <a:solidFill>
                  <a:srgbClr val="1F1F1F"/>
                </a:solidFill>
                <a:latin typeface="Calibri"/>
              </a:rPr>
              <a:t>  w = 0.40 × 24.557 = 9.82 g/kg &gt; 8.882 (capacity at 12 °C): </a:t>
            </a:r>
            <a:r>
              <a:rPr sz="2400" b="1" i="0">
                <a:solidFill>
                  <a:srgbClr val="007F5F"/>
                </a:solidFill>
                <a:latin typeface="Calibri"/>
              </a:rPr>
              <a:t>yes, dew forms</a:t>
            </a:r>
            <a:r>
              <a:rPr sz="2400" b="0" i="0">
                <a:solidFill>
                  <a:srgbClr val="1F1F1F"/>
                </a:solidFill>
                <a:latin typeface="Calibri"/>
              </a:rPr>
              <a:t>, once the air cools through 13.5 °C.</a:t>
            </a:r>
          </a:p>
          <a:p>
            <a:pPr algn="l">
              <a:spcAft>
                <a:spcPts val="1200"/>
              </a:spcAft>
            </a:pPr>
            <a:r>
              <a:rPr sz="2400" b="1" i="0">
                <a:solidFill>
                  <a:srgbClr val="1F1F1F"/>
                </a:solidFill>
                <a:latin typeface="Calibri"/>
              </a:rPr>
              <a:t>B4.</a:t>
            </a:r>
            <a:r>
              <a:rPr sz="2400" b="0" i="0">
                <a:solidFill>
                  <a:srgbClr val="1F1F1F"/>
                </a:solidFill>
                <a:latin typeface="Calibri"/>
              </a:rPr>
              <a:t>  125 × (30 − 18) = </a:t>
            </a:r>
            <a:r>
              <a:rPr sz="2400" b="1" i="0">
                <a:solidFill>
                  <a:srgbClr val="007F5F"/>
                </a:solidFill>
                <a:latin typeface="Calibri"/>
              </a:rPr>
              <a:t>1 500 m</a:t>
            </a:r>
            <a:r>
              <a:rPr sz="2400" b="0" i="0">
                <a:solidFill>
                  <a:srgbClr val="1F1F1F"/>
                </a:solidFill>
                <a:latin typeface="Calibri"/>
              </a:rPr>
              <a:t>.</a:t>
            </a:r>
          </a:p>
          <a:p>
            <a:pPr algn="l">
              <a:spcAft>
                <a:spcPts val="1200"/>
              </a:spcAft>
            </a:pPr>
            <a:r>
              <a:rPr sz="2400" b="1" i="0">
                <a:solidFill>
                  <a:srgbClr val="1F1F1F"/>
                </a:solidFill>
                <a:latin typeface="Calibri"/>
              </a:rPr>
              <a:t>B5.</a:t>
            </a:r>
            <a:r>
              <a:rPr sz="2400" b="0" i="0">
                <a:solidFill>
                  <a:srgbClr val="1F1F1F"/>
                </a:solidFill>
                <a:latin typeface="Calibri"/>
              </a:rPr>
              <a:t>  w = w</a:t>
            </a:r>
            <a:r>
              <a:rPr sz="2400" b="0" i="0" baseline="-25000">
                <a:solidFill>
                  <a:srgbClr val="1F1F1F"/>
                </a:solidFill>
                <a:latin typeface="Calibri"/>
              </a:rPr>
              <a:t>s</a:t>
            </a:r>
            <a:r>
              <a:rPr sz="2400" b="0" i="0">
                <a:solidFill>
                  <a:srgbClr val="1F1F1F"/>
                </a:solidFill>
                <a:latin typeface="Calibri"/>
              </a:rPr>
              <a:t>(15 °C) = 10.83 g/kg; w</a:t>
            </a:r>
            <a:r>
              <a:rPr sz="2400" b="0" i="0" baseline="-25000">
                <a:solidFill>
                  <a:srgbClr val="1F1F1F"/>
                </a:solidFill>
                <a:latin typeface="Calibri"/>
              </a:rPr>
              <a:t>s</a:t>
            </a:r>
            <a:r>
              <a:rPr sz="2400" b="0" i="0">
                <a:solidFill>
                  <a:srgbClr val="1F1F1F"/>
                </a:solidFill>
                <a:latin typeface="Calibri"/>
              </a:rPr>
              <a:t>(25) = 20.44 → RH = </a:t>
            </a:r>
            <a:r>
              <a:rPr sz="2400" b="1" i="0">
                <a:solidFill>
                  <a:srgbClr val="007F5F"/>
                </a:solidFill>
                <a:latin typeface="Calibri"/>
              </a:rPr>
              <a:t>53 %</a:t>
            </a:r>
            <a:r>
              <a:rPr sz="2400" b="0" i="0">
                <a:solidFill>
                  <a:srgbClr val="1F1F1F"/>
                </a:solidFill>
                <a:latin typeface="Calibri"/>
              </a:rPr>
              <a:t>.</a:t>
            </a:r>
          </a:p>
          <a:p>
            <a:pPr algn="l">
              <a:spcAft>
                <a:spcPts val="1200"/>
              </a:spcAft>
            </a:pPr>
            <a:r>
              <a:rPr sz="2400" b="1" i="0">
                <a:solidFill>
                  <a:srgbClr val="1F1F1F"/>
                </a:solidFill>
                <a:latin typeface="Calibri"/>
              </a:rPr>
              <a:t>B6.</a:t>
            </a:r>
            <a:r>
              <a:rPr sz="2400" b="0" i="0">
                <a:solidFill>
                  <a:srgbClr val="1F1F1F"/>
                </a:solidFill>
                <a:latin typeface="Calibri"/>
              </a:rPr>
              <a:t>  21.78 − 14.956 = </a:t>
            </a:r>
            <a:r>
              <a:rPr sz="2400" b="1" i="0">
                <a:solidFill>
                  <a:srgbClr val="007F5F"/>
                </a:solidFill>
                <a:latin typeface="Calibri"/>
              </a:rPr>
              <a:t>6.8 g/kg</a:t>
            </a:r>
            <a:r>
              <a:rPr sz="2400" b="0" i="0">
                <a:solidFill>
                  <a:srgbClr val="1F1F1F"/>
                </a:solidFill>
                <a:latin typeface="Calibri"/>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743200"/>
            <a:ext cx="1280160" cy="822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1188720"/>
          </a:xfrm>
          <a:prstGeom prst="rect">
            <a:avLst/>
          </a:prstGeom>
          <a:noFill/>
        </p:spPr>
        <p:txBody>
          <a:bodyPr wrap="square">
            <a:spAutoFit/>
          </a:bodyPr>
          <a:lstStyle/>
          <a:p>
            <a:r>
              <a:rPr sz="4400" b="1" i="0">
                <a:solidFill>
                  <a:srgbClr val="FFFFFF"/>
                </a:solidFill>
                <a:latin typeface="Calibri"/>
              </a:rPr>
              <a:t>Part II: Atmospheric motion</a:t>
            </a:r>
          </a:p>
        </p:txBody>
      </p:sp>
      <p:sp>
        <p:nvSpPr>
          <p:cNvPr id="5" name="TextBox 4"/>
          <p:cNvSpPr txBox="1"/>
          <p:nvPr/>
        </p:nvSpPr>
        <p:spPr>
          <a:xfrm>
            <a:off x="731520" y="3017520"/>
            <a:ext cx="10515600" cy="2286000"/>
          </a:xfrm>
          <a:prstGeom prst="rect">
            <a:avLst/>
          </a:prstGeom>
          <a:noFill/>
        </p:spPr>
        <p:txBody>
          <a:bodyPr wrap="square">
            <a:spAutoFit/>
          </a:bodyPr>
          <a:lstStyle/>
          <a:p>
            <a:pPr>
              <a:spcAft>
                <a:spcPts val="600"/>
              </a:spcAft>
            </a:pPr>
            <a:r>
              <a:rPr sz="2200" b="0" i="0">
                <a:solidFill>
                  <a:srgbClr val="CFDDEE"/>
                </a:solidFill>
                <a:latin typeface="Calibri"/>
              </a:rPr>
              <a:t>Why the air moves, and why it moves the way it does</a:t>
            </a:r>
          </a:p>
          <a:p>
            <a:pPr>
              <a:spcAft>
                <a:spcPts val="600"/>
              </a:spcAft>
            </a:pPr>
            <a:r>
              <a:rPr sz="2200" b="0" i="0">
                <a:solidFill>
                  <a:srgbClr val="CFDDEE"/>
                </a:solidFill>
                <a:latin typeface="Calibri"/>
              </a:rPr>
              <a:t>Motion Q1 to Q11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Three forces move the air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Motion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47</a:t>
            </a:r>
          </a:p>
        </p:txBody>
      </p:sp>
      <p:sp>
        <p:nvSpPr>
          <p:cNvPr id="6" name="TextBox 5"/>
          <p:cNvSpPr txBox="1"/>
          <p:nvPr/>
        </p:nvSpPr>
        <p:spPr>
          <a:xfrm>
            <a:off x="411480" y="1097280"/>
            <a:ext cx="5120640" cy="5120640"/>
          </a:xfrm>
          <a:prstGeom prst="rect">
            <a:avLst/>
          </a:prstGeom>
          <a:noFill/>
        </p:spPr>
        <p:txBody>
          <a:bodyPr wrap="square" anchor="t" lIns="45720" rIns="45720">
            <a:spAutoFit/>
          </a:bodyPr>
          <a:lstStyle/>
          <a:p>
            <a:pPr algn="l">
              <a:spcAft>
                <a:spcPts val="600"/>
              </a:spcAft>
            </a:pPr>
            <a:r>
              <a:rPr sz="2000" b="0" i="0">
                <a:solidFill>
                  <a:srgbClr val="1F1F1F"/>
                </a:solidFill>
                <a:latin typeface="Calibri"/>
              </a:rPr>
              <a:t>Wind is moving air, so </a:t>
            </a:r>
            <a:r>
              <a:rPr sz="2000" b="1" i="0">
                <a:solidFill>
                  <a:srgbClr val="1F1F1F"/>
                </a:solidFill>
                <a:latin typeface="Calibri"/>
              </a:rPr>
              <a:t>forces</a:t>
            </a:r>
            <a:r>
              <a:rPr sz="2000" b="0" i="0">
                <a:solidFill>
                  <a:srgbClr val="1F1F1F"/>
                </a:solidFill>
                <a:latin typeface="Calibri"/>
              </a:rPr>
              <a:t> act on it. Per unit mass, three horizontal forces matter:</a:t>
            </a:r>
          </a:p>
          <a:p>
            <a:pPr algn="l">
              <a:spcAft>
                <a:spcPts val="600"/>
              </a:spcAft>
            </a:pPr>
            <a:r>
              <a:rPr sz="2000" b="0" i="0">
                <a:solidFill>
                  <a:srgbClr val="1F1F1F"/>
                </a:solidFill>
                <a:latin typeface="Calibri"/>
              </a:rPr>
              <a:t>•  </a:t>
            </a:r>
            <a:r>
              <a:rPr sz="2000" b="1" i="0">
                <a:solidFill>
                  <a:srgbClr val="D55E00"/>
                </a:solidFill>
                <a:latin typeface="Calibri"/>
              </a:rPr>
              <a:t>Pressure gradient force</a:t>
            </a:r>
            <a:r>
              <a:rPr sz="2000" b="0" i="0">
                <a:solidFill>
                  <a:srgbClr val="1F1F1F"/>
                </a:solidFill>
                <a:latin typeface="Calibri"/>
              </a:rPr>
              <a:t>: starts the air moving, from high to low pressure</a:t>
            </a:r>
          </a:p>
          <a:p>
            <a:pPr algn="l">
              <a:spcAft>
                <a:spcPts val="600"/>
              </a:spcAft>
            </a:pPr>
            <a:r>
              <a:rPr sz="2000" b="0" i="0">
                <a:solidFill>
                  <a:srgbClr val="1F1F1F"/>
                </a:solidFill>
                <a:latin typeface="Calibri"/>
              </a:rPr>
              <a:t>•  </a:t>
            </a:r>
            <a:r>
              <a:rPr sz="2000" b="1" i="0">
                <a:solidFill>
                  <a:srgbClr val="0072B2"/>
                </a:solidFill>
                <a:latin typeface="Calibri"/>
              </a:rPr>
              <a:t>Coriolis force</a:t>
            </a:r>
            <a:r>
              <a:rPr sz="2000" b="0" i="0">
                <a:solidFill>
                  <a:srgbClr val="1F1F1F"/>
                </a:solidFill>
                <a:latin typeface="Calibri"/>
              </a:rPr>
              <a:t>: steers it, at right angles to the motion</a:t>
            </a:r>
          </a:p>
          <a:p>
            <a:pPr algn="l">
              <a:spcAft>
                <a:spcPts val="600"/>
              </a:spcAft>
            </a:pPr>
            <a:r>
              <a:rPr sz="2000" b="0" i="0">
                <a:solidFill>
                  <a:srgbClr val="1F1F1F"/>
                </a:solidFill>
                <a:latin typeface="Calibri"/>
              </a:rPr>
              <a:t>•  </a:t>
            </a:r>
            <a:r>
              <a:rPr sz="2000" b="1" i="0">
                <a:solidFill>
                  <a:srgbClr val="007F5F"/>
                </a:solidFill>
                <a:latin typeface="Calibri"/>
              </a:rPr>
              <a:t>Friction</a:t>
            </a:r>
            <a:r>
              <a:rPr sz="2000" b="0" i="0">
                <a:solidFill>
                  <a:srgbClr val="1F1F1F"/>
                </a:solidFill>
                <a:latin typeface="Calibri"/>
              </a:rPr>
              <a:t>: slows it near the ground, against the wind</a:t>
            </a:r>
          </a:p>
          <a:p>
            <a:pPr algn="l">
              <a:spcAft>
                <a:spcPts val="600"/>
              </a:spcAft>
            </a:pPr>
            <a:r>
              <a:rPr sz="2000" b="0" i="0">
                <a:solidFill>
                  <a:srgbClr val="1F1F1F"/>
                </a:solidFill>
                <a:latin typeface="Calibri"/>
              </a:rPr>
              <a:t>If the three add up to zero the wind is </a:t>
            </a:r>
            <a:r>
              <a:rPr sz="2000" b="1" i="0">
                <a:solidFill>
                  <a:srgbClr val="1F1F1F"/>
                </a:solidFill>
                <a:latin typeface="Calibri"/>
              </a:rPr>
              <a:t>steady</a:t>
            </a:r>
            <a:r>
              <a:rPr sz="2000" b="0" i="0">
                <a:solidFill>
                  <a:srgbClr val="1F1F1F"/>
                </a:solidFill>
                <a:latin typeface="Calibri"/>
              </a:rPr>
              <a:t>. All of Part II is about what happens when they do.</a:t>
            </a:r>
          </a:p>
        </p:txBody>
      </p:sp>
      <p:pic>
        <p:nvPicPr>
          <p:cNvPr id="7" name="Picture 6" descr="ch04_06.png"/>
          <p:cNvPicPr>
            <a:picLocks noChangeAspect="1"/>
          </p:cNvPicPr>
          <p:nvPr/>
        </p:nvPicPr>
        <p:blipFill>
          <a:blip r:embed="rId3"/>
          <a:stretch>
            <a:fillRect/>
          </a:stretch>
        </p:blipFill>
        <p:spPr>
          <a:xfrm>
            <a:off x="5669280" y="2684560"/>
            <a:ext cx="6126480" cy="1763199"/>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Pressure falls with height</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Motion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48</a:t>
            </a:r>
          </a:p>
        </p:txBody>
      </p:sp>
      <p:sp>
        <p:nvSpPr>
          <p:cNvPr id="6" name="TextBox 5"/>
          <p:cNvSpPr txBox="1"/>
          <p:nvPr/>
        </p:nvSpPr>
        <p:spPr>
          <a:xfrm>
            <a:off x="411480" y="1097280"/>
            <a:ext cx="4846320" cy="5120640"/>
          </a:xfrm>
          <a:prstGeom prst="rect">
            <a:avLst/>
          </a:prstGeom>
          <a:noFill/>
        </p:spPr>
        <p:txBody>
          <a:bodyPr wrap="square" anchor="t" lIns="45720" rIns="45720">
            <a:spAutoFit/>
          </a:bodyPr>
          <a:lstStyle/>
          <a:p>
            <a:pPr algn="l">
              <a:spcAft>
                <a:spcPts val="600"/>
              </a:spcAft>
            </a:pPr>
            <a:r>
              <a:rPr sz="2000" b="0" i="0">
                <a:solidFill>
                  <a:srgbClr val="1F1F1F"/>
                </a:solidFill>
                <a:latin typeface="Calibri"/>
              </a:rPr>
              <a:t>Pressure is the weight of the air above. Climb, and there is less air above you:</a:t>
            </a:r>
          </a:p>
          <a:p>
            <a:pPr algn="l">
              <a:spcAft>
                <a:spcPts val="600"/>
              </a:spcAft>
            </a:pPr>
            <a:r>
              <a:rPr sz="2000" b="0" i="0">
                <a:solidFill>
                  <a:srgbClr val="1F1F1F"/>
                </a:solidFill>
                <a:latin typeface="Calibri"/>
              </a:rPr>
              <a:t>•  1013 hPa at sea level</a:t>
            </a:r>
          </a:p>
          <a:p>
            <a:pPr algn="l">
              <a:spcAft>
                <a:spcPts val="600"/>
              </a:spcAft>
            </a:pPr>
            <a:r>
              <a:rPr sz="2000" b="0" i="0">
                <a:solidFill>
                  <a:srgbClr val="1F1F1F"/>
                </a:solidFill>
                <a:latin typeface="Calibri"/>
              </a:rPr>
              <a:t>•  500 hPa at ≈ 5.5 km (half the atmosphere's mass lies below)</a:t>
            </a:r>
          </a:p>
          <a:p>
            <a:pPr algn="l">
              <a:spcAft>
                <a:spcPts val="600"/>
              </a:spcAft>
            </a:pPr>
            <a:r>
              <a:rPr sz="2000" b="0" i="0">
                <a:solidFill>
                  <a:srgbClr val="1F1F1F"/>
                </a:solidFill>
                <a:latin typeface="Calibri"/>
              </a:rPr>
              <a:t>•  300 hPa at ≈ 9 km</a:t>
            </a:r>
          </a:p>
          <a:p>
            <a:pPr algn="l">
              <a:spcAft>
                <a:spcPts val="600"/>
              </a:spcAft>
            </a:pPr>
            <a:r>
              <a:rPr sz="2000" b="0" i="0">
                <a:solidFill>
                  <a:srgbClr val="1F1F1F"/>
                </a:solidFill>
                <a:latin typeface="Calibri"/>
              </a:rPr>
              <a:t>The sheet's levels (850, 500, 300 hPa) are at about 1.5, 5.5 and 9 km.</a:t>
            </a:r>
          </a:p>
        </p:txBody>
      </p:sp>
      <p:pic>
        <p:nvPicPr>
          <p:cNvPr id="7" name="Picture 6" descr="ch04_01.png"/>
          <p:cNvPicPr>
            <a:picLocks noChangeAspect="1"/>
          </p:cNvPicPr>
          <p:nvPr/>
        </p:nvPicPr>
        <p:blipFill>
          <a:blip r:embed="rId2"/>
          <a:stretch>
            <a:fillRect/>
          </a:stretch>
        </p:blipFill>
        <p:spPr>
          <a:xfrm>
            <a:off x="5394960" y="1661561"/>
            <a:ext cx="6400799" cy="3992077"/>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pressure gradient force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Motion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49</a:t>
            </a:r>
          </a:p>
        </p:txBody>
      </p:sp>
      <p:sp>
        <p:nvSpPr>
          <p:cNvPr id="6" name="TextBox 5"/>
          <p:cNvSpPr txBox="1"/>
          <p:nvPr/>
        </p:nvSpPr>
        <p:spPr>
          <a:xfrm>
            <a:off x="411480" y="1097280"/>
            <a:ext cx="5120640" cy="2743200"/>
          </a:xfrm>
          <a:prstGeom prst="rect">
            <a:avLst/>
          </a:prstGeom>
          <a:noFill/>
        </p:spPr>
        <p:txBody>
          <a:bodyPr wrap="square" anchor="t" lIns="45720" rIns="45720">
            <a:spAutoFit/>
          </a:bodyPr>
          <a:lstStyle/>
          <a:p>
            <a:pPr algn="l">
              <a:spcAft>
                <a:spcPts val="600"/>
              </a:spcAft>
            </a:pPr>
            <a:r>
              <a:rPr sz="2000" b="0" i="0">
                <a:solidFill>
                  <a:srgbClr val="1F1F1F"/>
                </a:solidFill>
                <a:latin typeface="Calibri"/>
              </a:rPr>
              <a:t>Air is pushed from high to low pressure.</a:t>
            </a:r>
          </a:p>
          <a:p>
            <a:pPr algn="l">
              <a:spcAft>
                <a:spcPts val="600"/>
              </a:spcAft>
            </a:pPr>
            <a:r>
              <a:rPr sz="2000" b="0" i="0">
                <a:solidFill>
                  <a:srgbClr val="1F1F1F"/>
                </a:solidFill>
                <a:latin typeface="Calibri"/>
              </a:rPr>
              <a:t>•  </a:t>
            </a:r>
            <a:r>
              <a:rPr sz="2000" b="1" i="0">
                <a:solidFill>
                  <a:srgbClr val="1F1F1F"/>
                </a:solidFill>
                <a:latin typeface="Calibri"/>
              </a:rPr>
              <a:t>Direction:</a:t>
            </a:r>
            <a:r>
              <a:rPr sz="2000" b="0" i="0">
                <a:solidFill>
                  <a:srgbClr val="1F1F1F"/>
                </a:solidFill>
                <a:latin typeface="Calibri"/>
              </a:rPr>
              <a:t> high → low, at right angles to the isobars</a:t>
            </a:r>
          </a:p>
          <a:p>
            <a:pPr algn="l">
              <a:spcAft>
                <a:spcPts val="600"/>
              </a:spcAft>
            </a:pPr>
            <a:r>
              <a:rPr sz="2000" b="0" i="0">
                <a:solidFill>
                  <a:srgbClr val="1F1F1F"/>
                </a:solidFill>
                <a:latin typeface="Calibri"/>
              </a:rPr>
              <a:t>•  </a:t>
            </a:r>
            <a:r>
              <a:rPr sz="2000" b="1" i="0">
                <a:solidFill>
                  <a:srgbClr val="1F1F1F"/>
                </a:solidFill>
                <a:latin typeface="Calibri"/>
              </a:rPr>
              <a:t>Size:</a:t>
            </a:r>
            <a:r>
              <a:rPr sz="2000" b="0" i="0">
                <a:solidFill>
                  <a:srgbClr val="1F1F1F"/>
                </a:solidFill>
                <a:latin typeface="Calibri"/>
              </a:rPr>
              <a:t> proportional to the pressure difference; closer isobars = stronger force</a:t>
            </a:r>
          </a:p>
        </p:txBody>
      </p:sp>
      <p:sp>
        <p:nvSpPr>
          <p:cNvPr id="7" name="Rounded Rectangle 6"/>
          <p:cNvSpPr/>
          <p:nvPr/>
        </p:nvSpPr>
        <p:spPr>
          <a:xfrm>
            <a:off x="457200" y="3657600"/>
            <a:ext cx="5029200" cy="91440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600" b="1" i="0">
                <a:solidFill>
                  <a:srgbClr val="0072B2"/>
                </a:solidFill>
                <a:latin typeface="Calibri"/>
              </a:rPr>
              <a:t>Per unit mass</a:t>
            </a:r>
          </a:p>
          <a:p>
            <a:pPr algn="l">
              <a:spcAft>
                <a:spcPts val="300"/>
              </a:spcAft>
            </a:pPr>
            <a:r>
              <a:rPr sz="1600" b="0" i="0">
                <a:solidFill>
                  <a:srgbClr val="1F1F1F"/>
                </a:solidFill>
                <a:latin typeface="Calibri"/>
              </a:rPr>
              <a:t>PGF = (1/ρ) × Δp/Δn</a:t>
            </a:r>
          </a:p>
        </p:txBody>
      </p:sp>
      <p:sp>
        <p:nvSpPr>
          <p:cNvPr id="8" name="Rounded Rectangle 7"/>
          <p:cNvSpPr/>
          <p:nvPr/>
        </p:nvSpPr>
        <p:spPr>
          <a:xfrm>
            <a:off x="457200" y="4754880"/>
            <a:ext cx="5029200" cy="14630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600" b="1" i="0">
                <a:solidFill>
                  <a:srgbClr val="1B3A6B"/>
                </a:solidFill>
                <a:latin typeface="Calibri"/>
              </a:rPr>
              <a:t>Example</a:t>
            </a:r>
          </a:p>
          <a:p>
            <a:pPr algn="l">
              <a:spcAft>
                <a:spcPts val="300"/>
              </a:spcAft>
            </a:pPr>
            <a:r>
              <a:rPr sz="1600" b="0" i="0">
                <a:solidFill>
                  <a:srgbClr val="1F1F1F"/>
                </a:solidFill>
                <a:latin typeface="Calibri"/>
              </a:rPr>
              <a:t>4 hPa = 400 Pa over 200 km: PGF = (1/1.2) × 400/2×10</a:t>
            </a:r>
            <a:r>
              <a:rPr sz="1600" b="0" i="0" baseline="30000">
                <a:solidFill>
                  <a:srgbClr val="1F1F1F"/>
                </a:solidFill>
                <a:latin typeface="Calibri"/>
              </a:rPr>
              <a:t>5</a:t>
            </a:r>
            <a:r>
              <a:rPr sz="1600" b="0" i="0">
                <a:solidFill>
                  <a:srgbClr val="1F1F1F"/>
                </a:solidFill>
                <a:latin typeface="Calibri"/>
              </a:rPr>
              <a:t> = 1.7×10</a:t>
            </a:r>
            <a:r>
              <a:rPr sz="1600" b="0" i="0" baseline="30000">
                <a:solidFill>
                  <a:srgbClr val="1F1F1F"/>
                </a:solidFill>
                <a:latin typeface="Calibri"/>
              </a:rPr>
              <a:t>−3</a:t>
            </a:r>
            <a:r>
              <a:rPr sz="1600" b="0" i="0">
                <a:solidFill>
                  <a:srgbClr val="1F1F1F"/>
                </a:solidFill>
                <a:latin typeface="Calibri"/>
              </a:rPr>
              <a:t> m/s². In one hour: +6 m/s.</a:t>
            </a:r>
          </a:p>
        </p:txBody>
      </p:sp>
      <p:pic>
        <p:nvPicPr>
          <p:cNvPr id="9" name="Picture 8" descr="ch04_02.png"/>
          <p:cNvPicPr>
            <a:picLocks noChangeAspect="1"/>
          </p:cNvPicPr>
          <p:nvPr/>
        </p:nvPicPr>
        <p:blipFill>
          <a:blip r:embed="rId2"/>
          <a:stretch>
            <a:fillRect/>
          </a:stretch>
        </p:blipFill>
        <p:spPr>
          <a:xfrm>
            <a:off x="5669280" y="2397416"/>
            <a:ext cx="6126480" cy="2337487"/>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Coriolis force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Motion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50</a:t>
            </a:r>
          </a:p>
        </p:txBody>
      </p:sp>
      <p:sp>
        <p:nvSpPr>
          <p:cNvPr id="6" name="TextBox 5"/>
          <p:cNvSpPr txBox="1"/>
          <p:nvPr/>
        </p:nvSpPr>
        <p:spPr>
          <a:xfrm>
            <a:off x="411480" y="1097280"/>
            <a:ext cx="11338560" cy="173736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  </a:t>
            </a:r>
            <a:r>
              <a:rPr sz="1900" b="1" i="0">
                <a:solidFill>
                  <a:srgbClr val="1F1F1F"/>
                </a:solidFill>
                <a:latin typeface="Calibri"/>
              </a:rPr>
              <a:t>Direction:</a:t>
            </a:r>
            <a:r>
              <a:rPr sz="1900" b="0" i="0">
                <a:solidFill>
                  <a:srgbClr val="1F1F1F"/>
                </a:solidFill>
                <a:latin typeface="Calibri"/>
              </a:rPr>
              <a:t> at right angles to the motion: to the </a:t>
            </a:r>
            <a:r>
              <a:rPr sz="1900" b="1" i="0">
                <a:solidFill>
                  <a:srgbClr val="1F1F1F"/>
                </a:solidFill>
                <a:latin typeface="Calibri"/>
              </a:rPr>
              <a:t>right</a:t>
            </a:r>
            <a:r>
              <a:rPr sz="1900" b="0" i="0">
                <a:solidFill>
                  <a:srgbClr val="1F1F1F"/>
                </a:solidFill>
                <a:latin typeface="Calibri"/>
              </a:rPr>
              <a:t> in the Northern Hemisphere, to the </a:t>
            </a:r>
            <a:r>
              <a:rPr sz="1900" b="1" i="0">
                <a:solidFill>
                  <a:srgbClr val="1F1F1F"/>
                </a:solidFill>
                <a:latin typeface="Calibri"/>
              </a:rPr>
              <a:t>left</a:t>
            </a:r>
            <a:r>
              <a:rPr sz="1900" b="0" i="0">
                <a:solidFill>
                  <a:srgbClr val="1F1F1F"/>
                </a:solidFill>
                <a:latin typeface="Calibri"/>
              </a:rPr>
              <a:t> in the Southern</a:t>
            </a:r>
          </a:p>
          <a:p>
            <a:pPr algn="l">
              <a:spcAft>
                <a:spcPts val="600"/>
              </a:spcAft>
            </a:pPr>
            <a:r>
              <a:rPr sz="1900" b="0" i="0">
                <a:solidFill>
                  <a:srgbClr val="1F1F1F"/>
                </a:solidFill>
                <a:latin typeface="Calibri"/>
              </a:rPr>
              <a:t>•  </a:t>
            </a:r>
            <a:r>
              <a:rPr sz="1900" b="1" i="0">
                <a:solidFill>
                  <a:srgbClr val="1F1F1F"/>
                </a:solidFill>
                <a:latin typeface="Calibri"/>
              </a:rPr>
              <a:t>Size:</a:t>
            </a:r>
            <a:r>
              <a:rPr sz="1900" b="0" i="0">
                <a:solidFill>
                  <a:srgbClr val="1F1F1F"/>
                </a:solidFill>
                <a:latin typeface="Calibri"/>
              </a:rPr>
              <a:t> increases with wind speed and latitude: f V, with f = 2Ω sin φ (zero at the equator)</a:t>
            </a:r>
          </a:p>
          <a:p>
            <a:pPr algn="l">
              <a:spcAft>
                <a:spcPts val="600"/>
              </a:spcAft>
            </a:pPr>
            <a:r>
              <a:rPr sz="1900" b="0" i="0">
                <a:solidFill>
                  <a:srgbClr val="1F1F1F"/>
                </a:solidFill>
                <a:latin typeface="Calibri"/>
              </a:rPr>
              <a:t>•  It changes the </a:t>
            </a:r>
            <a:r>
              <a:rPr sz="1900" b="1" i="0">
                <a:solidFill>
                  <a:srgbClr val="1F1F1F"/>
                </a:solidFill>
                <a:latin typeface="Calibri"/>
              </a:rPr>
              <a:t>direction</a:t>
            </a:r>
            <a:r>
              <a:rPr sz="1900" b="0" i="0">
                <a:solidFill>
                  <a:srgbClr val="1F1F1F"/>
                </a:solidFill>
                <a:latin typeface="Calibri"/>
              </a:rPr>
              <a:t> of the wind, never its speed</a:t>
            </a:r>
          </a:p>
        </p:txBody>
      </p:sp>
      <p:pic>
        <p:nvPicPr>
          <p:cNvPr id="7" name="Picture 6" descr="ch04_03.png"/>
          <p:cNvPicPr>
            <a:picLocks noChangeAspect="1"/>
          </p:cNvPicPr>
          <p:nvPr/>
        </p:nvPicPr>
        <p:blipFill>
          <a:blip r:embed="rId3"/>
          <a:stretch>
            <a:fillRect/>
          </a:stretch>
        </p:blipFill>
        <p:spPr>
          <a:xfrm>
            <a:off x="797864" y="2880359"/>
            <a:ext cx="3159151" cy="3383280"/>
          </a:xfrm>
          <a:prstGeom prst="rect">
            <a:avLst/>
          </a:prstGeom>
        </p:spPr>
      </p:pic>
      <p:pic>
        <p:nvPicPr>
          <p:cNvPr id="8" name="Picture 7" descr="ch04_04.png"/>
          <p:cNvPicPr>
            <a:picLocks noChangeAspect="1"/>
          </p:cNvPicPr>
          <p:nvPr/>
        </p:nvPicPr>
        <p:blipFill>
          <a:blip r:embed="rId4"/>
          <a:stretch>
            <a:fillRect/>
          </a:stretch>
        </p:blipFill>
        <p:spPr>
          <a:xfrm>
            <a:off x="4745793" y="2880359"/>
            <a:ext cx="3127132" cy="3383280"/>
          </a:xfrm>
          <a:prstGeom prst="rect">
            <a:avLst/>
          </a:prstGeom>
        </p:spPr>
      </p:pic>
      <p:pic>
        <p:nvPicPr>
          <p:cNvPr id="9" name="Picture 8" descr="ch04_05.png"/>
          <p:cNvPicPr>
            <a:picLocks noChangeAspect="1"/>
          </p:cNvPicPr>
          <p:nvPr/>
        </p:nvPicPr>
        <p:blipFill>
          <a:blip r:embed="rId5"/>
          <a:stretch>
            <a:fillRect/>
          </a:stretch>
        </p:blipFill>
        <p:spPr>
          <a:xfrm>
            <a:off x="8321040" y="3677896"/>
            <a:ext cx="3566159" cy="1696767"/>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Friction, and the sheet's table completed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Motion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51</a:t>
            </a:r>
          </a:p>
        </p:txBody>
      </p:sp>
      <p:sp>
        <p:nvSpPr>
          <p:cNvPr id="6" name="TextBox 5"/>
          <p:cNvSpPr txBox="1"/>
          <p:nvPr/>
        </p:nvSpPr>
        <p:spPr>
          <a:xfrm>
            <a:off x="411480" y="1051560"/>
            <a:ext cx="11338560" cy="1097280"/>
          </a:xfrm>
          <a:prstGeom prst="rect">
            <a:avLst/>
          </a:prstGeom>
          <a:noFill/>
        </p:spPr>
        <p:txBody>
          <a:bodyPr wrap="square" anchor="t" lIns="45720" rIns="45720">
            <a:spAutoFit/>
          </a:bodyPr>
          <a:lstStyle/>
          <a:p>
            <a:pPr algn="l">
              <a:spcAft>
                <a:spcPts val="600"/>
              </a:spcAft>
            </a:pPr>
            <a:r>
              <a:rPr sz="1900" b="1" i="0">
                <a:solidFill>
                  <a:srgbClr val="1F1F1F"/>
                </a:solidFill>
                <a:latin typeface="Calibri"/>
              </a:rPr>
              <a:t>Friction</a:t>
            </a:r>
            <a:r>
              <a:rPr sz="1900" b="0" i="0">
                <a:solidFill>
                  <a:srgbClr val="1F1F1F"/>
                </a:solidFill>
                <a:latin typeface="Calibri"/>
              </a:rPr>
              <a:t> acts </a:t>
            </a:r>
            <a:r>
              <a:rPr sz="1900" b="1" i="0">
                <a:solidFill>
                  <a:srgbClr val="1F1F1F"/>
                </a:solidFill>
                <a:latin typeface="Calibri"/>
              </a:rPr>
              <a:t>opposite to the wind</a:t>
            </a:r>
            <a:r>
              <a:rPr sz="1900" b="0" i="0">
                <a:solidFill>
                  <a:srgbClr val="1F1F1F"/>
                </a:solidFill>
                <a:latin typeface="Calibri"/>
              </a:rPr>
              <a:t> near the ground (trees, buildings, hills, waves) and matters mainly in the lowest 1–2 km.</a:t>
            </a:r>
          </a:p>
        </p:txBody>
      </p:sp>
      <p:graphicFrame>
        <p:nvGraphicFramePr>
          <p:cNvPr id="7" name="Table 6"/>
          <p:cNvGraphicFramePr>
            <a:graphicFrameLocks noGrp="1"/>
          </p:cNvGraphicFramePr>
          <p:nvPr/>
        </p:nvGraphicFramePr>
        <p:xfrm>
          <a:off x="411480" y="2240280"/>
          <a:ext cx="11338560" cy="3657600"/>
        </p:xfrm>
        <a:graphic>
          <a:graphicData uri="http://schemas.openxmlformats.org/drawingml/2006/table">
            <a:tbl>
              <a:tblPr firstRow="0" bandRow="0">
                <a:tableStyleId>{5940675A-B579-460E-94D1-54222C63F5DA}</a:tableStyleId>
              </a:tblPr>
              <a:tblGrid>
                <a:gridCol w="1889760"/>
                <a:gridCol w="5102352"/>
                <a:gridCol w="4346448"/>
              </a:tblGrid>
              <a:tr h="914400">
                <a:tc>
                  <a:txBody>
                    <a:bodyPr wrap="square"/>
                    <a:lstStyle/>
                    <a:p>
                      <a:pPr algn="l"/>
                      <a:r>
                        <a:rPr sz="1800" b="1" i="0">
                          <a:solidFill>
                            <a:srgbClr val="FFFFFF"/>
                          </a:solidFill>
                          <a:latin typeface="Calibri"/>
                        </a:rPr>
                        <a:t>Force</a:t>
                      </a:r>
                    </a:p>
                  </a:txBody>
                  <a:tcPr marL="73152" marR="73152" marT="27432" marB="27432" anchor="ctr">
                    <a:solidFill>
                      <a:srgbClr val="1B3A6B"/>
                    </a:solidFill>
                  </a:tcPr>
                </a:tc>
                <a:tc>
                  <a:txBody>
                    <a:bodyPr wrap="square"/>
                    <a:lstStyle/>
                    <a:p>
                      <a:pPr algn="l"/>
                      <a:r>
                        <a:rPr sz="1800" b="1" i="0">
                          <a:solidFill>
                            <a:srgbClr val="FFFFFF"/>
                          </a:solidFill>
                          <a:latin typeface="Calibri"/>
                        </a:rPr>
                        <a:t>Direction</a:t>
                      </a:r>
                    </a:p>
                  </a:txBody>
                  <a:tcPr marL="73152" marR="73152" marT="27432" marB="27432" anchor="ctr">
                    <a:solidFill>
                      <a:srgbClr val="1B3A6B"/>
                    </a:solidFill>
                  </a:tcPr>
                </a:tc>
                <a:tc>
                  <a:txBody>
                    <a:bodyPr wrap="square"/>
                    <a:lstStyle/>
                    <a:p>
                      <a:pPr algn="l"/>
                      <a:r>
                        <a:rPr sz="1800" b="1" i="0">
                          <a:solidFill>
                            <a:srgbClr val="FFFFFF"/>
                          </a:solidFill>
                          <a:latin typeface="Calibri"/>
                        </a:rPr>
                        <a:t>Magnitude</a:t>
                      </a:r>
                    </a:p>
                  </a:txBody>
                  <a:tcPr marL="73152" marR="73152" marT="27432" marB="27432" anchor="ctr">
                    <a:solidFill>
                      <a:srgbClr val="1B3A6B"/>
                    </a:solidFill>
                  </a:tcPr>
                </a:tc>
              </a:tr>
              <a:tr h="914400">
                <a:tc>
                  <a:txBody>
                    <a:bodyPr wrap="square"/>
                    <a:lstStyle/>
                    <a:p>
                      <a:pPr algn="l"/>
                      <a:r>
                        <a:rPr sz="1800" b="1" i="0">
                          <a:solidFill>
                            <a:srgbClr val="1F1F1F"/>
                          </a:solidFill>
                          <a:latin typeface="Calibri"/>
                        </a:rPr>
                        <a:t>Pressure gradient</a:t>
                      </a:r>
                    </a:p>
                  </a:txBody>
                  <a:tcPr marL="73152" marR="73152" marT="27432" marB="27432" anchor="ctr">
                    <a:solidFill>
                      <a:srgbClr val="FFFFFF"/>
                    </a:solidFill>
                  </a:tcPr>
                </a:tc>
                <a:tc>
                  <a:txBody>
                    <a:bodyPr wrap="square"/>
                    <a:lstStyle/>
                    <a:p>
                      <a:pPr algn="l"/>
                      <a:r>
                        <a:rPr sz="1800" b="0" i="0">
                          <a:solidFill>
                            <a:srgbClr val="1F1F1F"/>
                          </a:solidFill>
                          <a:latin typeface="Calibri"/>
                        </a:rPr>
                        <a:t>From higher to lower pressure, at right angles to the isobars</a:t>
                      </a:r>
                    </a:p>
                  </a:txBody>
                  <a:tcPr marL="73152" marR="73152" marT="27432" marB="27432" anchor="ctr">
                    <a:solidFill>
                      <a:srgbClr val="FFFFFF"/>
                    </a:solidFill>
                  </a:tcPr>
                </a:tc>
                <a:tc>
                  <a:txBody>
                    <a:bodyPr wrap="square"/>
                    <a:lstStyle/>
                    <a:p>
                      <a:pPr algn="l"/>
                      <a:r>
                        <a:rPr sz="1800" b="0" i="0">
                          <a:solidFill>
                            <a:srgbClr val="1F1F1F"/>
                          </a:solidFill>
                          <a:latin typeface="Calibri"/>
                        </a:rPr>
                        <a:t>Proportional to the pressure difference between two points</a:t>
                      </a:r>
                    </a:p>
                  </a:txBody>
                  <a:tcPr marL="73152" marR="73152" marT="27432" marB="27432" anchor="ctr">
                    <a:solidFill>
                      <a:srgbClr val="FFFFFF"/>
                    </a:solidFill>
                  </a:tcPr>
                </a:tc>
              </a:tr>
              <a:tr h="914400">
                <a:tc>
                  <a:txBody>
                    <a:bodyPr wrap="square"/>
                    <a:lstStyle/>
                    <a:p>
                      <a:pPr algn="l"/>
                      <a:r>
                        <a:rPr sz="1800" b="1" i="0">
                          <a:solidFill>
                            <a:srgbClr val="1F1F1F"/>
                          </a:solidFill>
                          <a:latin typeface="Calibri"/>
                        </a:rPr>
                        <a:t>Coriolis</a:t>
                      </a:r>
                    </a:p>
                  </a:txBody>
                  <a:tcPr marL="73152" marR="73152" marT="27432" marB="27432" anchor="ctr">
                    <a:solidFill>
                      <a:srgbClr val="F7F7F5"/>
                    </a:solidFill>
                  </a:tcPr>
                </a:tc>
                <a:tc>
                  <a:txBody>
                    <a:bodyPr wrap="square"/>
                    <a:lstStyle/>
                    <a:p>
                      <a:pPr algn="l"/>
                      <a:r>
                        <a:rPr sz="1800" b="0" i="0">
                          <a:solidFill>
                            <a:srgbClr val="1F1F1F"/>
                          </a:solidFill>
                          <a:latin typeface="Calibri"/>
                        </a:rPr>
                        <a:t>At right angles to the airflow: to the right in the Northern Hemisphere, to the left in the Southern</a:t>
                      </a:r>
                    </a:p>
                  </a:txBody>
                  <a:tcPr marL="73152" marR="73152" marT="27432" marB="27432" anchor="ctr">
                    <a:solidFill>
                      <a:srgbClr val="F7F7F5"/>
                    </a:solidFill>
                  </a:tcPr>
                </a:tc>
                <a:tc>
                  <a:txBody>
                    <a:bodyPr wrap="square"/>
                    <a:lstStyle/>
                    <a:p>
                      <a:pPr algn="l"/>
                      <a:r>
                        <a:rPr sz="1800" b="0" i="0">
                          <a:solidFill>
                            <a:srgbClr val="1F1F1F"/>
                          </a:solidFill>
                          <a:latin typeface="Calibri"/>
                        </a:rPr>
                        <a:t>Increases with wind strength and with latitude</a:t>
                      </a:r>
                    </a:p>
                  </a:txBody>
                  <a:tcPr marL="73152" marR="73152" marT="27432" marB="27432" anchor="ctr">
                    <a:solidFill>
                      <a:srgbClr val="F7F7F5"/>
                    </a:solidFill>
                  </a:tcPr>
                </a:tc>
              </a:tr>
              <a:tr h="914400">
                <a:tc>
                  <a:txBody>
                    <a:bodyPr wrap="square"/>
                    <a:lstStyle/>
                    <a:p>
                      <a:pPr algn="l"/>
                      <a:r>
                        <a:rPr sz="1800" b="1" i="0">
                          <a:solidFill>
                            <a:srgbClr val="1F1F1F"/>
                          </a:solidFill>
                          <a:latin typeface="Calibri"/>
                        </a:rPr>
                        <a:t>Friction</a:t>
                      </a:r>
                    </a:p>
                  </a:txBody>
                  <a:tcPr marL="73152" marR="73152" marT="27432" marB="27432" anchor="ctr">
                    <a:solidFill>
                      <a:srgbClr val="FFFFFF"/>
                    </a:solidFill>
                  </a:tcPr>
                </a:tc>
                <a:tc>
                  <a:txBody>
                    <a:bodyPr wrap="square"/>
                    <a:lstStyle/>
                    <a:p>
                      <a:pPr algn="l"/>
                      <a:r>
                        <a:rPr sz="1800" b="0" i="0">
                          <a:solidFill>
                            <a:srgbClr val="1F1F1F"/>
                          </a:solidFill>
                          <a:latin typeface="Calibri"/>
                        </a:rPr>
                        <a:t>Opposite to the direction of the airflow</a:t>
                      </a:r>
                    </a:p>
                  </a:txBody>
                  <a:tcPr marL="73152" marR="73152" marT="27432" marB="27432" anchor="ctr">
                    <a:solidFill>
                      <a:srgbClr val="FFFFFF"/>
                    </a:solidFill>
                  </a:tcPr>
                </a:tc>
                <a:tc>
                  <a:txBody>
                    <a:bodyPr wrap="square"/>
                    <a:lstStyle/>
                    <a:p>
                      <a:pPr algn="l"/>
                      <a:r>
                        <a:rPr sz="1800" b="0" i="0">
                          <a:solidFill>
                            <a:srgbClr val="1F1F1F"/>
                          </a:solidFill>
                          <a:latin typeface="Calibri"/>
                        </a:rPr>
                        <a:t>Depends on surface characteristics that obstruct the airflow</a:t>
                      </a:r>
                    </a:p>
                  </a:txBody>
                  <a:tcPr marL="73152" marR="73152" marT="27432" marB="27432" anchor="ctr">
                    <a:solidFill>
                      <a:srgbClr val="FFFF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C: try it yourself</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Motion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52</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6B6B6B"/>
                </a:solidFill>
                <a:latin typeface="Calibri"/>
              </a:rPr>
              <a:t>Practice Set C</a:t>
            </a:r>
          </a:p>
          <a:p>
            <a:pPr algn="l">
              <a:spcAft>
                <a:spcPts val="1200"/>
              </a:spcAft>
            </a:pPr>
            <a:r>
              <a:rPr sz="2400" b="1" i="0">
                <a:solidFill>
                  <a:srgbClr val="1F1F1F"/>
                </a:solidFill>
                <a:latin typeface="Calibri"/>
              </a:rPr>
              <a:t>C1.</a:t>
            </a:r>
            <a:r>
              <a:rPr sz="2400" b="0" i="0">
                <a:solidFill>
                  <a:srgbClr val="1F1F1F"/>
                </a:solidFill>
                <a:latin typeface="Calibri"/>
              </a:rPr>
              <a:t>  Two isobars 4 hPa apart and 100 km from each other: PGF per unit mass (ρ = 1.2 kg/m³)? Compare with the 200 km example.</a:t>
            </a:r>
          </a:p>
          <a:p>
            <a:pPr algn="l">
              <a:spcAft>
                <a:spcPts val="1200"/>
              </a:spcAft>
            </a:pPr>
            <a:r>
              <a:rPr sz="2400" b="1" i="0">
                <a:solidFill>
                  <a:srgbClr val="1F1F1F"/>
                </a:solidFill>
                <a:latin typeface="Calibri"/>
              </a:rPr>
              <a:t>C2.</a:t>
            </a:r>
            <a:r>
              <a:rPr sz="2400" b="0" i="0">
                <a:solidFill>
                  <a:srgbClr val="1F1F1F"/>
                </a:solidFill>
                <a:latin typeface="Calibri"/>
              </a:rPr>
              <a:t>  Coriolis parameter at 60° N, and the Coriolis acceleration on a 15 m/s wind.</a:t>
            </a:r>
          </a:p>
          <a:p>
            <a:pPr algn="l">
              <a:spcAft>
                <a:spcPts val="1200"/>
              </a:spcAft>
            </a:pPr>
            <a:r>
              <a:rPr sz="2400" b="1" i="0">
                <a:solidFill>
                  <a:srgbClr val="1F1F1F"/>
                </a:solidFill>
                <a:latin typeface="Calibri"/>
              </a:rPr>
              <a:t>C3.</a:t>
            </a:r>
            <a:r>
              <a:rPr sz="2400" b="0" i="0">
                <a:solidFill>
                  <a:srgbClr val="1F1F1F"/>
                </a:solidFill>
                <a:latin typeface="Calibri"/>
              </a:rPr>
              <a:t>  A wind blows northward in the Southern Hemisphere. Which way does the Coriolis force push it?</a:t>
            </a:r>
          </a:p>
          <a:p>
            <a:pPr algn="l">
              <a:spcAft>
                <a:spcPts val="1200"/>
              </a:spcAft>
            </a:pPr>
            <a:r>
              <a:rPr sz="2400" b="1" i="0">
                <a:solidFill>
                  <a:srgbClr val="1F1F1F"/>
                </a:solidFill>
                <a:latin typeface="Calibri"/>
              </a:rPr>
              <a:t>C4.</a:t>
            </a:r>
            <a:r>
              <a:rPr sz="2400" b="0" i="0">
                <a:solidFill>
                  <a:srgbClr val="1F1F1F"/>
                </a:solidFill>
                <a:latin typeface="Calibri"/>
              </a:rPr>
              <a:t>  Why are strong winds found where isobars are close together?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C: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Motion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53</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007F5F"/>
                </a:solidFill>
                <a:latin typeface="Calibri"/>
              </a:rPr>
              <a:t>Answers</a:t>
            </a:r>
          </a:p>
          <a:p>
            <a:pPr algn="l">
              <a:spcAft>
                <a:spcPts val="1200"/>
              </a:spcAft>
            </a:pPr>
            <a:r>
              <a:rPr sz="2400" b="1" i="0">
                <a:solidFill>
                  <a:srgbClr val="1F1F1F"/>
                </a:solidFill>
                <a:latin typeface="Calibri"/>
              </a:rPr>
              <a:t>C1.</a:t>
            </a:r>
            <a:r>
              <a:rPr sz="2400" b="0" i="0">
                <a:solidFill>
                  <a:srgbClr val="1F1F1F"/>
                </a:solidFill>
                <a:latin typeface="Calibri"/>
              </a:rPr>
              <a:t>  (1/1.2) × 400/10</a:t>
            </a:r>
            <a:r>
              <a:rPr sz="2400" b="0" i="0" baseline="30000">
                <a:solidFill>
                  <a:srgbClr val="1F1F1F"/>
                </a:solidFill>
                <a:latin typeface="Calibri"/>
              </a:rPr>
              <a:t>5</a:t>
            </a:r>
            <a:r>
              <a:rPr sz="2400" b="0" i="0">
                <a:solidFill>
                  <a:srgbClr val="1F1F1F"/>
                </a:solidFill>
                <a:latin typeface="Calibri"/>
              </a:rPr>
              <a:t> = </a:t>
            </a:r>
            <a:r>
              <a:rPr sz="2400" b="1" i="0">
                <a:solidFill>
                  <a:srgbClr val="007F5F"/>
                </a:solidFill>
                <a:latin typeface="Calibri"/>
              </a:rPr>
              <a:t>3.3×10</a:t>
            </a:r>
            <a:r>
              <a:rPr sz="2400" b="1" i="0" baseline="30000">
                <a:solidFill>
                  <a:srgbClr val="007F5F"/>
                </a:solidFill>
                <a:latin typeface="Calibri"/>
              </a:rPr>
              <a:t>−3</a:t>
            </a:r>
            <a:r>
              <a:rPr sz="2400" b="1" i="0">
                <a:solidFill>
                  <a:srgbClr val="007F5F"/>
                </a:solidFill>
                <a:latin typeface="Calibri"/>
              </a:rPr>
              <a:t> m/s²</a:t>
            </a:r>
            <a:r>
              <a:rPr sz="2400" b="0" i="0">
                <a:solidFill>
                  <a:srgbClr val="1F1F1F"/>
                </a:solidFill>
                <a:latin typeface="Calibri"/>
              </a:rPr>
              <a:t>: exactly </a:t>
            </a:r>
            <a:r>
              <a:rPr sz="2400" b="1" i="0">
                <a:solidFill>
                  <a:srgbClr val="1F1F1F"/>
                </a:solidFill>
                <a:latin typeface="Calibri"/>
              </a:rPr>
              <a:t>twice</a:t>
            </a:r>
            <a:r>
              <a:rPr sz="2400" b="0" i="0">
                <a:solidFill>
                  <a:srgbClr val="1F1F1F"/>
                </a:solidFill>
                <a:latin typeface="Calibri"/>
              </a:rPr>
              <a:t> the 200 km value.</a:t>
            </a:r>
          </a:p>
          <a:p>
            <a:pPr algn="l">
              <a:spcAft>
                <a:spcPts val="1200"/>
              </a:spcAft>
            </a:pPr>
            <a:r>
              <a:rPr sz="2400" b="1" i="0">
                <a:solidFill>
                  <a:srgbClr val="1F1F1F"/>
                </a:solidFill>
                <a:latin typeface="Calibri"/>
              </a:rPr>
              <a:t>C2.</a:t>
            </a:r>
            <a:r>
              <a:rPr sz="2400" b="0" i="0">
                <a:solidFill>
                  <a:srgbClr val="1F1F1F"/>
                </a:solidFill>
                <a:latin typeface="Calibri"/>
              </a:rPr>
              <a:t>  f = 2 × 7.292×10</a:t>
            </a:r>
            <a:r>
              <a:rPr sz="2400" b="0" i="0" baseline="30000">
                <a:solidFill>
                  <a:srgbClr val="1F1F1F"/>
                </a:solidFill>
                <a:latin typeface="Calibri"/>
              </a:rPr>
              <a:t>−5</a:t>
            </a:r>
            <a:r>
              <a:rPr sz="2400" b="0" i="0">
                <a:solidFill>
                  <a:srgbClr val="1F1F1F"/>
                </a:solidFill>
                <a:latin typeface="Calibri"/>
              </a:rPr>
              <a:t> × sin 60° = </a:t>
            </a:r>
            <a:r>
              <a:rPr sz="2400" b="1" i="0">
                <a:solidFill>
                  <a:srgbClr val="007F5F"/>
                </a:solidFill>
                <a:latin typeface="Calibri"/>
              </a:rPr>
              <a:t>1.26×10</a:t>
            </a:r>
            <a:r>
              <a:rPr sz="2400" b="1" i="0" baseline="30000">
                <a:solidFill>
                  <a:srgbClr val="007F5F"/>
                </a:solidFill>
                <a:latin typeface="Calibri"/>
              </a:rPr>
              <a:t>−4</a:t>
            </a:r>
            <a:r>
              <a:rPr sz="2400" b="1" i="0">
                <a:solidFill>
                  <a:srgbClr val="007F5F"/>
                </a:solidFill>
                <a:latin typeface="Calibri"/>
              </a:rPr>
              <a:t> s</a:t>
            </a:r>
            <a:r>
              <a:rPr sz="2400" b="1" i="0" baseline="30000">
                <a:solidFill>
                  <a:srgbClr val="007F5F"/>
                </a:solidFill>
                <a:latin typeface="Calibri"/>
              </a:rPr>
              <a:t>−1</a:t>
            </a:r>
            <a:r>
              <a:rPr sz="2400" b="0" i="0">
                <a:solidFill>
                  <a:srgbClr val="1F1F1F"/>
                </a:solidFill>
                <a:latin typeface="Calibri"/>
              </a:rPr>
              <a:t>;  fV = 1.9×10</a:t>
            </a:r>
            <a:r>
              <a:rPr sz="2400" b="0" i="0" baseline="30000">
                <a:solidFill>
                  <a:srgbClr val="1F1F1F"/>
                </a:solidFill>
                <a:latin typeface="Calibri"/>
              </a:rPr>
              <a:t>−3</a:t>
            </a:r>
            <a:r>
              <a:rPr sz="2400" b="0" i="0">
                <a:solidFill>
                  <a:srgbClr val="1F1F1F"/>
                </a:solidFill>
                <a:latin typeface="Calibri"/>
              </a:rPr>
              <a:t> m/s².</a:t>
            </a:r>
          </a:p>
          <a:p>
            <a:pPr algn="l">
              <a:spcAft>
                <a:spcPts val="1200"/>
              </a:spcAft>
            </a:pPr>
            <a:r>
              <a:rPr sz="2400" b="1" i="0">
                <a:solidFill>
                  <a:srgbClr val="1F1F1F"/>
                </a:solidFill>
                <a:latin typeface="Calibri"/>
              </a:rPr>
              <a:t>C3.</a:t>
            </a:r>
            <a:r>
              <a:rPr sz="2400" b="0" i="0">
                <a:solidFill>
                  <a:srgbClr val="1F1F1F"/>
                </a:solidFill>
                <a:latin typeface="Calibri"/>
              </a:rPr>
              <a:t>  To the </a:t>
            </a:r>
            <a:r>
              <a:rPr sz="2400" b="1" i="0">
                <a:solidFill>
                  <a:srgbClr val="1F1F1F"/>
                </a:solidFill>
                <a:latin typeface="Calibri"/>
              </a:rPr>
              <a:t>left</a:t>
            </a:r>
            <a:r>
              <a:rPr sz="2400" b="0" i="0">
                <a:solidFill>
                  <a:srgbClr val="1F1F1F"/>
                </a:solidFill>
                <a:latin typeface="Calibri"/>
              </a:rPr>
              <a:t> of its motion: </a:t>
            </a:r>
            <a:r>
              <a:rPr sz="2400" b="1" i="0">
                <a:solidFill>
                  <a:srgbClr val="007F5F"/>
                </a:solidFill>
                <a:latin typeface="Calibri"/>
              </a:rPr>
              <a:t>west</a:t>
            </a:r>
            <a:r>
              <a:rPr sz="2400" b="0" i="0">
                <a:solidFill>
                  <a:srgbClr val="1F1F1F"/>
                </a:solidFill>
                <a:latin typeface="Calibri"/>
              </a:rPr>
              <a:t>.</a:t>
            </a:r>
          </a:p>
          <a:p>
            <a:pPr algn="l">
              <a:spcAft>
                <a:spcPts val="1200"/>
              </a:spcAft>
            </a:pPr>
            <a:r>
              <a:rPr sz="2400" b="1" i="0">
                <a:solidFill>
                  <a:srgbClr val="1F1F1F"/>
                </a:solidFill>
                <a:latin typeface="Calibri"/>
              </a:rPr>
              <a:t>C4.</a:t>
            </a:r>
            <a:r>
              <a:rPr sz="2400" b="0" i="0">
                <a:solidFill>
                  <a:srgbClr val="1F1F1F"/>
                </a:solidFill>
                <a:latin typeface="Calibri"/>
              </a:rPr>
              <a:t>  Close isobars = steep gradient = large pressure force; the Coriolis force (and friction) must grow to balance it, which needs a faster wind.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Pressure surfaces tilt: cold air is thin</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54</a:t>
            </a:r>
          </a:p>
        </p:txBody>
      </p:sp>
      <p:sp>
        <p:nvSpPr>
          <p:cNvPr id="6" name="TextBox 5"/>
          <p:cNvSpPr txBox="1"/>
          <p:nvPr/>
        </p:nvSpPr>
        <p:spPr>
          <a:xfrm>
            <a:off x="411480" y="1097280"/>
            <a:ext cx="4846320" cy="329184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A </a:t>
            </a:r>
            <a:r>
              <a:rPr sz="1900" b="1" i="0">
                <a:solidFill>
                  <a:srgbClr val="1F1F1F"/>
                </a:solidFill>
                <a:latin typeface="Calibri"/>
              </a:rPr>
              <a:t>pressure surface</a:t>
            </a:r>
            <a:r>
              <a:rPr sz="1900" b="0" i="0">
                <a:solidFill>
                  <a:srgbClr val="1F1F1F"/>
                </a:solidFill>
                <a:latin typeface="Calibri"/>
              </a:rPr>
              <a:t> (e.g. 500 hPa) is the height at which the pressure has dropped to that value.</a:t>
            </a:r>
          </a:p>
          <a:p>
            <a:pPr algn="l">
              <a:spcAft>
                <a:spcPts val="600"/>
              </a:spcAft>
            </a:pPr>
            <a:r>
              <a:rPr sz="1900" b="0" i="0">
                <a:solidFill>
                  <a:srgbClr val="1F1F1F"/>
                </a:solidFill>
                <a:latin typeface="Calibri"/>
              </a:rPr>
              <a:t>It is </a:t>
            </a:r>
            <a:r>
              <a:rPr sz="1900" b="1" i="0">
                <a:solidFill>
                  <a:srgbClr val="1F1F1F"/>
                </a:solidFill>
                <a:latin typeface="Calibri"/>
              </a:rPr>
              <a:t>low over cold air, high over warm air</a:t>
            </a:r>
            <a:r>
              <a:rPr sz="1900" b="0" i="0">
                <a:solidFill>
                  <a:srgbClr val="1F1F1F"/>
                </a:solidFill>
                <a:latin typeface="Calibri"/>
              </a:rPr>
              <a:t>: cold air is dense, so the same pressure drop needs less height.</a:t>
            </a:r>
          </a:p>
          <a:p>
            <a:pPr algn="l">
              <a:spcAft>
                <a:spcPts val="600"/>
              </a:spcAft>
            </a:pPr>
            <a:r>
              <a:rPr sz="1900" b="0" i="0">
                <a:solidFill>
                  <a:srgbClr val="1F1F1F"/>
                </a:solidFill>
                <a:latin typeface="Calibri"/>
              </a:rPr>
              <a:t>The slope grows with height.</a:t>
            </a:r>
          </a:p>
        </p:txBody>
      </p:sp>
      <p:sp>
        <p:nvSpPr>
          <p:cNvPr id="7" name="Rounded Rectangle 6"/>
          <p:cNvSpPr/>
          <p:nvPr/>
        </p:nvSpPr>
        <p:spPr>
          <a:xfrm>
            <a:off x="457200" y="4480560"/>
            <a:ext cx="4754880" cy="155448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Hypsometric equation</a:t>
            </a:r>
          </a:p>
          <a:p>
            <a:pPr algn="l">
              <a:spcAft>
                <a:spcPts val="300"/>
              </a:spcAft>
            </a:pPr>
            <a:r>
              <a:rPr sz="2000" b="0" i="0">
                <a:solidFill>
                  <a:srgbClr val="1F1F1F"/>
                </a:solidFill>
                <a:latin typeface="Calibri"/>
              </a:rPr>
              <a:t>Δz = (R</a:t>
            </a:r>
            <a:r>
              <a:rPr sz="2000" b="0" i="0" baseline="-25000">
                <a:solidFill>
                  <a:srgbClr val="1F1F1F"/>
                </a:solidFill>
                <a:latin typeface="Calibri"/>
              </a:rPr>
              <a:t>d</a:t>
            </a:r>
            <a:r>
              <a:rPr sz="2000" b="0" i="0">
                <a:solidFill>
                  <a:srgbClr val="1F1F1F"/>
                </a:solidFill>
                <a:latin typeface="Calibri"/>
              </a:rPr>
              <a:t> T̄ / g) ln(p</a:t>
            </a:r>
            <a:r>
              <a:rPr sz="2000" b="0" i="0" baseline="-25000">
                <a:solidFill>
                  <a:srgbClr val="1F1F1F"/>
                </a:solidFill>
                <a:latin typeface="Calibri"/>
              </a:rPr>
              <a:t>1</a:t>
            </a:r>
            <a:r>
              <a:rPr sz="2000" b="0" i="0">
                <a:solidFill>
                  <a:srgbClr val="1F1F1F"/>
                </a:solidFill>
                <a:latin typeface="Calibri"/>
              </a:rPr>
              <a:t>/p</a:t>
            </a:r>
            <a:r>
              <a:rPr sz="2000" b="0" i="0" baseline="-25000">
                <a:solidFill>
                  <a:srgbClr val="1F1F1F"/>
                </a:solidFill>
                <a:latin typeface="Calibri"/>
              </a:rPr>
              <a:t>2</a:t>
            </a:r>
            <a:r>
              <a:rPr sz="2000" b="0" i="0">
                <a:solidFill>
                  <a:srgbClr val="1F1F1F"/>
                </a:solidFill>
                <a:latin typeface="Calibri"/>
              </a:rPr>
              <a:t>)</a:t>
            </a:r>
          </a:p>
          <a:p>
            <a:pPr algn="l">
              <a:spcAft>
                <a:spcPts val="300"/>
              </a:spcAft>
            </a:pPr>
            <a:r>
              <a:rPr sz="2000" b="0" i="0">
                <a:solidFill>
                  <a:srgbClr val="1F1F1F"/>
                </a:solidFill>
                <a:latin typeface="Calibri"/>
              </a:rPr>
              <a:t>Thickness ∝ mean temperature</a:t>
            </a:r>
          </a:p>
        </p:txBody>
      </p:sp>
      <p:pic>
        <p:nvPicPr>
          <p:cNvPr id="8" name="Picture 7" descr="ch05_01.png"/>
          <p:cNvPicPr>
            <a:picLocks noChangeAspect="1"/>
          </p:cNvPicPr>
          <p:nvPr/>
        </p:nvPicPr>
        <p:blipFill>
          <a:blip r:embed="rId3"/>
          <a:stretch>
            <a:fillRect/>
          </a:stretch>
        </p:blipFill>
        <p:spPr>
          <a:xfrm>
            <a:off x="6036377" y="1005840"/>
            <a:ext cx="5117964" cy="52578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Q1: plot the pressure surfaces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55</a:t>
            </a:r>
          </a:p>
        </p:txBody>
      </p:sp>
      <p:sp>
        <p:nvSpPr>
          <p:cNvPr id="6" name="Rounded Rectangle 5"/>
          <p:cNvSpPr/>
          <p:nvPr/>
        </p:nvSpPr>
        <p:spPr>
          <a:xfrm>
            <a:off x="411480" y="1097280"/>
            <a:ext cx="5760720" cy="301752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Consider the two locations on the North American map in Figure 1. Following the example of 850 mb, plot the heights of the 500- and 300-mb pressure levels on Figure 2. Draw lines connecting the two points for each pressure level; label each line with the appropriate pressure value.</a:t>
            </a:r>
          </a:p>
        </p:txBody>
      </p:sp>
      <p:graphicFrame>
        <p:nvGraphicFramePr>
          <p:cNvPr id="7" name="Table 6"/>
          <p:cNvGraphicFramePr>
            <a:graphicFrameLocks noGrp="1"/>
          </p:cNvGraphicFramePr>
          <p:nvPr/>
        </p:nvGraphicFramePr>
        <p:xfrm>
          <a:off x="6309360" y="1280160"/>
          <a:ext cx="5486400" cy="2560320"/>
        </p:xfrm>
        <a:graphic>
          <a:graphicData uri="http://schemas.openxmlformats.org/drawingml/2006/table">
            <a:tbl>
              <a:tblPr firstRow="0" bandRow="0">
                <a:tableStyleId>{5940675A-B579-460E-94D1-54222C63F5DA}</a:tableStyleId>
              </a:tblPr>
              <a:tblGrid>
                <a:gridCol w="1371600"/>
                <a:gridCol w="2057400"/>
                <a:gridCol w="2057400"/>
              </a:tblGrid>
              <a:tr h="640080">
                <a:tc>
                  <a:txBody>
                    <a:bodyPr wrap="square"/>
                    <a:lstStyle/>
                    <a:p>
                      <a:pPr algn="l"/>
                      <a:r>
                        <a:rPr sz="1900" b="1" i="0">
                          <a:solidFill>
                            <a:srgbClr val="FFFFFF"/>
                          </a:solidFill>
                          <a:latin typeface="Calibri"/>
                        </a:rPr>
                        <a:t>Level</a:t>
                      </a:r>
                    </a:p>
                  </a:txBody>
                  <a:tcPr marL="73152" marR="73152" marT="27432" marB="27432" anchor="ctr">
                    <a:solidFill>
                      <a:srgbClr val="1B3A6B"/>
                    </a:solidFill>
                  </a:tcPr>
                </a:tc>
                <a:tc>
                  <a:txBody>
                    <a:bodyPr wrap="square"/>
                    <a:lstStyle/>
                    <a:p>
                      <a:pPr algn="l"/>
                      <a:r>
                        <a:rPr sz="1900" b="1" i="0">
                          <a:solidFill>
                            <a:srgbClr val="FFFFFF"/>
                          </a:solidFill>
                          <a:latin typeface="Calibri"/>
                        </a:rPr>
                        <a:t>Saskatoon</a:t>
                      </a:r>
                    </a:p>
                  </a:txBody>
                  <a:tcPr marL="73152" marR="73152" marT="27432" marB="27432" anchor="ctr">
                    <a:solidFill>
                      <a:srgbClr val="1B3A6B"/>
                    </a:solidFill>
                  </a:tcPr>
                </a:tc>
                <a:tc>
                  <a:txBody>
                    <a:bodyPr wrap="square"/>
                    <a:lstStyle/>
                    <a:p>
                      <a:pPr algn="l"/>
                      <a:r>
                        <a:rPr sz="1900" b="1" i="0">
                          <a:solidFill>
                            <a:srgbClr val="FFFFFF"/>
                          </a:solidFill>
                          <a:latin typeface="Calibri"/>
                        </a:rPr>
                        <a:t>Monterrey</a:t>
                      </a:r>
                    </a:p>
                  </a:txBody>
                  <a:tcPr marL="73152" marR="73152" marT="27432" marB="27432" anchor="ctr">
                    <a:solidFill>
                      <a:srgbClr val="1B3A6B"/>
                    </a:solidFill>
                  </a:tcPr>
                </a:tc>
              </a:tr>
              <a:tr h="640080">
                <a:tc>
                  <a:txBody>
                    <a:bodyPr wrap="square"/>
                    <a:lstStyle/>
                    <a:p>
                      <a:pPr algn="l"/>
                      <a:r>
                        <a:rPr sz="1900" b="0" i="0">
                          <a:solidFill>
                            <a:srgbClr val="1F1F1F"/>
                          </a:solidFill>
                          <a:latin typeface="Calibri"/>
                        </a:rPr>
                        <a:t>300 mb</a:t>
                      </a:r>
                    </a:p>
                  </a:txBody>
                  <a:tcPr marL="73152" marR="73152" marT="27432" marB="27432" anchor="ctr">
                    <a:solidFill>
                      <a:srgbClr val="FFFFFF"/>
                    </a:solidFill>
                  </a:tcPr>
                </a:tc>
                <a:tc>
                  <a:txBody>
                    <a:bodyPr wrap="square"/>
                    <a:lstStyle/>
                    <a:p>
                      <a:pPr algn="l"/>
                      <a:r>
                        <a:rPr sz="1900" b="0" i="0">
                          <a:solidFill>
                            <a:srgbClr val="1F1F1F"/>
                          </a:solidFill>
                          <a:latin typeface="Calibri"/>
                        </a:rPr>
                        <a:t>8700 m, −47 °C</a:t>
                      </a:r>
                    </a:p>
                  </a:txBody>
                  <a:tcPr marL="73152" marR="73152" marT="27432" marB="27432" anchor="ctr">
                    <a:solidFill>
                      <a:srgbClr val="FFFFFF"/>
                    </a:solidFill>
                  </a:tcPr>
                </a:tc>
                <a:tc>
                  <a:txBody>
                    <a:bodyPr wrap="square"/>
                    <a:lstStyle/>
                    <a:p>
                      <a:pPr algn="l"/>
                      <a:r>
                        <a:rPr sz="1900" b="0" i="0">
                          <a:solidFill>
                            <a:srgbClr val="1F1F1F"/>
                          </a:solidFill>
                          <a:latin typeface="Calibri"/>
                        </a:rPr>
                        <a:t>9500 m, −38 °C</a:t>
                      </a:r>
                    </a:p>
                  </a:txBody>
                  <a:tcPr marL="73152" marR="73152" marT="27432" marB="27432" anchor="ctr">
                    <a:solidFill>
                      <a:srgbClr val="FFFFFF"/>
                    </a:solidFill>
                  </a:tcPr>
                </a:tc>
              </a:tr>
              <a:tr h="640080">
                <a:tc>
                  <a:txBody>
                    <a:bodyPr wrap="square"/>
                    <a:lstStyle/>
                    <a:p>
                      <a:pPr algn="l"/>
                      <a:r>
                        <a:rPr sz="1900" b="0" i="0">
                          <a:solidFill>
                            <a:srgbClr val="1F1F1F"/>
                          </a:solidFill>
                          <a:latin typeface="Calibri"/>
                        </a:rPr>
                        <a:t>500 mb</a:t>
                      </a:r>
                    </a:p>
                  </a:txBody>
                  <a:tcPr marL="73152" marR="73152" marT="27432" marB="27432" anchor="ctr">
                    <a:solidFill>
                      <a:srgbClr val="F7F7F5"/>
                    </a:solidFill>
                  </a:tcPr>
                </a:tc>
                <a:tc>
                  <a:txBody>
                    <a:bodyPr wrap="square"/>
                    <a:lstStyle/>
                    <a:p>
                      <a:pPr algn="l"/>
                      <a:r>
                        <a:rPr sz="1900" b="0" i="0">
                          <a:solidFill>
                            <a:srgbClr val="1F1F1F"/>
                          </a:solidFill>
                          <a:latin typeface="Calibri"/>
                        </a:rPr>
                        <a:t>5400 m, −25 °C</a:t>
                      </a:r>
                    </a:p>
                  </a:txBody>
                  <a:tcPr marL="73152" marR="73152" marT="27432" marB="27432" anchor="ctr">
                    <a:solidFill>
                      <a:srgbClr val="F7F7F5"/>
                    </a:solidFill>
                  </a:tcPr>
                </a:tc>
                <a:tc>
                  <a:txBody>
                    <a:bodyPr wrap="square"/>
                    <a:lstStyle/>
                    <a:p>
                      <a:pPr algn="l"/>
                      <a:r>
                        <a:rPr sz="1900" b="0" i="0">
                          <a:solidFill>
                            <a:srgbClr val="1F1F1F"/>
                          </a:solidFill>
                          <a:latin typeface="Calibri"/>
                        </a:rPr>
                        <a:t>5700 m, −12 °C</a:t>
                      </a:r>
                    </a:p>
                  </a:txBody>
                  <a:tcPr marL="73152" marR="73152" marT="27432" marB="27432" anchor="ctr">
                    <a:solidFill>
                      <a:srgbClr val="F7F7F5"/>
                    </a:solidFill>
                  </a:tcPr>
                </a:tc>
              </a:tr>
              <a:tr h="640080">
                <a:tc>
                  <a:txBody>
                    <a:bodyPr wrap="square"/>
                    <a:lstStyle/>
                    <a:p>
                      <a:pPr algn="l"/>
                      <a:r>
                        <a:rPr sz="1900" b="0" i="0">
                          <a:solidFill>
                            <a:srgbClr val="1F1F1F"/>
                          </a:solidFill>
                          <a:latin typeface="Calibri"/>
                        </a:rPr>
                        <a:t>850 mb</a:t>
                      </a:r>
                    </a:p>
                  </a:txBody>
                  <a:tcPr marL="73152" marR="73152" marT="27432" marB="27432" anchor="ctr">
                    <a:solidFill>
                      <a:srgbClr val="FFFFFF"/>
                    </a:solidFill>
                  </a:tcPr>
                </a:tc>
                <a:tc>
                  <a:txBody>
                    <a:bodyPr wrap="square"/>
                    <a:lstStyle/>
                    <a:p>
                      <a:pPr algn="l"/>
                      <a:r>
                        <a:rPr sz="1900" b="0" i="0">
                          <a:solidFill>
                            <a:srgbClr val="1F1F1F"/>
                          </a:solidFill>
                          <a:latin typeface="Calibri"/>
                        </a:rPr>
                        <a:t>1360 m, −1 °C</a:t>
                      </a:r>
                    </a:p>
                  </a:txBody>
                  <a:tcPr marL="73152" marR="73152" marT="27432" marB="27432" anchor="ctr">
                    <a:solidFill>
                      <a:srgbClr val="FFFFFF"/>
                    </a:solidFill>
                  </a:tcPr>
                </a:tc>
                <a:tc>
                  <a:txBody>
                    <a:bodyPr wrap="square"/>
                    <a:lstStyle/>
                    <a:p>
                      <a:pPr algn="l"/>
                      <a:r>
                        <a:rPr sz="1900" b="0" i="0">
                          <a:solidFill>
                            <a:srgbClr val="1F1F1F"/>
                          </a:solidFill>
                          <a:latin typeface="Calibri"/>
                        </a:rPr>
                        <a:t>1500 m, 15 °C</a:t>
                      </a:r>
                    </a:p>
                  </a:txBody>
                  <a:tcPr marL="73152" marR="73152" marT="27432" marB="27432" anchor="ctr">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Q1: step 1 of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56</a:t>
            </a:r>
          </a:p>
        </p:txBody>
      </p:sp>
      <p:sp>
        <p:nvSpPr>
          <p:cNvPr id="6" name="Rounded Rectangle 5"/>
          <p:cNvSpPr/>
          <p:nvPr/>
        </p:nvSpPr>
        <p:spPr>
          <a:xfrm>
            <a:off x="365760" y="1051560"/>
            <a:ext cx="4663440" cy="1047749"/>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The 850 mb line is given:</a:t>
            </a:r>
            <a:r>
              <a:rPr sz="1900" b="0" i="0">
                <a:solidFill>
                  <a:srgbClr val="1F1F1F"/>
                </a:solidFill>
                <a:latin typeface="Calibri"/>
              </a:rPr>
              <a:t> 1360 m over Saskatoon to 1500 m over Monterrey.</a:t>
            </a:r>
          </a:p>
        </p:txBody>
      </p:sp>
      <p:sp>
        <p:nvSpPr>
          <p:cNvPr id="7" name="Oval 6"/>
          <p:cNvSpPr/>
          <p:nvPr/>
        </p:nvSpPr>
        <p:spPr>
          <a:xfrm>
            <a:off x="457200" y="1401698"/>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surf_s0.png"/>
          <p:cNvPicPr>
            <a:picLocks noChangeAspect="1"/>
          </p:cNvPicPr>
          <p:nvPr/>
        </p:nvPicPr>
        <p:blipFill>
          <a:blip r:embed="rId3"/>
          <a:stretch>
            <a:fillRect/>
          </a:stretch>
        </p:blipFill>
        <p:spPr>
          <a:xfrm>
            <a:off x="5257800" y="1712548"/>
            <a:ext cx="6613855" cy="3844382"/>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Q1: step 2 of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57</a:t>
            </a:r>
          </a:p>
        </p:txBody>
      </p:sp>
      <p:sp>
        <p:nvSpPr>
          <p:cNvPr id="6" name="Rounded Rectangle 5"/>
          <p:cNvSpPr/>
          <p:nvPr/>
        </p:nvSpPr>
        <p:spPr>
          <a:xfrm>
            <a:off x="365760" y="1051560"/>
            <a:ext cx="4663440" cy="1047749"/>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The 850 mb line is given:</a:t>
            </a:r>
            <a:r>
              <a:rPr sz="1900" b="0" i="0">
                <a:solidFill>
                  <a:srgbClr val="6B6B6B"/>
                </a:solidFill>
                <a:latin typeface="Calibri"/>
              </a:rPr>
              <a:t> 1360 m over Saskatoon to 1500 m over Monterrey.</a:t>
            </a:r>
          </a:p>
        </p:txBody>
      </p:sp>
      <p:sp>
        <p:nvSpPr>
          <p:cNvPr id="7" name="Oval 6"/>
          <p:cNvSpPr/>
          <p:nvPr/>
        </p:nvSpPr>
        <p:spPr>
          <a:xfrm>
            <a:off x="457200" y="140169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190749"/>
            <a:ext cx="4663440" cy="1342135"/>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Plot 500 mb:</a:t>
            </a:r>
            <a:r>
              <a:rPr sz="1900" b="0" i="0">
                <a:solidFill>
                  <a:srgbClr val="1F1F1F"/>
                </a:solidFill>
                <a:latin typeface="Calibri"/>
              </a:rPr>
              <a:t> dots at 5400 m (Saskatoon) and 5700 m (Monterrey), joined by a straight line; label it 500 mb.</a:t>
            </a:r>
          </a:p>
        </p:txBody>
      </p:sp>
      <p:sp>
        <p:nvSpPr>
          <p:cNvPr id="9" name="Oval 8"/>
          <p:cNvSpPr/>
          <p:nvPr/>
        </p:nvSpPr>
        <p:spPr>
          <a:xfrm>
            <a:off x="457200" y="2688082"/>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surf_s1.png"/>
          <p:cNvPicPr>
            <a:picLocks noChangeAspect="1"/>
          </p:cNvPicPr>
          <p:nvPr/>
        </p:nvPicPr>
        <p:blipFill>
          <a:blip r:embed="rId3"/>
          <a:stretch>
            <a:fillRect/>
          </a:stretch>
        </p:blipFill>
        <p:spPr>
          <a:xfrm>
            <a:off x="5257800" y="1712548"/>
            <a:ext cx="6613855" cy="3844382"/>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Q1: step 3 of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58</a:t>
            </a:r>
          </a:p>
        </p:txBody>
      </p:sp>
      <p:sp>
        <p:nvSpPr>
          <p:cNvPr id="6" name="Rounded Rectangle 5"/>
          <p:cNvSpPr/>
          <p:nvPr/>
        </p:nvSpPr>
        <p:spPr>
          <a:xfrm>
            <a:off x="365760" y="1051560"/>
            <a:ext cx="4663440" cy="1047749"/>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The 850 mb line is given:</a:t>
            </a:r>
            <a:r>
              <a:rPr sz="1900" b="0" i="0">
                <a:solidFill>
                  <a:srgbClr val="6B6B6B"/>
                </a:solidFill>
                <a:latin typeface="Calibri"/>
              </a:rPr>
              <a:t> 1360 m over Saskatoon to 1500 m over Monterrey.</a:t>
            </a:r>
          </a:p>
        </p:txBody>
      </p:sp>
      <p:sp>
        <p:nvSpPr>
          <p:cNvPr id="7" name="Oval 6"/>
          <p:cNvSpPr/>
          <p:nvPr/>
        </p:nvSpPr>
        <p:spPr>
          <a:xfrm>
            <a:off x="457200" y="140169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190749"/>
            <a:ext cx="4663440" cy="1342135"/>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6B6B6B"/>
                </a:solidFill>
                <a:latin typeface="Calibri"/>
              </a:rPr>
              <a:t>Plot 500 mb:</a:t>
            </a:r>
            <a:r>
              <a:rPr sz="1900" b="0" i="0">
                <a:solidFill>
                  <a:srgbClr val="6B6B6B"/>
                </a:solidFill>
                <a:latin typeface="Calibri"/>
              </a:rPr>
              <a:t> dots at 5400 m (Saskatoon) and 5700 m (Monterrey), joined by a straight line; label it 500 mb.</a:t>
            </a:r>
          </a:p>
        </p:txBody>
      </p:sp>
      <p:sp>
        <p:nvSpPr>
          <p:cNvPr id="9" name="Oval 8"/>
          <p:cNvSpPr/>
          <p:nvPr/>
        </p:nvSpPr>
        <p:spPr>
          <a:xfrm>
            <a:off x="457200" y="268808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624325"/>
            <a:ext cx="4663440" cy="1636521"/>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900" b="1" i="0">
                <a:solidFill>
                  <a:srgbClr val="1F1F1F"/>
                </a:solidFill>
                <a:latin typeface="Calibri"/>
              </a:rPr>
              <a:t>Plot 300 mb:</a:t>
            </a:r>
            <a:r>
              <a:rPr sz="1900" b="0" i="0">
                <a:solidFill>
                  <a:srgbClr val="1F1F1F"/>
                </a:solidFill>
                <a:latin typeface="Calibri"/>
              </a:rPr>
              <a:t> dots at 8700 m and 9500 m, joined; label it 300 mb. Each line slopes up towards Monterrey, more steeply the higher you go.</a:t>
            </a:r>
          </a:p>
        </p:txBody>
      </p:sp>
      <p:sp>
        <p:nvSpPr>
          <p:cNvPr id="11" name="Oval 10"/>
          <p:cNvSpPr/>
          <p:nvPr/>
        </p:nvSpPr>
        <p:spPr>
          <a:xfrm>
            <a:off x="457200" y="4268850"/>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surf_s2.png"/>
          <p:cNvPicPr>
            <a:picLocks noChangeAspect="1"/>
          </p:cNvPicPr>
          <p:nvPr/>
        </p:nvPicPr>
        <p:blipFill>
          <a:blip r:embed="rId3"/>
          <a:stretch>
            <a:fillRect/>
          </a:stretch>
        </p:blipFill>
        <p:spPr>
          <a:xfrm>
            <a:off x="5257800" y="1712548"/>
            <a:ext cx="6613855" cy="3844382"/>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Q2 and Q3: where does pressure fall fastest?</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59</a:t>
            </a:r>
          </a:p>
        </p:txBody>
      </p:sp>
      <p:sp>
        <p:nvSpPr>
          <p:cNvPr id="6" name="Rounded Rectangle 5"/>
          <p:cNvSpPr/>
          <p:nvPr/>
        </p:nvSpPr>
        <p:spPr>
          <a:xfrm>
            <a:off x="411480" y="1097280"/>
            <a:ext cx="5852160" cy="164592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600" b="1" i="0">
                <a:solidFill>
                  <a:srgbClr val="007F5F"/>
                </a:solidFill>
                <a:latin typeface="Calibri"/>
              </a:rPr>
              <a:t>Q2: At which location does pressure decrease with height most rapidly?</a:t>
            </a:r>
          </a:p>
          <a:p>
            <a:pPr algn="l">
              <a:spcAft>
                <a:spcPts val="300"/>
              </a:spcAft>
            </a:pPr>
            <a:r>
              <a:rPr sz="1600" b="1" i="0">
                <a:solidFill>
                  <a:srgbClr val="007F5F"/>
                </a:solidFill>
                <a:latin typeface="Calibri"/>
              </a:rPr>
              <a:t>Saskatoon.</a:t>
            </a:r>
            <a:r>
              <a:rPr sz="1600" b="0" i="0">
                <a:solidFill>
                  <a:srgbClr val="1F1F1F"/>
                </a:solidFill>
                <a:latin typeface="Calibri"/>
              </a:rPr>
              <a:t> Its surfaces are lower: 500 mb is reached at 5400 m (not 5700 m), 300 mb at 8700 m (not 9500 m).</a:t>
            </a:r>
          </a:p>
        </p:txBody>
      </p:sp>
      <p:sp>
        <p:nvSpPr>
          <p:cNvPr id="7" name="Rounded Rectangle 6"/>
          <p:cNvSpPr/>
          <p:nvPr/>
        </p:nvSpPr>
        <p:spPr>
          <a:xfrm>
            <a:off x="411480" y="2926080"/>
            <a:ext cx="5852160" cy="182880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007F5F"/>
                </a:solidFill>
                <a:latin typeface="Calibri"/>
              </a:rPr>
              <a:t>Q3: How does this relate to temperature?</a:t>
            </a:r>
          </a:p>
          <a:p>
            <a:pPr algn="l">
              <a:spcAft>
                <a:spcPts val="300"/>
              </a:spcAft>
            </a:pPr>
            <a:r>
              <a:rPr sz="1800" b="1" i="0">
                <a:solidFill>
                  <a:srgbClr val="007F5F"/>
                </a:solidFill>
                <a:latin typeface="Calibri"/>
              </a:rPr>
              <a:t>Saskatoon is colder at each height</a:t>
            </a:r>
            <a:r>
              <a:rPr sz="1800" b="0" i="0">
                <a:solidFill>
                  <a:srgbClr val="1F1F1F"/>
                </a:solidFill>
                <a:latin typeface="Calibri"/>
              </a:rPr>
              <a:t> (−1 vs 15 °C, −25 vs −12 °C, −47 vs −38 °C). Cold air is denser, so its column is thinner: pressure falls faster with height.</a:t>
            </a:r>
          </a:p>
        </p:txBody>
      </p:sp>
      <p:sp>
        <p:nvSpPr>
          <p:cNvPr id="8" name="Rounded Rectangle 7"/>
          <p:cNvSpPr/>
          <p:nvPr/>
        </p:nvSpPr>
        <p:spPr>
          <a:xfrm>
            <a:off x="411480" y="4937760"/>
            <a:ext cx="5852160" cy="1280160"/>
          </a:xfrm>
          <a:prstGeom prst="roundRect">
            <a:avLst>
              <a:gd name="adj" fmla="val 6000"/>
            </a:avLst>
          </a:prstGeom>
          <a:solidFill>
            <a:srgbClr val="FFF1DA"/>
          </a:solidFill>
          <a:ln w="22225">
            <a:solidFill>
              <a:srgbClr val="B87A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600" b="1" i="0">
                <a:solidFill>
                  <a:srgbClr val="8A5A00"/>
                </a:solidFill>
                <a:latin typeface="Calibri"/>
              </a:rPr>
              <a:t>Check</a:t>
            </a:r>
          </a:p>
          <a:p>
            <a:pPr algn="l">
              <a:spcAft>
                <a:spcPts val="300"/>
              </a:spcAft>
            </a:pPr>
            <a:r>
              <a:rPr sz="1600" b="0" i="0">
                <a:solidFill>
                  <a:srgbClr val="1F1F1F"/>
                </a:solidFill>
                <a:latin typeface="Calibri"/>
              </a:rPr>
              <a:t>850–300 mb thickness: Saskatoon 7340 m, Monterrey 8000 m (hypsometric equation: 7587 m and 7976 m).</a:t>
            </a:r>
          </a:p>
        </p:txBody>
      </p:sp>
      <p:pic>
        <p:nvPicPr>
          <p:cNvPr id="9" name="Picture 8" descr="surf_s3.png"/>
          <p:cNvPicPr>
            <a:picLocks noChangeAspect="1"/>
          </p:cNvPicPr>
          <p:nvPr/>
        </p:nvPicPr>
        <p:blipFill>
          <a:blip r:embed="rId2"/>
          <a:stretch>
            <a:fillRect/>
          </a:stretch>
        </p:blipFill>
        <p:spPr>
          <a:xfrm>
            <a:off x="6355080" y="2063082"/>
            <a:ext cx="5486400" cy="3189035"/>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Q4: which point has the higher pressure?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60</a:t>
            </a:r>
          </a:p>
        </p:txBody>
      </p:sp>
      <p:sp>
        <p:nvSpPr>
          <p:cNvPr id="6" name="Rounded Rectangle 5"/>
          <p:cNvSpPr/>
          <p:nvPr/>
        </p:nvSpPr>
        <p:spPr>
          <a:xfrm>
            <a:off x="411480" y="1097280"/>
            <a:ext cx="5760720" cy="301752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Both points x and z are at 9000 m. Which point has the highest pressure? At 9000 m write an 'H' where you have the higher pressure; write an 'L' where you have the lower pressure. Then draw an arrow between the points showing the direction of the horizontal pressure gradient force at 9000 m.</a:t>
            </a:r>
          </a:p>
        </p:txBody>
      </p:sp>
      <p:sp>
        <p:nvSpPr>
          <p:cNvPr id="7" name="TextBox 6"/>
          <p:cNvSpPr txBox="1"/>
          <p:nvPr/>
        </p:nvSpPr>
        <p:spPr>
          <a:xfrm>
            <a:off x="457200" y="4389120"/>
            <a:ext cx="5669280" cy="20116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Hint: pressure </a:t>
            </a:r>
            <a:r>
              <a:rPr sz="1900" b="1" i="0">
                <a:solidFill>
                  <a:srgbClr val="1F1F1F"/>
                </a:solidFill>
                <a:latin typeface="Calibri"/>
              </a:rPr>
              <a:t>decreases</a:t>
            </a:r>
            <a:r>
              <a:rPr sz="1900" b="0" i="0">
                <a:solidFill>
                  <a:srgbClr val="1F1F1F"/>
                </a:solidFill>
                <a:latin typeface="Calibri"/>
              </a:rPr>
              <a:t> with height.</a:t>
            </a:r>
          </a:p>
        </p:txBody>
      </p:sp>
      <p:pic>
        <p:nvPicPr>
          <p:cNvPr id="8" name="Picture 7" descr="surf_s3.png"/>
          <p:cNvPicPr>
            <a:picLocks noChangeAspect="1"/>
          </p:cNvPicPr>
          <p:nvPr/>
        </p:nvPicPr>
        <p:blipFill>
          <a:blip r:embed="rId2"/>
          <a:stretch>
            <a:fillRect/>
          </a:stretch>
        </p:blipFill>
        <p:spPr>
          <a:xfrm>
            <a:off x="6400800" y="2089657"/>
            <a:ext cx="5394960" cy="3135884"/>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Q4: step 1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61</a:t>
            </a:r>
          </a:p>
        </p:txBody>
      </p:sp>
      <p:sp>
        <p:nvSpPr>
          <p:cNvPr id="6" name="Rounded Rectangle 5"/>
          <p:cNvSpPr/>
          <p:nvPr/>
        </p:nvSpPr>
        <p:spPr>
          <a:xfrm>
            <a:off x="365760" y="1051560"/>
            <a:ext cx="4663440" cy="1001268"/>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Rule:</a:t>
            </a:r>
            <a:r>
              <a:rPr sz="1800" b="0" i="0">
                <a:solidFill>
                  <a:srgbClr val="1F1F1F"/>
                </a:solidFill>
                <a:latin typeface="Calibri"/>
              </a:rPr>
              <a:t> below a pressure surface the pressure is </a:t>
            </a:r>
            <a:r>
              <a:rPr sz="1800" b="1" i="0">
                <a:solidFill>
                  <a:srgbClr val="1F1F1F"/>
                </a:solidFill>
                <a:latin typeface="Calibri"/>
              </a:rPr>
              <a:t>higher</a:t>
            </a:r>
            <a:r>
              <a:rPr sz="1800" b="0" i="0">
                <a:solidFill>
                  <a:srgbClr val="1F1F1F"/>
                </a:solidFill>
                <a:latin typeface="Calibri"/>
              </a:rPr>
              <a:t> than its value; above it, </a:t>
            </a:r>
            <a:r>
              <a:rPr sz="1800" b="1" i="0">
                <a:solidFill>
                  <a:srgbClr val="1F1F1F"/>
                </a:solidFill>
                <a:latin typeface="Calibri"/>
              </a:rPr>
              <a:t>lower</a:t>
            </a:r>
            <a:r>
              <a:rPr sz="1800" b="0" i="0">
                <a:solidFill>
                  <a:srgbClr val="1F1F1F"/>
                </a:solidFill>
                <a:latin typeface="Calibri"/>
              </a:rPr>
              <a:t>.</a:t>
            </a:r>
          </a:p>
        </p:txBody>
      </p:sp>
      <p:sp>
        <p:nvSpPr>
          <p:cNvPr id="7" name="Oval 6"/>
          <p:cNvSpPr/>
          <p:nvPr/>
        </p:nvSpPr>
        <p:spPr>
          <a:xfrm>
            <a:off x="457200" y="1378457"/>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surf_s3.png"/>
          <p:cNvPicPr>
            <a:picLocks noChangeAspect="1"/>
          </p:cNvPicPr>
          <p:nvPr/>
        </p:nvPicPr>
        <p:blipFill>
          <a:blip r:embed="rId2"/>
          <a:stretch>
            <a:fillRect/>
          </a:stretch>
        </p:blipFill>
        <p:spPr>
          <a:xfrm>
            <a:off x="5257800" y="1712548"/>
            <a:ext cx="6613855" cy="3844382"/>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Q4: step 2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62</a:t>
            </a:r>
          </a:p>
        </p:txBody>
      </p:sp>
      <p:sp>
        <p:nvSpPr>
          <p:cNvPr id="6" name="Rounded Rectangle 5"/>
          <p:cNvSpPr/>
          <p:nvPr/>
        </p:nvSpPr>
        <p:spPr>
          <a:xfrm>
            <a:off x="365760" y="1051560"/>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Rule:</a:t>
            </a:r>
            <a:r>
              <a:rPr sz="1800" b="0" i="0">
                <a:solidFill>
                  <a:srgbClr val="6B6B6B"/>
                </a:solidFill>
                <a:latin typeface="Calibri"/>
              </a:rPr>
              <a:t> below a pressure surface the pressure is </a:t>
            </a:r>
            <a:r>
              <a:rPr sz="1800" b="1" i="0">
                <a:solidFill>
                  <a:srgbClr val="6B6B6B"/>
                </a:solidFill>
                <a:latin typeface="Calibri"/>
              </a:rPr>
              <a:t>higher</a:t>
            </a:r>
            <a:r>
              <a:rPr sz="1800" b="0" i="0">
                <a:solidFill>
                  <a:srgbClr val="6B6B6B"/>
                </a:solidFill>
                <a:latin typeface="Calibri"/>
              </a:rPr>
              <a:t> than its value; above it, </a:t>
            </a:r>
            <a:r>
              <a:rPr sz="1800" b="1" i="0">
                <a:solidFill>
                  <a:srgbClr val="6B6B6B"/>
                </a:solidFill>
                <a:latin typeface="Calibri"/>
              </a:rPr>
              <a:t>lower</a:t>
            </a:r>
            <a:r>
              <a:rPr sz="1800" b="0" i="0">
                <a:solidFill>
                  <a:srgbClr val="6B6B6B"/>
                </a:solidFill>
                <a:latin typeface="Calibri"/>
              </a:rPr>
              <a:t>.</a:t>
            </a:r>
          </a:p>
        </p:txBody>
      </p:sp>
      <p:sp>
        <p:nvSpPr>
          <p:cNvPr id="7" name="Oval 6"/>
          <p:cNvSpPr/>
          <p:nvPr/>
        </p:nvSpPr>
        <p:spPr>
          <a:xfrm>
            <a:off x="457200" y="1378457"/>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144268"/>
            <a:ext cx="4663440" cy="1280160"/>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Point x</a:t>
            </a:r>
            <a:r>
              <a:rPr sz="1800" b="0" i="0">
                <a:solidFill>
                  <a:srgbClr val="1F1F1F"/>
                </a:solidFill>
                <a:latin typeface="Calibri"/>
              </a:rPr>
              <a:t> (over Saskatoon): the 300 mb surface is at 8700 m, so x at 9000 m is </a:t>
            </a:r>
            <a:r>
              <a:rPr sz="1800" b="1" i="0">
                <a:solidFill>
                  <a:srgbClr val="1F1F1F"/>
                </a:solidFill>
                <a:latin typeface="Calibri"/>
              </a:rPr>
              <a:t>above</a:t>
            </a:r>
            <a:r>
              <a:rPr sz="1800" b="0" i="0">
                <a:solidFill>
                  <a:srgbClr val="1F1F1F"/>
                </a:solidFill>
                <a:latin typeface="Calibri"/>
              </a:rPr>
              <a:t> it: pressure </a:t>
            </a:r>
            <a:r>
              <a:rPr sz="1800" b="1" i="0">
                <a:solidFill>
                  <a:srgbClr val="1F1F1F"/>
                </a:solidFill>
                <a:latin typeface="Calibri"/>
              </a:rPr>
              <a:t>&lt; 300 mb</a:t>
            </a:r>
            <a:r>
              <a:rPr sz="1800" b="0" i="0">
                <a:solidFill>
                  <a:srgbClr val="1F1F1F"/>
                </a:solidFill>
                <a:latin typeface="Calibri"/>
              </a:rPr>
              <a:t> (≈ 287).</a:t>
            </a:r>
          </a:p>
        </p:txBody>
      </p:sp>
      <p:sp>
        <p:nvSpPr>
          <p:cNvPr id="9" name="Oval 8"/>
          <p:cNvSpPr/>
          <p:nvPr/>
        </p:nvSpPr>
        <p:spPr>
          <a:xfrm>
            <a:off x="457200" y="2610612"/>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surf_x.png"/>
          <p:cNvPicPr>
            <a:picLocks noChangeAspect="1"/>
          </p:cNvPicPr>
          <p:nvPr/>
        </p:nvPicPr>
        <p:blipFill>
          <a:blip r:embed="rId2"/>
          <a:stretch>
            <a:fillRect/>
          </a:stretch>
        </p:blipFill>
        <p:spPr>
          <a:xfrm>
            <a:off x="5257800" y="1540128"/>
            <a:ext cx="6613855" cy="4189223"/>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Q4: step 3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63</a:t>
            </a:r>
          </a:p>
        </p:txBody>
      </p:sp>
      <p:sp>
        <p:nvSpPr>
          <p:cNvPr id="6" name="Rounded Rectangle 5"/>
          <p:cNvSpPr/>
          <p:nvPr/>
        </p:nvSpPr>
        <p:spPr>
          <a:xfrm>
            <a:off x="365760" y="1051560"/>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Rule:</a:t>
            </a:r>
            <a:r>
              <a:rPr sz="1800" b="0" i="0">
                <a:solidFill>
                  <a:srgbClr val="6B6B6B"/>
                </a:solidFill>
                <a:latin typeface="Calibri"/>
              </a:rPr>
              <a:t> below a pressure surface the pressure is </a:t>
            </a:r>
            <a:r>
              <a:rPr sz="1800" b="1" i="0">
                <a:solidFill>
                  <a:srgbClr val="6B6B6B"/>
                </a:solidFill>
                <a:latin typeface="Calibri"/>
              </a:rPr>
              <a:t>higher</a:t>
            </a:r>
            <a:r>
              <a:rPr sz="1800" b="0" i="0">
                <a:solidFill>
                  <a:srgbClr val="6B6B6B"/>
                </a:solidFill>
                <a:latin typeface="Calibri"/>
              </a:rPr>
              <a:t> than its value; above it, </a:t>
            </a:r>
            <a:r>
              <a:rPr sz="1800" b="1" i="0">
                <a:solidFill>
                  <a:srgbClr val="6B6B6B"/>
                </a:solidFill>
                <a:latin typeface="Calibri"/>
              </a:rPr>
              <a:t>lower</a:t>
            </a:r>
            <a:r>
              <a:rPr sz="1800" b="0" i="0">
                <a:solidFill>
                  <a:srgbClr val="6B6B6B"/>
                </a:solidFill>
                <a:latin typeface="Calibri"/>
              </a:rPr>
              <a:t>.</a:t>
            </a:r>
          </a:p>
        </p:txBody>
      </p:sp>
      <p:sp>
        <p:nvSpPr>
          <p:cNvPr id="7" name="Oval 6"/>
          <p:cNvSpPr/>
          <p:nvPr/>
        </p:nvSpPr>
        <p:spPr>
          <a:xfrm>
            <a:off x="457200" y="1378457"/>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144268"/>
            <a:ext cx="4663440" cy="1280160"/>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Point x</a:t>
            </a:r>
            <a:r>
              <a:rPr sz="1800" b="0" i="0">
                <a:solidFill>
                  <a:srgbClr val="6B6B6B"/>
                </a:solidFill>
                <a:latin typeface="Calibri"/>
              </a:rPr>
              <a:t> (over Saskatoon): the 300 mb surface is at 8700 m, so x at 9000 m is </a:t>
            </a:r>
            <a:r>
              <a:rPr sz="1800" b="1" i="0">
                <a:solidFill>
                  <a:srgbClr val="6B6B6B"/>
                </a:solidFill>
                <a:latin typeface="Calibri"/>
              </a:rPr>
              <a:t>above</a:t>
            </a:r>
            <a:r>
              <a:rPr sz="1800" b="0" i="0">
                <a:solidFill>
                  <a:srgbClr val="6B6B6B"/>
                </a:solidFill>
                <a:latin typeface="Calibri"/>
              </a:rPr>
              <a:t> it: pressure </a:t>
            </a:r>
            <a:r>
              <a:rPr sz="1800" b="1" i="0">
                <a:solidFill>
                  <a:srgbClr val="6B6B6B"/>
                </a:solidFill>
                <a:latin typeface="Calibri"/>
              </a:rPr>
              <a:t>&lt; 300 mb</a:t>
            </a:r>
            <a:r>
              <a:rPr sz="1800" b="0" i="0">
                <a:solidFill>
                  <a:srgbClr val="6B6B6B"/>
                </a:solidFill>
                <a:latin typeface="Calibri"/>
              </a:rPr>
              <a:t> (≈ 287).</a:t>
            </a:r>
          </a:p>
        </p:txBody>
      </p:sp>
      <p:sp>
        <p:nvSpPr>
          <p:cNvPr id="9" name="Oval 8"/>
          <p:cNvSpPr/>
          <p:nvPr/>
        </p:nvSpPr>
        <p:spPr>
          <a:xfrm>
            <a:off x="457200" y="261061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515868"/>
            <a:ext cx="4663440" cy="1001268"/>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Point z</a:t>
            </a:r>
            <a:r>
              <a:rPr sz="1800" b="0" i="0">
                <a:solidFill>
                  <a:srgbClr val="1F1F1F"/>
                </a:solidFill>
                <a:latin typeface="Calibri"/>
              </a:rPr>
              <a:t> (over Monterrey): the 300 mb surface is at 9500 m, so z is </a:t>
            </a:r>
            <a:r>
              <a:rPr sz="1800" b="1" i="0">
                <a:solidFill>
                  <a:srgbClr val="1F1F1F"/>
                </a:solidFill>
                <a:latin typeface="Calibri"/>
              </a:rPr>
              <a:t>below</a:t>
            </a:r>
            <a:r>
              <a:rPr sz="1800" b="0" i="0">
                <a:solidFill>
                  <a:srgbClr val="1F1F1F"/>
                </a:solidFill>
                <a:latin typeface="Calibri"/>
              </a:rPr>
              <a:t> it: pressure </a:t>
            </a:r>
            <a:r>
              <a:rPr sz="1800" b="1" i="0">
                <a:solidFill>
                  <a:srgbClr val="1F1F1F"/>
                </a:solidFill>
                <a:latin typeface="Calibri"/>
              </a:rPr>
              <a:t>&gt; 300 mb</a:t>
            </a:r>
            <a:r>
              <a:rPr sz="1800" b="0" i="0">
                <a:solidFill>
                  <a:srgbClr val="1F1F1F"/>
                </a:solidFill>
                <a:latin typeface="Calibri"/>
              </a:rPr>
              <a:t> (≈ 321).</a:t>
            </a:r>
          </a:p>
        </p:txBody>
      </p:sp>
      <p:sp>
        <p:nvSpPr>
          <p:cNvPr id="11" name="Oval 10"/>
          <p:cNvSpPr/>
          <p:nvPr/>
        </p:nvSpPr>
        <p:spPr>
          <a:xfrm>
            <a:off x="457200" y="3842765"/>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surf_xz.png"/>
          <p:cNvPicPr>
            <a:picLocks noChangeAspect="1"/>
          </p:cNvPicPr>
          <p:nvPr/>
        </p:nvPicPr>
        <p:blipFill>
          <a:blip r:embed="rId2"/>
          <a:stretch>
            <a:fillRect/>
          </a:stretch>
        </p:blipFill>
        <p:spPr>
          <a:xfrm>
            <a:off x="5257800" y="1540128"/>
            <a:ext cx="6613855" cy="4189223"/>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Q4: step 4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64</a:t>
            </a:r>
          </a:p>
        </p:txBody>
      </p:sp>
      <p:sp>
        <p:nvSpPr>
          <p:cNvPr id="6" name="Rounded Rectangle 5"/>
          <p:cNvSpPr/>
          <p:nvPr/>
        </p:nvSpPr>
        <p:spPr>
          <a:xfrm>
            <a:off x="365760" y="1051560"/>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Rule:</a:t>
            </a:r>
            <a:r>
              <a:rPr sz="1800" b="0" i="0">
                <a:solidFill>
                  <a:srgbClr val="6B6B6B"/>
                </a:solidFill>
                <a:latin typeface="Calibri"/>
              </a:rPr>
              <a:t> below a pressure surface the pressure is </a:t>
            </a:r>
            <a:r>
              <a:rPr sz="1800" b="1" i="0">
                <a:solidFill>
                  <a:srgbClr val="6B6B6B"/>
                </a:solidFill>
                <a:latin typeface="Calibri"/>
              </a:rPr>
              <a:t>higher</a:t>
            </a:r>
            <a:r>
              <a:rPr sz="1800" b="0" i="0">
                <a:solidFill>
                  <a:srgbClr val="6B6B6B"/>
                </a:solidFill>
                <a:latin typeface="Calibri"/>
              </a:rPr>
              <a:t> than its value; above it, </a:t>
            </a:r>
            <a:r>
              <a:rPr sz="1800" b="1" i="0">
                <a:solidFill>
                  <a:srgbClr val="6B6B6B"/>
                </a:solidFill>
                <a:latin typeface="Calibri"/>
              </a:rPr>
              <a:t>lower</a:t>
            </a:r>
            <a:r>
              <a:rPr sz="1800" b="0" i="0">
                <a:solidFill>
                  <a:srgbClr val="6B6B6B"/>
                </a:solidFill>
                <a:latin typeface="Calibri"/>
              </a:rPr>
              <a:t>.</a:t>
            </a:r>
          </a:p>
        </p:txBody>
      </p:sp>
      <p:sp>
        <p:nvSpPr>
          <p:cNvPr id="7" name="Oval 6"/>
          <p:cNvSpPr/>
          <p:nvPr/>
        </p:nvSpPr>
        <p:spPr>
          <a:xfrm>
            <a:off x="457200" y="1378457"/>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144268"/>
            <a:ext cx="4663440" cy="1280160"/>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Point x</a:t>
            </a:r>
            <a:r>
              <a:rPr sz="1800" b="0" i="0">
                <a:solidFill>
                  <a:srgbClr val="6B6B6B"/>
                </a:solidFill>
                <a:latin typeface="Calibri"/>
              </a:rPr>
              <a:t> (over Saskatoon): the 300 mb surface is at 8700 m, so x at 9000 m is </a:t>
            </a:r>
            <a:r>
              <a:rPr sz="1800" b="1" i="0">
                <a:solidFill>
                  <a:srgbClr val="6B6B6B"/>
                </a:solidFill>
                <a:latin typeface="Calibri"/>
              </a:rPr>
              <a:t>above</a:t>
            </a:r>
            <a:r>
              <a:rPr sz="1800" b="0" i="0">
                <a:solidFill>
                  <a:srgbClr val="6B6B6B"/>
                </a:solidFill>
                <a:latin typeface="Calibri"/>
              </a:rPr>
              <a:t> it: pressure </a:t>
            </a:r>
            <a:r>
              <a:rPr sz="1800" b="1" i="0">
                <a:solidFill>
                  <a:srgbClr val="6B6B6B"/>
                </a:solidFill>
                <a:latin typeface="Calibri"/>
              </a:rPr>
              <a:t>&lt; 300 mb</a:t>
            </a:r>
            <a:r>
              <a:rPr sz="1800" b="0" i="0">
                <a:solidFill>
                  <a:srgbClr val="6B6B6B"/>
                </a:solidFill>
                <a:latin typeface="Calibri"/>
              </a:rPr>
              <a:t> (≈ 287).</a:t>
            </a:r>
          </a:p>
        </p:txBody>
      </p:sp>
      <p:sp>
        <p:nvSpPr>
          <p:cNvPr id="9" name="Oval 8"/>
          <p:cNvSpPr/>
          <p:nvPr/>
        </p:nvSpPr>
        <p:spPr>
          <a:xfrm>
            <a:off x="457200" y="2610612"/>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515868"/>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Point z</a:t>
            </a:r>
            <a:r>
              <a:rPr sz="1800" b="0" i="0">
                <a:solidFill>
                  <a:srgbClr val="6B6B6B"/>
                </a:solidFill>
                <a:latin typeface="Calibri"/>
              </a:rPr>
              <a:t> (over Monterrey): the 300 mb surface is at 9500 m, so z is </a:t>
            </a:r>
            <a:r>
              <a:rPr sz="1800" b="1" i="0">
                <a:solidFill>
                  <a:srgbClr val="6B6B6B"/>
                </a:solidFill>
                <a:latin typeface="Calibri"/>
              </a:rPr>
              <a:t>below</a:t>
            </a:r>
            <a:r>
              <a:rPr sz="1800" b="0" i="0">
                <a:solidFill>
                  <a:srgbClr val="6B6B6B"/>
                </a:solidFill>
                <a:latin typeface="Calibri"/>
              </a:rPr>
              <a:t> it: pressure </a:t>
            </a:r>
            <a:r>
              <a:rPr sz="1800" b="1" i="0">
                <a:solidFill>
                  <a:srgbClr val="6B6B6B"/>
                </a:solidFill>
                <a:latin typeface="Calibri"/>
              </a:rPr>
              <a:t>&gt; 300 mb</a:t>
            </a:r>
            <a:r>
              <a:rPr sz="1800" b="0" i="0">
                <a:solidFill>
                  <a:srgbClr val="6B6B6B"/>
                </a:solidFill>
                <a:latin typeface="Calibri"/>
              </a:rPr>
              <a:t> (≈ 321).</a:t>
            </a:r>
          </a:p>
        </p:txBody>
      </p:sp>
      <p:sp>
        <p:nvSpPr>
          <p:cNvPr id="11" name="Oval 10"/>
          <p:cNvSpPr/>
          <p:nvPr/>
        </p:nvSpPr>
        <p:spPr>
          <a:xfrm>
            <a:off x="457200" y="3842765"/>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608576"/>
            <a:ext cx="4663440" cy="502920"/>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Write H at z and L at x.</a:t>
            </a:r>
          </a:p>
        </p:txBody>
      </p:sp>
      <p:sp>
        <p:nvSpPr>
          <p:cNvPr id="13" name="Oval 12"/>
          <p:cNvSpPr/>
          <p:nvPr/>
        </p:nvSpPr>
        <p:spPr>
          <a:xfrm>
            <a:off x="457200" y="4686300"/>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pic>
        <p:nvPicPr>
          <p:cNvPr id="14" name="Picture 13" descr="surf_hl.png"/>
          <p:cNvPicPr>
            <a:picLocks noChangeAspect="1"/>
          </p:cNvPicPr>
          <p:nvPr/>
        </p:nvPicPr>
        <p:blipFill>
          <a:blip r:embed="rId2"/>
          <a:stretch>
            <a:fillRect/>
          </a:stretch>
        </p:blipFill>
        <p:spPr>
          <a:xfrm>
            <a:off x="5257800" y="1540128"/>
            <a:ext cx="6613855" cy="4189223"/>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Q4: step 5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65</a:t>
            </a:r>
          </a:p>
        </p:txBody>
      </p:sp>
      <p:sp>
        <p:nvSpPr>
          <p:cNvPr id="6" name="Rounded Rectangle 5"/>
          <p:cNvSpPr/>
          <p:nvPr/>
        </p:nvSpPr>
        <p:spPr>
          <a:xfrm>
            <a:off x="365760" y="1051560"/>
            <a:ext cx="466344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Rule:</a:t>
            </a:r>
            <a:r>
              <a:rPr sz="1700" b="0" i="0">
                <a:solidFill>
                  <a:srgbClr val="6B6B6B"/>
                </a:solidFill>
                <a:latin typeface="Calibri"/>
              </a:rPr>
              <a:t> below a pressure surface the pressure is </a:t>
            </a:r>
            <a:r>
              <a:rPr sz="1700" b="1" i="0">
                <a:solidFill>
                  <a:srgbClr val="6B6B6B"/>
                </a:solidFill>
                <a:latin typeface="Calibri"/>
              </a:rPr>
              <a:t>higher</a:t>
            </a:r>
            <a:r>
              <a:rPr sz="1700" b="0" i="0">
                <a:solidFill>
                  <a:srgbClr val="6B6B6B"/>
                </a:solidFill>
                <a:latin typeface="Calibri"/>
              </a:rPr>
              <a:t> than its value; above it, </a:t>
            </a:r>
            <a:r>
              <a:rPr sz="1700" b="1" i="0">
                <a:solidFill>
                  <a:srgbClr val="6B6B6B"/>
                </a:solidFill>
                <a:latin typeface="Calibri"/>
              </a:rPr>
              <a:t>lower</a:t>
            </a:r>
            <a:r>
              <a:rPr sz="1700" b="0" i="0">
                <a:solidFill>
                  <a:srgbClr val="6B6B6B"/>
                </a:solidFill>
                <a:latin typeface="Calibri"/>
              </a:rPr>
              <a:t>.</a:t>
            </a:r>
          </a:p>
        </p:txBody>
      </p:sp>
      <p:sp>
        <p:nvSpPr>
          <p:cNvPr id="7" name="Oval 6"/>
          <p:cNvSpPr/>
          <p:nvPr/>
        </p:nvSpPr>
        <p:spPr>
          <a:xfrm>
            <a:off x="457200" y="135521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097786"/>
            <a:ext cx="4663440" cy="1218183"/>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Point x</a:t>
            </a:r>
            <a:r>
              <a:rPr sz="1700" b="0" i="0">
                <a:solidFill>
                  <a:srgbClr val="6B6B6B"/>
                </a:solidFill>
                <a:latin typeface="Calibri"/>
              </a:rPr>
              <a:t> (over Saskatoon): the 300 mb surface is at 8700 m, so x at 9000 m is </a:t>
            </a:r>
            <a:r>
              <a:rPr sz="1700" b="1" i="0">
                <a:solidFill>
                  <a:srgbClr val="6B6B6B"/>
                </a:solidFill>
                <a:latin typeface="Calibri"/>
              </a:rPr>
              <a:t>above</a:t>
            </a:r>
            <a:r>
              <a:rPr sz="1700" b="0" i="0">
                <a:solidFill>
                  <a:srgbClr val="6B6B6B"/>
                </a:solidFill>
                <a:latin typeface="Calibri"/>
              </a:rPr>
              <a:t> it: pressure </a:t>
            </a:r>
            <a:r>
              <a:rPr sz="1700" b="1" i="0">
                <a:solidFill>
                  <a:srgbClr val="6B6B6B"/>
                </a:solidFill>
                <a:latin typeface="Calibri"/>
              </a:rPr>
              <a:t>&lt; 300 mb</a:t>
            </a:r>
            <a:r>
              <a:rPr sz="1700" b="0" i="0">
                <a:solidFill>
                  <a:srgbClr val="6B6B6B"/>
                </a:solidFill>
                <a:latin typeface="Calibri"/>
              </a:rPr>
              <a:t> (≈ 287).</a:t>
            </a:r>
          </a:p>
        </p:txBody>
      </p:sp>
      <p:sp>
        <p:nvSpPr>
          <p:cNvPr id="9" name="Oval 8"/>
          <p:cNvSpPr/>
          <p:nvPr/>
        </p:nvSpPr>
        <p:spPr>
          <a:xfrm>
            <a:off x="457200" y="2533141"/>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407410"/>
            <a:ext cx="466344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Point z</a:t>
            </a:r>
            <a:r>
              <a:rPr sz="1700" b="0" i="0">
                <a:solidFill>
                  <a:srgbClr val="6B6B6B"/>
                </a:solidFill>
                <a:latin typeface="Calibri"/>
              </a:rPr>
              <a:t> (over Monterrey): the 300 mb surface is at 9500 m, so z is </a:t>
            </a:r>
            <a:r>
              <a:rPr sz="1700" b="1" i="0">
                <a:solidFill>
                  <a:srgbClr val="6B6B6B"/>
                </a:solidFill>
                <a:latin typeface="Calibri"/>
              </a:rPr>
              <a:t>below</a:t>
            </a:r>
            <a:r>
              <a:rPr sz="1700" b="0" i="0">
                <a:solidFill>
                  <a:srgbClr val="6B6B6B"/>
                </a:solidFill>
                <a:latin typeface="Calibri"/>
              </a:rPr>
              <a:t> it: pressure </a:t>
            </a:r>
            <a:r>
              <a:rPr sz="1700" b="1" i="0">
                <a:solidFill>
                  <a:srgbClr val="6B6B6B"/>
                </a:solidFill>
                <a:latin typeface="Calibri"/>
              </a:rPr>
              <a:t>&gt; 300 mb</a:t>
            </a:r>
            <a:r>
              <a:rPr sz="1700" b="0" i="0">
                <a:solidFill>
                  <a:srgbClr val="6B6B6B"/>
                </a:solidFill>
                <a:latin typeface="Calibri"/>
              </a:rPr>
              <a:t> (≈ 321).</a:t>
            </a:r>
          </a:p>
        </p:txBody>
      </p:sp>
      <p:sp>
        <p:nvSpPr>
          <p:cNvPr id="11" name="Oval 10"/>
          <p:cNvSpPr/>
          <p:nvPr/>
        </p:nvSpPr>
        <p:spPr>
          <a:xfrm>
            <a:off x="457200" y="3711067"/>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453636"/>
            <a:ext cx="4663440" cy="502920"/>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Write H at z and L at x.</a:t>
            </a:r>
          </a:p>
        </p:txBody>
      </p:sp>
      <p:sp>
        <p:nvSpPr>
          <p:cNvPr id="13" name="Oval 12"/>
          <p:cNvSpPr/>
          <p:nvPr/>
        </p:nvSpPr>
        <p:spPr>
          <a:xfrm>
            <a:off x="457200" y="4531360"/>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sp>
        <p:nvSpPr>
          <p:cNvPr id="14" name="Rounded Rectangle 13"/>
          <p:cNvSpPr/>
          <p:nvPr/>
        </p:nvSpPr>
        <p:spPr>
          <a:xfrm>
            <a:off x="365760" y="5047996"/>
            <a:ext cx="4663440" cy="95478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The pressure gradient force</a:t>
            </a:r>
            <a:r>
              <a:rPr sz="1700" b="0" i="0">
                <a:solidFill>
                  <a:srgbClr val="1F1F1F"/>
                </a:solidFill>
                <a:latin typeface="Calibri"/>
              </a:rPr>
              <a:t> points from high to low: draw the arrow from </a:t>
            </a:r>
            <a:r>
              <a:rPr sz="1700" b="1" i="0">
                <a:solidFill>
                  <a:srgbClr val="1F1F1F"/>
                </a:solidFill>
                <a:latin typeface="Calibri"/>
              </a:rPr>
              <a:t>z towards x</a:t>
            </a:r>
            <a:r>
              <a:rPr sz="1700" b="0" i="0">
                <a:solidFill>
                  <a:srgbClr val="1F1F1F"/>
                </a:solidFill>
                <a:latin typeface="Calibri"/>
              </a:rPr>
              <a:t> (towards Saskatoon).</a:t>
            </a:r>
          </a:p>
        </p:txBody>
      </p:sp>
      <p:sp>
        <p:nvSpPr>
          <p:cNvPr id="15" name="Oval 14"/>
          <p:cNvSpPr/>
          <p:nvPr/>
        </p:nvSpPr>
        <p:spPr>
          <a:xfrm>
            <a:off x="457200" y="5351653"/>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5</a:t>
            </a:r>
          </a:p>
        </p:txBody>
      </p:sp>
      <p:pic>
        <p:nvPicPr>
          <p:cNvPr id="16" name="Picture 15" descr="surf_arrow.png"/>
          <p:cNvPicPr>
            <a:picLocks noChangeAspect="1"/>
          </p:cNvPicPr>
          <p:nvPr/>
        </p:nvPicPr>
        <p:blipFill>
          <a:blip r:embed="rId2"/>
          <a:stretch>
            <a:fillRect/>
          </a:stretch>
        </p:blipFill>
        <p:spPr>
          <a:xfrm>
            <a:off x="5257800" y="1540128"/>
            <a:ext cx="6613855" cy="4189223"/>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Q4: the answer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66</a:t>
            </a:r>
          </a:p>
        </p:txBody>
      </p:sp>
      <p:sp>
        <p:nvSpPr>
          <p:cNvPr id="6" name="Rounded Rectangle 5"/>
          <p:cNvSpPr/>
          <p:nvPr/>
        </p:nvSpPr>
        <p:spPr>
          <a:xfrm>
            <a:off x="411480" y="1097280"/>
            <a:ext cx="5669280" cy="31089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100" b="1" i="0">
                <a:solidFill>
                  <a:srgbClr val="007F5F"/>
                </a:solidFill>
                <a:latin typeface="Calibri"/>
              </a:rPr>
              <a:t>Answer</a:t>
            </a:r>
          </a:p>
          <a:p>
            <a:pPr algn="l">
              <a:spcAft>
                <a:spcPts val="300"/>
              </a:spcAft>
            </a:pPr>
            <a:r>
              <a:rPr sz="2100" b="1" i="0">
                <a:solidFill>
                  <a:srgbClr val="1F1F1F"/>
                </a:solidFill>
                <a:latin typeface="Calibri"/>
              </a:rPr>
              <a:t>z</a:t>
            </a:r>
            <a:r>
              <a:rPr sz="2100" b="0" i="0">
                <a:solidFill>
                  <a:srgbClr val="1F1F1F"/>
                </a:solidFill>
                <a:latin typeface="Calibri"/>
              </a:rPr>
              <a:t> has the higher pressure (below the 300 mb line).</a:t>
            </a:r>
          </a:p>
          <a:p>
            <a:pPr algn="l">
              <a:spcAft>
                <a:spcPts val="300"/>
              </a:spcAft>
            </a:pPr>
            <a:r>
              <a:rPr sz="2100" b="0" i="0">
                <a:solidFill>
                  <a:srgbClr val="1F1F1F"/>
                </a:solidFill>
                <a:latin typeface="Calibri"/>
              </a:rPr>
              <a:t>Write </a:t>
            </a:r>
            <a:r>
              <a:rPr sz="2100" b="1" i="0">
                <a:solidFill>
                  <a:srgbClr val="0072B2"/>
                </a:solidFill>
                <a:latin typeface="Calibri"/>
              </a:rPr>
              <a:t>H at z</a:t>
            </a:r>
            <a:r>
              <a:rPr sz="2100" b="0" i="0">
                <a:solidFill>
                  <a:srgbClr val="1F1F1F"/>
                </a:solidFill>
                <a:latin typeface="Calibri"/>
              </a:rPr>
              <a:t> (Monterrey side) and </a:t>
            </a:r>
            <a:r>
              <a:rPr sz="2100" b="1" i="0">
                <a:solidFill>
                  <a:srgbClr val="D55E00"/>
                </a:solidFill>
                <a:latin typeface="Calibri"/>
              </a:rPr>
              <a:t>L at x</a:t>
            </a:r>
            <a:r>
              <a:rPr sz="2100" b="0" i="0">
                <a:solidFill>
                  <a:srgbClr val="1F1F1F"/>
                </a:solidFill>
                <a:latin typeface="Calibri"/>
              </a:rPr>
              <a:t> (Saskatoon side).</a:t>
            </a:r>
          </a:p>
          <a:p>
            <a:pPr algn="l">
              <a:spcAft>
                <a:spcPts val="300"/>
              </a:spcAft>
            </a:pPr>
            <a:r>
              <a:rPr sz="2100" b="0" i="0">
                <a:solidFill>
                  <a:srgbClr val="1F1F1F"/>
                </a:solidFill>
                <a:latin typeface="Calibri"/>
              </a:rPr>
              <a:t>Draw the pressure gradient force from z towards x: </a:t>
            </a:r>
            <a:r>
              <a:rPr sz="2100" b="1" i="0">
                <a:solidFill>
                  <a:srgbClr val="007F5F"/>
                </a:solidFill>
                <a:latin typeface="Calibri"/>
              </a:rPr>
              <a:t>towards Saskatoon</a:t>
            </a:r>
            <a:r>
              <a:rPr sz="2100" b="0" i="0">
                <a:solidFill>
                  <a:srgbClr val="1F1F1F"/>
                </a:solidFill>
                <a:latin typeface="Calibri"/>
              </a:rPr>
              <a:t>.</a:t>
            </a:r>
          </a:p>
        </p:txBody>
      </p:sp>
      <p:pic>
        <p:nvPicPr>
          <p:cNvPr id="7" name="Picture 6" descr="surf_arrow.png"/>
          <p:cNvPicPr>
            <a:picLocks noChangeAspect="1"/>
          </p:cNvPicPr>
          <p:nvPr/>
        </p:nvPicPr>
        <p:blipFill>
          <a:blip r:embed="rId2"/>
          <a:stretch>
            <a:fillRect/>
          </a:stretch>
        </p:blipFill>
        <p:spPr>
          <a:xfrm>
            <a:off x="6355080" y="1910497"/>
            <a:ext cx="5516575" cy="3494205"/>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Q5: where is the pressure gradient greater?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67</a:t>
            </a:r>
          </a:p>
        </p:txBody>
      </p:sp>
      <p:sp>
        <p:nvSpPr>
          <p:cNvPr id="6" name="TextBox 5"/>
          <p:cNvSpPr txBox="1"/>
          <p:nvPr/>
        </p:nvSpPr>
        <p:spPr>
          <a:xfrm>
            <a:off x="411480" y="1097280"/>
            <a:ext cx="4937760" cy="1463040"/>
          </a:xfrm>
          <a:prstGeom prst="rect">
            <a:avLst/>
          </a:prstGeom>
          <a:noFill/>
        </p:spPr>
        <p:txBody>
          <a:bodyPr wrap="square" anchor="t" lIns="45720" rIns="45720">
            <a:spAutoFit/>
          </a:bodyPr>
          <a:lstStyle/>
          <a:p>
            <a:pPr algn="l">
              <a:spcAft>
                <a:spcPts val="600"/>
              </a:spcAft>
            </a:pPr>
            <a:r>
              <a:rPr sz="2000" b="0" i="0">
                <a:solidFill>
                  <a:srgbClr val="1F1F1F"/>
                </a:solidFill>
                <a:latin typeface="Calibri"/>
              </a:rPr>
              <a:t>At </a:t>
            </a:r>
            <a:r>
              <a:rPr sz="2000" b="1" i="0">
                <a:solidFill>
                  <a:srgbClr val="1F1F1F"/>
                </a:solidFill>
                <a:latin typeface="Calibri"/>
              </a:rPr>
              <a:t>1500 m</a:t>
            </a:r>
            <a:r>
              <a:rPr sz="2000" b="0" i="0">
                <a:solidFill>
                  <a:srgbClr val="1F1F1F"/>
                </a:solidFill>
                <a:latin typeface="Calibri"/>
              </a:rPr>
              <a:t> or at </a:t>
            </a:r>
            <a:r>
              <a:rPr sz="2000" b="1" i="0">
                <a:solidFill>
                  <a:srgbClr val="1F1F1F"/>
                </a:solidFill>
                <a:latin typeface="Calibri"/>
              </a:rPr>
              <a:t>9000 m</a:t>
            </a:r>
            <a:r>
              <a:rPr sz="2000" b="0" i="0">
                <a:solidFill>
                  <a:srgbClr val="1F1F1F"/>
                </a:solidFill>
                <a:latin typeface="Calibri"/>
              </a:rPr>
              <a:t>?  Compare how much the surfaces slope between the two places.</a:t>
            </a:r>
          </a:p>
        </p:txBody>
      </p:sp>
      <p:graphicFrame>
        <p:nvGraphicFramePr>
          <p:cNvPr id="7" name="Table 6"/>
          <p:cNvGraphicFramePr>
            <a:graphicFrameLocks noGrp="1"/>
          </p:cNvGraphicFramePr>
          <p:nvPr/>
        </p:nvGraphicFramePr>
        <p:xfrm>
          <a:off x="457200" y="2468880"/>
          <a:ext cx="4754879" cy="2194560"/>
        </p:xfrm>
        <a:graphic>
          <a:graphicData uri="http://schemas.openxmlformats.org/drawingml/2006/table">
            <a:tbl>
              <a:tblPr firstRow="0" bandRow="0">
                <a:tableStyleId>{5940675A-B579-460E-94D1-54222C63F5DA}</a:tableStyleId>
              </a:tblPr>
              <a:tblGrid>
                <a:gridCol w="2131497"/>
                <a:gridCol w="2623382"/>
              </a:tblGrid>
              <a:tr h="548640">
                <a:tc>
                  <a:txBody>
                    <a:bodyPr wrap="square"/>
                    <a:lstStyle/>
                    <a:p>
                      <a:pPr algn="l"/>
                      <a:r>
                        <a:rPr sz="1700" b="1" i="0">
                          <a:solidFill>
                            <a:srgbClr val="FFFFFF"/>
                          </a:solidFill>
                          <a:latin typeface="Calibri"/>
                        </a:rPr>
                        <a:t>Surface</a:t>
                      </a:r>
                    </a:p>
                  </a:txBody>
                  <a:tcPr marL="73152" marR="73152" marT="27432" marB="27432" anchor="ctr">
                    <a:solidFill>
                      <a:srgbClr val="1B3A6B"/>
                    </a:solidFill>
                  </a:tcPr>
                </a:tc>
                <a:tc>
                  <a:txBody>
                    <a:bodyPr wrap="square"/>
                    <a:lstStyle/>
                    <a:p>
                      <a:pPr algn="l"/>
                      <a:r>
                        <a:rPr sz="1700" b="1" i="0">
                          <a:solidFill>
                            <a:srgbClr val="FFFFFF"/>
                          </a:solidFill>
                          <a:latin typeface="Calibri"/>
                        </a:rPr>
                        <a:t>Slope between places</a:t>
                      </a:r>
                    </a:p>
                  </a:txBody>
                  <a:tcPr marL="73152" marR="73152" marT="27432" marB="27432" anchor="ctr">
                    <a:solidFill>
                      <a:srgbClr val="1B3A6B"/>
                    </a:solidFill>
                  </a:tcPr>
                </a:tc>
              </a:tr>
              <a:tr h="548640">
                <a:tc>
                  <a:txBody>
                    <a:bodyPr wrap="square"/>
                    <a:lstStyle/>
                    <a:p>
                      <a:pPr algn="l"/>
                      <a:r>
                        <a:rPr sz="1700" b="0" i="0">
                          <a:solidFill>
                            <a:srgbClr val="1F1F1F"/>
                          </a:solidFill>
                          <a:latin typeface="Calibri"/>
                        </a:rPr>
                        <a:t>850 mb (≈ 1500 m)</a:t>
                      </a:r>
                    </a:p>
                  </a:txBody>
                  <a:tcPr marL="73152" marR="73152" marT="27432" marB="27432" anchor="ctr">
                    <a:solidFill>
                      <a:srgbClr val="FFFFFF"/>
                    </a:solidFill>
                  </a:tcPr>
                </a:tc>
                <a:tc>
                  <a:txBody>
                    <a:bodyPr wrap="square"/>
                    <a:lstStyle/>
                    <a:p>
                      <a:pPr algn="l"/>
                      <a:r>
                        <a:rPr sz="1700" b="0" i="0">
                          <a:solidFill>
                            <a:srgbClr val="1F1F1F"/>
                          </a:solidFill>
                          <a:latin typeface="Calibri"/>
                        </a:rPr>
                        <a:t>1500 − 1360 = 140 m</a:t>
                      </a:r>
                    </a:p>
                  </a:txBody>
                  <a:tcPr marL="73152" marR="73152" marT="27432" marB="27432" anchor="ctr">
                    <a:solidFill>
                      <a:srgbClr val="FFFFFF"/>
                    </a:solidFill>
                  </a:tcPr>
                </a:tc>
              </a:tr>
              <a:tr h="548640">
                <a:tc>
                  <a:txBody>
                    <a:bodyPr wrap="square"/>
                    <a:lstStyle/>
                    <a:p>
                      <a:pPr algn="l"/>
                      <a:r>
                        <a:rPr sz="1700" b="0" i="0">
                          <a:solidFill>
                            <a:srgbClr val="1F1F1F"/>
                          </a:solidFill>
                          <a:latin typeface="Calibri"/>
                        </a:rPr>
                        <a:t>500 mb</a:t>
                      </a:r>
                    </a:p>
                  </a:txBody>
                  <a:tcPr marL="73152" marR="73152" marT="27432" marB="27432" anchor="ctr">
                    <a:solidFill>
                      <a:srgbClr val="F7F7F5"/>
                    </a:solidFill>
                  </a:tcPr>
                </a:tc>
                <a:tc>
                  <a:txBody>
                    <a:bodyPr wrap="square"/>
                    <a:lstStyle/>
                    <a:p>
                      <a:pPr algn="l"/>
                      <a:r>
                        <a:rPr sz="1700" b="0" i="0">
                          <a:solidFill>
                            <a:srgbClr val="1F1F1F"/>
                          </a:solidFill>
                          <a:latin typeface="Calibri"/>
                        </a:rPr>
                        <a:t>5700 − 5400 = 300 m</a:t>
                      </a:r>
                    </a:p>
                  </a:txBody>
                  <a:tcPr marL="73152" marR="73152" marT="27432" marB="27432" anchor="ctr">
                    <a:solidFill>
                      <a:srgbClr val="F7F7F5"/>
                    </a:solidFill>
                  </a:tcPr>
                </a:tc>
              </a:tr>
              <a:tr h="548640">
                <a:tc>
                  <a:txBody>
                    <a:bodyPr wrap="square"/>
                    <a:lstStyle/>
                    <a:p>
                      <a:pPr algn="l"/>
                      <a:r>
                        <a:rPr sz="1700" b="0" i="0">
                          <a:solidFill>
                            <a:srgbClr val="1F1F1F"/>
                          </a:solidFill>
                          <a:latin typeface="Calibri"/>
                        </a:rPr>
                        <a:t>300 mb (≈ 9000 m)</a:t>
                      </a:r>
                    </a:p>
                  </a:txBody>
                  <a:tcPr marL="73152" marR="73152" marT="27432" marB="27432" anchor="ctr">
                    <a:solidFill>
                      <a:srgbClr val="FFFFFF"/>
                    </a:solidFill>
                  </a:tcPr>
                </a:tc>
                <a:tc>
                  <a:txBody>
                    <a:bodyPr wrap="square"/>
                    <a:lstStyle/>
                    <a:p>
                      <a:pPr algn="l"/>
                      <a:r>
                        <a:rPr sz="1700" b="0" i="0">
                          <a:solidFill>
                            <a:srgbClr val="1F1F1F"/>
                          </a:solidFill>
                          <a:latin typeface="Calibri"/>
                        </a:rPr>
                        <a:t>9500 − 8700 = 800 m</a:t>
                      </a:r>
                    </a:p>
                  </a:txBody>
                  <a:tcPr marL="73152" marR="73152" marT="27432" marB="27432" anchor="ctr">
                    <a:solidFill>
                      <a:srgbClr val="FFFFFF"/>
                    </a:solidFill>
                  </a:tcPr>
                </a:tc>
              </a:tr>
            </a:tbl>
          </a:graphicData>
        </a:graphic>
      </p:graphicFrame>
      <p:sp>
        <p:nvSpPr>
          <p:cNvPr id="8" name="Rounded Rectangle 7"/>
          <p:cNvSpPr/>
          <p:nvPr/>
        </p:nvSpPr>
        <p:spPr>
          <a:xfrm>
            <a:off x="457200" y="4846320"/>
            <a:ext cx="4846320" cy="137160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500" b="1" i="0">
                <a:solidFill>
                  <a:srgbClr val="007F5F"/>
                </a:solidFill>
                <a:latin typeface="Calibri"/>
              </a:rPr>
              <a:t>Answer</a:t>
            </a:r>
          </a:p>
          <a:p>
            <a:pPr algn="l">
              <a:spcAft>
                <a:spcPts val="300"/>
              </a:spcAft>
            </a:pPr>
            <a:r>
              <a:rPr sz="1500" b="0" i="0">
                <a:solidFill>
                  <a:srgbClr val="1F1F1F"/>
                </a:solidFill>
                <a:latin typeface="Calibri"/>
              </a:rPr>
              <a:t>The gradient is greater at </a:t>
            </a:r>
            <a:r>
              <a:rPr sz="1500" b="1" i="0">
                <a:solidFill>
                  <a:srgbClr val="007F5F"/>
                </a:solidFill>
                <a:latin typeface="Calibri"/>
              </a:rPr>
              <a:t>9000 m</a:t>
            </a:r>
            <a:r>
              <a:rPr sz="1500" b="0" i="0">
                <a:solidFill>
                  <a:srgbClr val="1F1F1F"/>
                </a:solidFill>
                <a:latin typeface="Calibri"/>
              </a:rPr>
              <a:t>: 800 m of slope against 140 m. (In pressure: ≈ 34 mb against 15 mb.)</a:t>
            </a:r>
          </a:p>
        </p:txBody>
      </p:sp>
      <p:pic>
        <p:nvPicPr>
          <p:cNvPr id="9" name="Picture 8" descr="surf_slope.png"/>
          <p:cNvPicPr>
            <a:picLocks noChangeAspect="1"/>
          </p:cNvPicPr>
          <p:nvPr/>
        </p:nvPicPr>
        <p:blipFill>
          <a:blip r:embed="rId2"/>
          <a:stretch>
            <a:fillRect/>
          </a:stretch>
        </p:blipFill>
        <p:spPr>
          <a:xfrm>
            <a:off x="5486400" y="1823904"/>
            <a:ext cx="6309360" cy="366739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Q6: what this means for the wind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68</a:t>
            </a:r>
          </a:p>
        </p:txBody>
      </p:sp>
      <p:sp>
        <p:nvSpPr>
          <p:cNvPr id="6" name="Rounded Rectangle 5"/>
          <p:cNvSpPr/>
          <p:nvPr/>
        </p:nvSpPr>
        <p:spPr>
          <a:xfrm>
            <a:off x="411480" y="1097280"/>
            <a:ext cx="5486400" cy="109728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500" b="1" i="0">
                <a:solidFill>
                  <a:srgbClr val="007F5F"/>
                </a:solidFill>
                <a:latin typeface="Calibri"/>
              </a:rPr>
              <a:t>Answer</a:t>
            </a:r>
          </a:p>
          <a:p>
            <a:pPr algn="l">
              <a:spcAft>
                <a:spcPts val="300"/>
              </a:spcAft>
            </a:pPr>
            <a:r>
              <a:rPr sz="1500" b="0" i="0">
                <a:solidFill>
                  <a:srgbClr val="1F1F1F"/>
                </a:solidFill>
                <a:latin typeface="Calibri"/>
              </a:rPr>
              <a:t>Wind speeds at 9000 m should be </a:t>
            </a:r>
            <a:r>
              <a:rPr sz="1500" b="1" i="0">
                <a:solidFill>
                  <a:srgbClr val="007F5F"/>
                </a:solidFill>
                <a:latin typeface="Calibri"/>
              </a:rPr>
              <a:t>greater</a:t>
            </a:r>
            <a:r>
              <a:rPr sz="1500" b="0" i="0">
                <a:solidFill>
                  <a:srgbClr val="1F1F1F"/>
                </a:solidFill>
                <a:latin typeface="Calibri"/>
              </a:rPr>
              <a:t> than at 1500 m.</a:t>
            </a:r>
          </a:p>
        </p:txBody>
      </p:sp>
      <p:sp>
        <p:nvSpPr>
          <p:cNvPr id="7" name="TextBox 6"/>
          <p:cNvSpPr txBox="1"/>
          <p:nvPr/>
        </p:nvSpPr>
        <p:spPr>
          <a:xfrm>
            <a:off x="457200" y="2377440"/>
            <a:ext cx="5486400" cy="384048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Geostrophic wind from the slope of a pressure surface:</a:t>
            </a:r>
          </a:p>
          <a:p>
            <a:pPr algn="l">
              <a:spcAft>
                <a:spcPts val="600"/>
              </a:spcAft>
            </a:pPr>
            <a:r>
              <a:rPr sz="1800" b="1" i="0">
                <a:solidFill>
                  <a:srgbClr val="1F1F1F"/>
                </a:solidFill>
                <a:latin typeface="Calibri"/>
              </a:rPr>
              <a:t>V</a:t>
            </a:r>
            <a:r>
              <a:rPr sz="1800" b="1" i="0" baseline="-25000">
                <a:solidFill>
                  <a:srgbClr val="1F1F1F"/>
                </a:solidFill>
                <a:latin typeface="Calibri"/>
              </a:rPr>
              <a:t>g</a:t>
            </a:r>
            <a:r>
              <a:rPr sz="1800" b="1" i="0">
                <a:solidFill>
                  <a:srgbClr val="1F1F1F"/>
                </a:solidFill>
                <a:latin typeface="Calibri"/>
              </a:rPr>
              <a:t> = (g / f) × (Δz / Δn)</a:t>
            </a:r>
          </a:p>
          <a:p>
            <a:pPr algn="l">
              <a:spcAft>
                <a:spcPts val="600"/>
              </a:spcAft>
            </a:pPr>
            <a:r>
              <a:rPr sz="1800" b="0" i="0">
                <a:solidFill>
                  <a:srgbClr val="1F1F1F"/>
                </a:solidFill>
                <a:latin typeface="Calibri"/>
              </a:rPr>
              <a:t>Here Δn = 2 990 km, φ ≈ 39°, f = 9.16×10</a:t>
            </a:r>
            <a:r>
              <a:rPr sz="1800" b="0" i="0" baseline="30000">
                <a:solidFill>
                  <a:srgbClr val="1F1F1F"/>
                </a:solidFill>
                <a:latin typeface="Calibri"/>
              </a:rPr>
              <a:t>−5</a:t>
            </a:r>
            <a:r>
              <a:rPr sz="1800" b="0" i="0">
                <a:solidFill>
                  <a:srgbClr val="1F1F1F"/>
                </a:solidFill>
                <a:latin typeface="Calibri"/>
              </a:rPr>
              <a:t> s</a:t>
            </a:r>
            <a:r>
              <a:rPr sz="1800" b="0" i="0" baseline="30000">
                <a:solidFill>
                  <a:srgbClr val="1F1F1F"/>
                </a:solidFill>
                <a:latin typeface="Calibri"/>
              </a:rPr>
              <a:t>−1</a:t>
            </a:r>
            <a:r>
              <a:rPr sz="1800" b="0" i="0">
                <a:solidFill>
                  <a:srgbClr val="1F1F1F"/>
                </a:solidFill>
                <a:latin typeface="Calibri"/>
              </a:rPr>
              <a:t>:</a:t>
            </a:r>
          </a:p>
          <a:p>
            <a:pPr algn="l">
              <a:spcAft>
                <a:spcPts val="600"/>
              </a:spcAft>
            </a:pPr>
            <a:r>
              <a:rPr sz="1800" b="0" i="0">
                <a:solidFill>
                  <a:srgbClr val="1F1F1F"/>
                </a:solidFill>
                <a:latin typeface="Calibri"/>
              </a:rPr>
              <a:t>•  850 mb: (9.81 / 9.16×10</a:t>
            </a:r>
            <a:r>
              <a:rPr sz="1800" b="0" i="0" baseline="30000">
                <a:solidFill>
                  <a:srgbClr val="1F1F1F"/>
                </a:solidFill>
                <a:latin typeface="Calibri"/>
              </a:rPr>
              <a:t>−5</a:t>
            </a:r>
            <a:r>
              <a:rPr sz="1800" b="0" i="0">
                <a:solidFill>
                  <a:srgbClr val="1F1F1F"/>
                </a:solidFill>
                <a:latin typeface="Calibri"/>
              </a:rPr>
              <a:t>) × 140 / 2.99×10</a:t>
            </a:r>
            <a:r>
              <a:rPr sz="1800" b="0" i="0" baseline="30000">
                <a:solidFill>
                  <a:srgbClr val="1F1F1F"/>
                </a:solidFill>
                <a:latin typeface="Calibri"/>
              </a:rPr>
              <a:t>6</a:t>
            </a:r>
            <a:r>
              <a:rPr sz="1800" b="0" i="0">
                <a:solidFill>
                  <a:srgbClr val="1F1F1F"/>
                </a:solidFill>
                <a:latin typeface="Calibri"/>
              </a:rPr>
              <a:t> = </a:t>
            </a:r>
            <a:r>
              <a:rPr sz="1800" b="1" i="0">
                <a:solidFill>
                  <a:srgbClr val="1F1F1F"/>
                </a:solidFill>
                <a:latin typeface="Calibri"/>
              </a:rPr>
              <a:t>5.0 m/s</a:t>
            </a:r>
          </a:p>
          <a:p>
            <a:pPr algn="l">
              <a:spcAft>
                <a:spcPts val="600"/>
              </a:spcAft>
            </a:pPr>
            <a:r>
              <a:rPr sz="1800" b="0" i="0">
                <a:solidFill>
                  <a:srgbClr val="1F1F1F"/>
                </a:solidFill>
                <a:latin typeface="Calibri"/>
              </a:rPr>
              <a:t>•  500 mb: × 300 → </a:t>
            </a:r>
            <a:r>
              <a:rPr sz="1800" b="1" i="0">
                <a:solidFill>
                  <a:srgbClr val="1F1F1F"/>
                </a:solidFill>
                <a:latin typeface="Calibri"/>
              </a:rPr>
              <a:t>10.7 m/s</a:t>
            </a:r>
          </a:p>
          <a:p>
            <a:pPr algn="l">
              <a:spcAft>
                <a:spcPts val="600"/>
              </a:spcAft>
            </a:pPr>
            <a:r>
              <a:rPr sz="1800" b="0" i="0">
                <a:solidFill>
                  <a:srgbClr val="1F1F1F"/>
                </a:solidFill>
                <a:latin typeface="Calibri"/>
              </a:rPr>
              <a:t>•  300 mb: × 800 → </a:t>
            </a:r>
            <a:r>
              <a:rPr sz="1800" b="1" i="0">
                <a:solidFill>
                  <a:srgbClr val="1F1F1F"/>
                </a:solidFill>
                <a:latin typeface="Calibri"/>
              </a:rPr>
              <a:t>28.6 m/s</a:t>
            </a:r>
          </a:p>
        </p:txBody>
      </p:sp>
      <p:pic>
        <p:nvPicPr>
          <p:cNvPr id="8" name="Picture 7" descr="surf_wind.png"/>
          <p:cNvPicPr>
            <a:picLocks noChangeAspect="1"/>
          </p:cNvPicPr>
          <p:nvPr/>
        </p:nvPicPr>
        <p:blipFill>
          <a:blip r:embed="rId3"/>
          <a:stretch>
            <a:fillRect/>
          </a:stretch>
        </p:blipFill>
        <p:spPr>
          <a:xfrm>
            <a:off x="6035040" y="1833176"/>
            <a:ext cx="5760720" cy="3648847"/>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thermal wind: why the jet stream is high up</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69</a:t>
            </a:r>
          </a:p>
        </p:txBody>
      </p:sp>
      <p:sp>
        <p:nvSpPr>
          <p:cNvPr id="6" name="TextBox 5"/>
          <p:cNvSpPr txBox="1"/>
          <p:nvPr/>
        </p:nvSpPr>
        <p:spPr>
          <a:xfrm>
            <a:off x="411480" y="1097280"/>
            <a:ext cx="5120640" cy="512064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The faster the temperature falls towards the pole, the </a:t>
            </a:r>
            <a:r>
              <a:rPr sz="1900" b="1" i="0">
                <a:solidFill>
                  <a:srgbClr val="1F1F1F"/>
                </a:solidFill>
                <a:latin typeface="Calibri"/>
              </a:rPr>
              <a:t>faster the westerly winds aloft</a:t>
            </a:r>
            <a:r>
              <a:rPr sz="1900" b="0" i="0">
                <a:solidFill>
                  <a:srgbClr val="1F1F1F"/>
                </a:solidFill>
                <a:latin typeface="Calibri"/>
              </a:rPr>
              <a:t>, and they strengthen with height.</a:t>
            </a:r>
          </a:p>
          <a:p>
            <a:pPr algn="l">
              <a:spcAft>
                <a:spcPts val="600"/>
              </a:spcAft>
            </a:pPr>
            <a:r>
              <a:rPr sz="1900" b="0" i="0">
                <a:solidFill>
                  <a:srgbClr val="1F1F1F"/>
                </a:solidFill>
                <a:latin typeface="Calibri"/>
              </a:rPr>
              <a:t>If both columns have the same temperature, every surface is flat and there is </a:t>
            </a:r>
            <a:r>
              <a:rPr sz="1900" b="1" i="0">
                <a:solidFill>
                  <a:srgbClr val="1F1F1F"/>
                </a:solidFill>
                <a:latin typeface="Calibri"/>
              </a:rPr>
              <a:t>no wind</a:t>
            </a:r>
            <a:r>
              <a:rPr sz="1900" b="0" i="0">
                <a:solidFill>
                  <a:srgbClr val="1F1F1F"/>
                </a:solidFill>
                <a:latin typeface="Calibri"/>
              </a:rPr>
              <a:t>, however cold the air.</a:t>
            </a:r>
          </a:p>
          <a:p>
            <a:pPr algn="l">
              <a:spcAft>
                <a:spcPts val="600"/>
              </a:spcAft>
            </a:pPr>
            <a:r>
              <a:rPr sz="1900" b="0" i="0">
                <a:solidFill>
                  <a:srgbClr val="1F1F1F"/>
                </a:solidFill>
                <a:latin typeface="Calibri"/>
              </a:rPr>
              <a:t>This is the </a:t>
            </a:r>
            <a:r>
              <a:rPr sz="1900" b="1" i="0">
                <a:solidFill>
                  <a:srgbClr val="1F1F1F"/>
                </a:solidFill>
                <a:latin typeface="Calibri"/>
              </a:rPr>
              <a:t>thermal wind</a:t>
            </a:r>
            <a:r>
              <a:rPr sz="1900" b="0" i="0">
                <a:solidFill>
                  <a:srgbClr val="1F1F1F"/>
                </a:solidFill>
                <a:latin typeface="Calibri"/>
              </a:rPr>
              <a:t>, and it puts the jet streams near 10 km above the zone of strongest temperature contrast.</a:t>
            </a:r>
          </a:p>
          <a:p>
            <a:pPr algn="l">
              <a:spcAft>
                <a:spcPts val="600"/>
              </a:spcAft>
            </a:pPr>
            <a:r>
              <a:rPr sz="1900" b="0" i="0">
                <a:solidFill>
                  <a:srgbClr val="1F1F1F"/>
                </a:solidFill>
                <a:latin typeface="Calibri"/>
              </a:rPr>
              <a:t>Real winds at 300 mb are often 50–80 m/s: the sheet's two places and rounded heights give only the pattern.</a:t>
            </a:r>
          </a:p>
        </p:txBody>
      </p:sp>
      <p:pic>
        <p:nvPicPr>
          <p:cNvPr id="7" name="Picture 6" descr="ch05_05.png"/>
          <p:cNvPicPr>
            <a:picLocks noChangeAspect="1"/>
          </p:cNvPicPr>
          <p:nvPr/>
        </p:nvPicPr>
        <p:blipFill>
          <a:blip r:embed="rId2"/>
          <a:stretch>
            <a:fillRect/>
          </a:stretch>
        </p:blipFill>
        <p:spPr>
          <a:xfrm>
            <a:off x="5669280" y="2249746"/>
            <a:ext cx="6126480" cy="2267067"/>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D: try it yourself</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70</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6B6B6B"/>
                </a:solidFill>
                <a:latin typeface="Calibri"/>
              </a:rPr>
              <a:t>Practice Set D</a:t>
            </a:r>
          </a:p>
          <a:p>
            <a:pPr algn="l">
              <a:spcAft>
                <a:spcPts val="1200"/>
              </a:spcAft>
            </a:pPr>
            <a:r>
              <a:rPr sz="2400" b="1" i="0">
                <a:solidFill>
                  <a:srgbClr val="1F1F1F"/>
                </a:solidFill>
                <a:latin typeface="Calibri"/>
              </a:rPr>
              <a:t>D1.</a:t>
            </a:r>
            <a:r>
              <a:rPr sz="2400" b="0" i="0">
                <a:solidFill>
                  <a:srgbClr val="1F1F1F"/>
                </a:solidFill>
                <a:latin typeface="Calibri"/>
              </a:rPr>
              <a:t>  Thickness of the 1000–500 hPa layer for mean temperatures of −10 °C and +10 °C; the difference.</a:t>
            </a:r>
          </a:p>
          <a:p>
            <a:pPr algn="l">
              <a:spcAft>
                <a:spcPts val="1200"/>
              </a:spcAft>
            </a:pPr>
            <a:r>
              <a:rPr sz="2400" b="1" i="0">
                <a:solidFill>
                  <a:srgbClr val="1F1F1F"/>
                </a:solidFill>
                <a:latin typeface="Calibri"/>
              </a:rPr>
              <a:t>D2.</a:t>
            </a:r>
            <a:r>
              <a:rPr sz="2400" b="0" i="0">
                <a:solidFill>
                  <a:srgbClr val="1F1F1F"/>
                </a:solidFill>
                <a:latin typeface="Calibri"/>
              </a:rPr>
              <a:t>  At 40° N the 500 hPa surface is at 5520 m over town A and 5640 m over town B, 800 km due south of A. Geostrophic wind, and from which direction?</a:t>
            </a:r>
          </a:p>
          <a:p>
            <a:pPr algn="l">
              <a:spcAft>
                <a:spcPts val="1200"/>
              </a:spcAft>
            </a:pPr>
            <a:r>
              <a:rPr sz="2400" b="1" i="0">
                <a:solidFill>
                  <a:srgbClr val="1F1F1F"/>
                </a:solidFill>
                <a:latin typeface="Calibri"/>
              </a:rPr>
              <a:t>D3.</a:t>
            </a:r>
            <a:r>
              <a:rPr sz="2400" b="0" i="0">
                <a:solidFill>
                  <a:srgbClr val="1F1F1F"/>
                </a:solidFill>
                <a:latin typeface="Calibri"/>
              </a:rPr>
              <a:t>  500 mb heights are 5400 m at P and 5600 m at Q. Which has colder air beneath?</a:t>
            </a:r>
          </a:p>
          <a:p>
            <a:pPr algn="l">
              <a:spcAft>
                <a:spcPts val="1200"/>
              </a:spcAft>
            </a:pPr>
            <a:r>
              <a:rPr sz="2400" b="1" i="0">
                <a:solidFill>
                  <a:srgbClr val="1F1F1F"/>
                </a:solidFill>
                <a:latin typeface="Calibri"/>
              </a:rPr>
              <a:t>D4.</a:t>
            </a:r>
            <a:r>
              <a:rPr sz="2400" b="0" i="0">
                <a:solidFill>
                  <a:srgbClr val="1F1F1F"/>
                </a:solidFill>
                <a:latin typeface="Calibri"/>
              </a:rPr>
              <a:t>  The 500 hPa surface slopes up from north to south. Which way does the Northern Hemisphere wind blow?</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D: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Pressure surfaces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71</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007F5F"/>
                </a:solidFill>
                <a:latin typeface="Calibri"/>
              </a:rPr>
              <a:t>Answers</a:t>
            </a:r>
          </a:p>
          <a:p>
            <a:pPr algn="l">
              <a:spcAft>
                <a:spcPts val="1200"/>
              </a:spcAft>
            </a:pPr>
            <a:r>
              <a:rPr sz="2400" b="1" i="0">
                <a:solidFill>
                  <a:srgbClr val="1F1F1F"/>
                </a:solidFill>
                <a:latin typeface="Calibri"/>
              </a:rPr>
              <a:t>D1.</a:t>
            </a:r>
            <a:r>
              <a:rPr sz="2400" b="0" i="0">
                <a:solidFill>
                  <a:srgbClr val="1F1F1F"/>
                </a:solidFill>
                <a:latin typeface="Calibri"/>
              </a:rPr>
              <a:t>  5339 m and 5745 m: the warm layer is </a:t>
            </a:r>
            <a:r>
              <a:rPr sz="2400" b="1" i="0">
                <a:solidFill>
                  <a:srgbClr val="007F5F"/>
                </a:solidFill>
                <a:latin typeface="Calibri"/>
              </a:rPr>
              <a:t>406 m</a:t>
            </a:r>
            <a:r>
              <a:rPr sz="2400" b="0" i="0">
                <a:solidFill>
                  <a:srgbClr val="1F1F1F"/>
                </a:solidFill>
                <a:latin typeface="Calibri"/>
              </a:rPr>
              <a:t> thicker (≈ 20 m per degree).</a:t>
            </a:r>
          </a:p>
          <a:p>
            <a:pPr algn="l">
              <a:spcAft>
                <a:spcPts val="1200"/>
              </a:spcAft>
            </a:pPr>
            <a:r>
              <a:rPr sz="2400" b="1" i="0">
                <a:solidFill>
                  <a:srgbClr val="1F1F1F"/>
                </a:solidFill>
                <a:latin typeface="Calibri"/>
              </a:rPr>
              <a:t>D2.</a:t>
            </a:r>
            <a:r>
              <a:rPr sz="2400" b="0" i="0">
                <a:solidFill>
                  <a:srgbClr val="1F1F1F"/>
                </a:solidFill>
                <a:latin typeface="Calibri"/>
              </a:rPr>
              <a:t>  f = 9.37×10</a:t>
            </a:r>
            <a:r>
              <a:rPr sz="2400" b="0" i="0" baseline="30000">
                <a:solidFill>
                  <a:srgbClr val="1F1F1F"/>
                </a:solidFill>
                <a:latin typeface="Calibri"/>
              </a:rPr>
              <a:t>−5</a:t>
            </a:r>
            <a:r>
              <a:rPr sz="2400" b="0" i="0">
                <a:solidFill>
                  <a:srgbClr val="1F1F1F"/>
                </a:solidFill>
                <a:latin typeface="Calibri"/>
              </a:rPr>
              <a:t>; V</a:t>
            </a:r>
            <a:r>
              <a:rPr sz="2400" b="0" i="0" baseline="-25000">
                <a:solidFill>
                  <a:srgbClr val="1F1F1F"/>
                </a:solidFill>
                <a:latin typeface="Calibri"/>
              </a:rPr>
              <a:t>g</a:t>
            </a:r>
            <a:r>
              <a:rPr sz="2400" b="0" i="0">
                <a:solidFill>
                  <a:srgbClr val="1F1F1F"/>
                </a:solidFill>
                <a:latin typeface="Calibri"/>
              </a:rPr>
              <a:t> = (9.81/9.37×10</a:t>
            </a:r>
            <a:r>
              <a:rPr sz="2400" b="0" i="0" baseline="30000">
                <a:solidFill>
                  <a:srgbClr val="1F1F1F"/>
                </a:solidFill>
                <a:latin typeface="Calibri"/>
              </a:rPr>
              <a:t>−5</a:t>
            </a:r>
            <a:r>
              <a:rPr sz="2400" b="0" i="0">
                <a:solidFill>
                  <a:srgbClr val="1F1F1F"/>
                </a:solidFill>
                <a:latin typeface="Calibri"/>
              </a:rPr>
              <a:t>) × 120/8×10</a:t>
            </a:r>
            <a:r>
              <a:rPr sz="2400" b="0" i="0" baseline="30000">
                <a:solidFill>
                  <a:srgbClr val="1F1F1F"/>
                </a:solidFill>
                <a:latin typeface="Calibri"/>
              </a:rPr>
              <a:t>5</a:t>
            </a:r>
            <a:r>
              <a:rPr sz="2400" b="0" i="0">
                <a:solidFill>
                  <a:srgbClr val="1F1F1F"/>
                </a:solidFill>
                <a:latin typeface="Calibri"/>
              </a:rPr>
              <a:t> = </a:t>
            </a:r>
            <a:r>
              <a:rPr sz="2400" b="1" i="0">
                <a:solidFill>
                  <a:srgbClr val="007F5F"/>
                </a:solidFill>
                <a:latin typeface="Calibri"/>
              </a:rPr>
              <a:t>15.7 m/s</a:t>
            </a:r>
            <a:r>
              <a:rPr sz="2400" b="0" i="0">
                <a:solidFill>
                  <a:srgbClr val="1F1F1F"/>
                </a:solidFill>
                <a:latin typeface="Calibri"/>
              </a:rPr>
              <a:t> (≈ 30 kt). B (higher surface) is on the right of the wind: a </a:t>
            </a:r>
            <a:r>
              <a:rPr sz="2400" b="1" i="0">
                <a:solidFill>
                  <a:srgbClr val="007F5F"/>
                </a:solidFill>
                <a:latin typeface="Calibri"/>
              </a:rPr>
              <a:t>westerly</a:t>
            </a:r>
            <a:r>
              <a:rPr sz="2400" b="0" i="0">
                <a:solidFill>
                  <a:srgbClr val="1F1F1F"/>
                </a:solidFill>
                <a:latin typeface="Calibri"/>
              </a:rPr>
              <a:t>.</a:t>
            </a:r>
          </a:p>
          <a:p>
            <a:pPr algn="l">
              <a:spcAft>
                <a:spcPts val="1200"/>
              </a:spcAft>
            </a:pPr>
            <a:r>
              <a:rPr sz="2400" b="1" i="0">
                <a:solidFill>
                  <a:srgbClr val="1F1F1F"/>
                </a:solidFill>
                <a:latin typeface="Calibri"/>
              </a:rPr>
              <a:t>D3.</a:t>
            </a:r>
            <a:r>
              <a:rPr sz="2400" b="0" i="0">
                <a:solidFill>
                  <a:srgbClr val="1F1F1F"/>
                </a:solidFill>
                <a:latin typeface="Calibri"/>
              </a:rPr>
              <a:t>  </a:t>
            </a:r>
            <a:r>
              <a:rPr sz="2400" b="1" i="0">
                <a:solidFill>
                  <a:srgbClr val="007F5F"/>
                </a:solidFill>
                <a:latin typeface="Calibri"/>
              </a:rPr>
              <a:t>P</a:t>
            </a:r>
            <a:r>
              <a:rPr sz="2400" b="0" i="0">
                <a:solidFill>
                  <a:srgbClr val="1F1F1F"/>
                </a:solidFill>
                <a:latin typeface="Calibri"/>
              </a:rPr>
              <a:t>: colder column, thinner, lower pressure surfaces.</a:t>
            </a:r>
          </a:p>
          <a:p>
            <a:pPr algn="l">
              <a:spcAft>
                <a:spcPts val="1200"/>
              </a:spcAft>
            </a:pPr>
            <a:r>
              <a:rPr sz="2400" b="1" i="0">
                <a:solidFill>
                  <a:srgbClr val="1F1F1F"/>
                </a:solidFill>
                <a:latin typeface="Calibri"/>
              </a:rPr>
              <a:t>D4.</a:t>
            </a:r>
            <a:r>
              <a:rPr sz="2400" b="0" i="0">
                <a:solidFill>
                  <a:srgbClr val="1F1F1F"/>
                </a:solidFill>
                <a:latin typeface="Calibri"/>
              </a:rPr>
              <a:t>  Low heights to the north (left of the wind): the wind blows </a:t>
            </a:r>
            <a:r>
              <a:rPr sz="2400" b="1" i="0">
                <a:solidFill>
                  <a:srgbClr val="007F5F"/>
                </a:solidFill>
                <a:latin typeface="Calibri"/>
              </a:rPr>
              <a:t>from west to east</a:t>
            </a:r>
            <a:r>
              <a:rPr sz="2400" b="0" i="0">
                <a:solidFill>
                  <a:srgbClr val="1F1F1F"/>
                </a:solidFill>
                <a:latin typeface="Calibri"/>
              </a:rPr>
              <a:t>, a westerly.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geostrophic wind: two forces in balance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72</a:t>
            </a:r>
          </a:p>
        </p:txBody>
      </p:sp>
      <p:sp>
        <p:nvSpPr>
          <p:cNvPr id="6" name="Rounded Rectangle 5"/>
          <p:cNvSpPr/>
          <p:nvPr/>
        </p:nvSpPr>
        <p:spPr>
          <a:xfrm>
            <a:off x="411480" y="1097280"/>
            <a:ext cx="5669280" cy="173736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700" b="1" i="0">
                <a:solidFill>
                  <a:srgbClr val="0072B2"/>
                </a:solidFill>
                <a:latin typeface="Calibri"/>
              </a:rPr>
              <a:t>Definition</a:t>
            </a:r>
          </a:p>
          <a:p>
            <a:pPr algn="l">
              <a:spcAft>
                <a:spcPts val="300"/>
              </a:spcAft>
            </a:pPr>
            <a:r>
              <a:rPr sz="1700" b="0" i="0">
                <a:solidFill>
                  <a:srgbClr val="1F1F1F"/>
                </a:solidFill>
                <a:latin typeface="Calibri"/>
              </a:rPr>
              <a:t>The </a:t>
            </a:r>
            <a:r>
              <a:rPr sz="1700" b="1" i="0">
                <a:solidFill>
                  <a:srgbClr val="1F1F1F"/>
                </a:solidFill>
                <a:latin typeface="Calibri"/>
              </a:rPr>
              <a:t>geostrophic wind</a:t>
            </a:r>
            <a:r>
              <a:rPr sz="1700" b="0" i="0">
                <a:solidFill>
                  <a:srgbClr val="1F1F1F"/>
                </a:solidFill>
                <a:latin typeface="Calibri"/>
              </a:rPr>
              <a:t> is the wind for which the pressure gradient force and the Coriolis force exactly balance. It blows </a:t>
            </a:r>
            <a:r>
              <a:rPr sz="1700" b="1" i="0">
                <a:solidFill>
                  <a:srgbClr val="1F1F1F"/>
                </a:solidFill>
                <a:latin typeface="Calibri"/>
              </a:rPr>
              <a:t>along</a:t>
            </a:r>
            <a:r>
              <a:rPr sz="1700" b="0" i="0">
                <a:solidFill>
                  <a:srgbClr val="1F1F1F"/>
                </a:solidFill>
                <a:latin typeface="Calibri"/>
              </a:rPr>
              <a:t> the isobars (or height contours).</a:t>
            </a:r>
          </a:p>
        </p:txBody>
      </p:sp>
      <p:sp>
        <p:nvSpPr>
          <p:cNvPr id="7" name="Rounded Rectangle 6"/>
          <p:cNvSpPr/>
          <p:nvPr/>
        </p:nvSpPr>
        <p:spPr>
          <a:xfrm>
            <a:off x="411480" y="3017520"/>
            <a:ext cx="5669280" cy="137160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700" b="1" i="0">
                <a:solidFill>
                  <a:srgbClr val="1B3A6B"/>
                </a:solidFill>
                <a:latin typeface="Calibri"/>
              </a:rPr>
              <a:t>The balance</a:t>
            </a:r>
          </a:p>
          <a:p>
            <a:pPr algn="l">
              <a:spcAft>
                <a:spcPts val="300"/>
              </a:spcAft>
            </a:pPr>
            <a:r>
              <a:rPr sz="1700" b="0" i="0">
                <a:solidFill>
                  <a:srgbClr val="1F1F1F"/>
                </a:solidFill>
                <a:latin typeface="Calibri"/>
              </a:rPr>
              <a:t>(1/ρ) Δp/Δn = f V</a:t>
            </a:r>
            <a:r>
              <a:rPr sz="1700" b="0" i="0" baseline="-25000">
                <a:solidFill>
                  <a:srgbClr val="1F1F1F"/>
                </a:solidFill>
                <a:latin typeface="Calibri"/>
              </a:rPr>
              <a:t>g</a:t>
            </a:r>
          </a:p>
          <a:p>
            <a:pPr algn="l">
              <a:spcAft>
                <a:spcPts val="300"/>
              </a:spcAft>
            </a:pPr>
            <a:r>
              <a:rPr sz="1700" b="0" i="0">
                <a:solidFill>
                  <a:srgbClr val="1F1F1F"/>
                </a:solidFill>
                <a:latin typeface="Calibri"/>
              </a:rPr>
              <a:t>V</a:t>
            </a:r>
            <a:r>
              <a:rPr sz="1700" b="0" i="0" baseline="-25000">
                <a:solidFill>
                  <a:srgbClr val="1F1F1F"/>
                </a:solidFill>
                <a:latin typeface="Calibri"/>
              </a:rPr>
              <a:t>g</a:t>
            </a:r>
            <a:r>
              <a:rPr sz="1700" b="0" i="0">
                <a:solidFill>
                  <a:srgbClr val="1F1F1F"/>
                </a:solidFill>
                <a:latin typeface="Calibri"/>
              </a:rPr>
              <a:t> = (g / f) × (Δz / Δn)</a:t>
            </a:r>
          </a:p>
        </p:txBody>
      </p:sp>
      <p:sp>
        <p:nvSpPr>
          <p:cNvPr id="8" name="TextBox 7"/>
          <p:cNvSpPr txBox="1"/>
          <p:nvPr/>
        </p:nvSpPr>
        <p:spPr>
          <a:xfrm>
            <a:off x="457200" y="4572000"/>
            <a:ext cx="5669280" cy="1645920"/>
          </a:xfrm>
          <a:prstGeom prst="rect">
            <a:avLst/>
          </a:prstGeom>
          <a:noFill/>
        </p:spPr>
        <p:txBody>
          <a:bodyPr wrap="square" anchor="t" lIns="45720" rIns="45720">
            <a:spAutoFit/>
          </a:bodyPr>
          <a:lstStyle/>
          <a:p>
            <a:pPr algn="l">
              <a:spcAft>
                <a:spcPts val="600"/>
              </a:spcAft>
            </a:pPr>
            <a:r>
              <a:rPr sz="1800" b="1" i="0">
                <a:solidFill>
                  <a:srgbClr val="1F1F1F"/>
                </a:solidFill>
                <a:latin typeface="Calibri"/>
              </a:rPr>
              <a:t>Buys-Ballot:</a:t>
            </a:r>
            <a:r>
              <a:rPr sz="1800" b="0" i="0">
                <a:solidFill>
                  <a:srgbClr val="1F1F1F"/>
                </a:solidFill>
                <a:latin typeface="Calibri"/>
              </a:rPr>
              <a:t> back to the wind, low pressure is on your </a:t>
            </a:r>
            <a:r>
              <a:rPr sz="1800" b="1" i="0">
                <a:solidFill>
                  <a:srgbClr val="0072B2"/>
                </a:solidFill>
                <a:latin typeface="Calibri"/>
              </a:rPr>
              <a:t>left</a:t>
            </a:r>
            <a:r>
              <a:rPr sz="1800" b="0" i="0">
                <a:solidFill>
                  <a:srgbClr val="1F1F1F"/>
                </a:solidFill>
                <a:latin typeface="Calibri"/>
              </a:rPr>
              <a:t> in the Northern Hemisphere, your </a:t>
            </a:r>
            <a:r>
              <a:rPr sz="1800" b="1" i="0">
                <a:solidFill>
                  <a:srgbClr val="D55E00"/>
                </a:solidFill>
                <a:latin typeface="Calibri"/>
              </a:rPr>
              <a:t>right</a:t>
            </a:r>
            <a:r>
              <a:rPr sz="1800" b="0" i="0">
                <a:solidFill>
                  <a:srgbClr val="1F1F1F"/>
                </a:solidFill>
                <a:latin typeface="Calibri"/>
              </a:rPr>
              <a:t> in the Southern.</a:t>
            </a:r>
          </a:p>
        </p:txBody>
      </p:sp>
      <p:pic>
        <p:nvPicPr>
          <p:cNvPr id="9" name="Picture 8" descr="ch06_05.png"/>
          <p:cNvPicPr>
            <a:picLocks noChangeAspect="1"/>
          </p:cNvPicPr>
          <p:nvPr/>
        </p:nvPicPr>
        <p:blipFill>
          <a:blip r:embed="rId3"/>
          <a:stretch>
            <a:fillRect/>
          </a:stretch>
        </p:blipFill>
        <p:spPr>
          <a:xfrm>
            <a:off x="6309360" y="2483692"/>
            <a:ext cx="5486400" cy="2164934"/>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four stages of Figure 3: stage 1</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73</a:t>
            </a:r>
          </a:p>
        </p:txBody>
      </p:sp>
      <p:sp>
        <p:nvSpPr>
          <p:cNvPr id="6" name="Rounded Rectangle 5"/>
          <p:cNvSpPr/>
          <p:nvPr/>
        </p:nvSpPr>
        <p:spPr>
          <a:xfrm>
            <a:off x="365760" y="1051560"/>
            <a:ext cx="4663440" cy="1481582"/>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Stage 1: at rest.</a:t>
            </a:r>
            <a:r>
              <a:rPr sz="1700" b="0" i="0">
                <a:solidFill>
                  <a:srgbClr val="1F1F1F"/>
                </a:solidFill>
                <a:latin typeface="Calibri"/>
              </a:rPr>
              <a:t> The parcel is on the high-pressure side. No motion, so no Coriolis force: only the pressure gradient force acts, towards low pressure (north).</a:t>
            </a:r>
          </a:p>
        </p:txBody>
      </p:sp>
      <p:sp>
        <p:nvSpPr>
          <p:cNvPr id="7" name="Oval 6"/>
          <p:cNvSpPr/>
          <p:nvPr/>
        </p:nvSpPr>
        <p:spPr>
          <a:xfrm>
            <a:off x="457200" y="1618615"/>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geoN_s1.png"/>
          <p:cNvPicPr>
            <a:picLocks noChangeAspect="1"/>
          </p:cNvPicPr>
          <p:nvPr/>
        </p:nvPicPr>
        <p:blipFill>
          <a:blip r:embed="rId3"/>
          <a:stretch>
            <a:fillRect/>
          </a:stretch>
        </p:blipFill>
        <p:spPr>
          <a:xfrm>
            <a:off x="5257800" y="1762220"/>
            <a:ext cx="6613855" cy="3745038"/>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four stages of Figure 3: stage 2</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74</a:t>
            </a:r>
          </a:p>
        </p:txBody>
      </p:sp>
      <p:sp>
        <p:nvSpPr>
          <p:cNvPr id="6" name="Rounded Rectangle 5"/>
          <p:cNvSpPr/>
          <p:nvPr/>
        </p:nvSpPr>
        <p:spPr>
          <a:xfrm>
            <a:off x="365760" y="1051560"/>
            <a:ext cx="4663440" cy="1481582"/>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Stage 1: at rest.</a:t>
            </a:r>
            <a:r>
              <a:rPr sz="1700" b="0" i="0">
                <a:solidFill>
                  <a:srgbClr val="6B6B6B"/>
                </a:solidFill>
                <a:latin typeface="Calibri"/>
              </a:rPr>
              <a:t> The parcel is on the high-pressure side. No motion, so no Coriolis force: only the pressure gradient force acts, towards low pressure (north).</a:t>
            </a:r>
          </a:p>
        </p:txBody>
      </p:sp>
      <p:sp>
        <p:nvSpPr>
          <p:cNvPr id="7" name="Oval 6"/>
          <p:cNvSpPr/>
          <p:nvPr/>
        </p:nvSpPr>
        <p:spPr>
          <a:xfrm>
            <a:off x="457200" y="1618615"/>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624582"/>
            <a:ext cx="4663440" cy="1218183"/>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Stage 2: moving north.</a:t>
            </a:r>
            <a:r>
              <a:rPr sz="1700" b="0" i="0">
                <a:solidFill>
                  <a:srgbClr val="1F1F1F"/>
                </a:solidFill>
                <a:latin typeface="Calibri"/>
              </a:rPr>
              <a:t> As soon as it moves, the Coriolis force appears at right angles and to the </a:t>
            </a:r>
            <a:r>
              <a:rPr sz="1700" b="1" i="0">
                <a:solidFill>
                  <a:srgbClr val="1F1F1F"/>
                </a:solidFill>
                <a:latin typeface="Calibri"/>
              </a:rPr>
              <a:t>right</a:t>
            </a:r>
            <a:r>
              <a:rPr sz="1700" b="0" i="0">
                <a:solidFill>
                  <a:srgbClr val="1F1F1F"/>
                </a:solidFill>
                <a:latin typeface="Calibri"/>
              </a:rPr>
              <a:t>: towards the east. The path bends right.</a:t>
            </a:r>
          </a:p>
        </p:txBody>
      </p:sp>
      <p:sp>
        <p:nvSpPr>
          <p:cNvPr id="9" name="Oval 8"/>
          <p:cNvSpPr/>
          <p:nvPr/>
        </p:nvSpPr>
        <p:spPr>
          <a:xfrm>
            <a:off x="457200" y="3059938"/>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geoN_s2.png"/>
          <p:cNvPicPr>
            <a:picLocks noChangeAspect="1"/>
          </p:cNvPicPr>
          <p:nvPr/>
        </p:nvPicPr>
        <p:blipFill>
          <a:blip r:embed="rId3"/>
          <a:stretch>
            <a:fillRect/>
          </a:stretch>
        </p:blipFill>
        <p:spPr>
          <a:xfrm>
            <a:off x="5257800" y="1762220"/>
            <a:ext cx="6613855" cy="3745038"/>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four stages of Figure 3: stage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75</a:t>
            </a:r>
          </a:p>
        </p:txBody>
      </p:sp>
      <p:sp>
        <p:nvSpPr>
          <p:cNvPr id="6" name="Rounded Rectangle 5"/>
          <p:cNvSpPr/>
          <p:nvPr/>
        </p:nvSpPr>
        <p:spPr>
          <a:xfrm>
            <a:off x="365760" y="1051560"/>
            <a:ext cx="4663440" cy="1481582"/>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Stage 1: at rest.</a:t>
            </a:r>
            <a:r>
              <a:rPr sz="1700" b="0" i="0">
                <a:solidFill>
                  <a:srgbClr val="6B6B6B"/>
                </a:solidFill>
                <a:latin typeface="Calibri"/>
              </a:rPr>
              <a:t> The parcel is on the high-pressure side. No motion, so no Coriolis force: only the pressure gradient force acts, towards low pressure (north).</a:t>
            </a:r>
          </a:p>
        </p:txBody>
      </p:sp>
      <p:sp>
        <p:nvSpPr>
          <p:cNvPr id="7" name="Oval 6"/>
          <p:cNvSpPr/>
          <p:nvPr/>
        </p:nvSpPr>
        <p:spPr>
          <a:xfrm>
            <a:off x="457200" y="1618615"/>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624582"/>
            <a:ext cx="4663440" cy="1218183"/>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Stage 2: moving north.</a:t>
            </a:r>
            <a:r>
              <a:rPr sz="1700" b="0" i="0">
                <a:solidFill>
                  <a:srgbClr val="6B6B6B"/>
                </a:solidFill>
                <a:latin typeface="Calibri"/>
              </a:rPr>
              <a:t> As soon as it moves, the Coriolis force appears at right angles and to the </a:t>
            </a:r>
            <a:r>
              <a:rPr sz="1700" b="1" i="0">
                <a:solidFill>
                  <a:srgbClr val="6B6B6B"/>
                </a:solidFill>
                <a:latin typeface="Calibri"/>
              </a:rPr>
              <a:t>right</a:t>
            </a:r>
            <a:r>
              <a:rPr sz="1700" b="0" i="0">
                <a:solidFill>
                  <a:srgbClr val="6B6B6B"/>
                </a:solidFill>
                <a:latin typeface="Calibri"/>
              </a:rPr>
              <a:t>: towards the east. The path bends right.</a:t>
            </a:r>
          </a:p>
        </p:txBody>
      </p:sp>
      <p:sp>
        <p:nvSpPr>
          <p:cNvPr id="9" name="Oval 8"/>
          <p:cNvSpPr/>
          <p:nvPr/>
        </p:nvSpPr>
        <p:spPr>
          <a:xfrm>
            <a:off x="457200" y="305993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934206"/>
            <a:ext cx="4663440" cy="1481582"/>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Stage 3: moving north-east.</a:t>
            </a:r>
            <a:r>
              <a:rPr sz="1700" b="0" i="0">
                <a:solidFill>
                  <a:srgbClr val="1F1F1F"/>
                </a:solidFill>
                <a:latin typeface="Calibri"/>
              </a:rPr>
              <a:t> The speed has grown, so the Coriolis force is larger and now points partly </a:t>
            </a:r>
            <a:r>
              <a:rPr sz="1700" b="1" i="0">
                <a:solidFill>
                  <a:srgbClr val="1F1F1F"/>
                </a:solidFill>
                <a:latin typeface="Calibri"/>
              </a:rPr>
              <a:t>against</a:t>
            </a:r>
            <a:r>
              <a:rPr sz="1700" b="0" i="0">
                <a:solidFill>
                  <a:srgbClr val="1F1F1F"/>
                </a:solidFill>
                <a:latin typeface="Calibri"/>
              </a:rPr>
              <a:t> the pressure force. The path keeps bending.</a:t>
            </a:r>
          </a:p>
        </p:txBody>
      </p:sp>
      <p:sp>
        <p:nvSpPr>
          <p:cNvPr id="11" name="Oval 10"/>
          <p:cNvSpPr/>
          <p:nvPr/>
        </p:nvSpPr>
        <p:spPr>
          <a:xfrm>
            <a:off x="457200" y="4501261"/>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geoN_s3.png"/>
          <p:cNvPicPr>
            <a:picLocks noChangeAspect="1"/>
          </p:cNvPicPr>
          <p:nvPr/>
        </p:nvPicPr>
        <p:blipFill>
          <a:blip r:embed="rId3"/>
          <a:stretch>
            <a:fillRect/>
          </a:stretch>
        </p:blipFill>
        <p:spPr>
          <a:xfrm>
            <a:off x="5257800" y="1762220"/>
            <a:ext cx="6613855" cy="3745038"/>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four stages of Figure 3: stage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76</a:t>
            </a:r>
          </a:p>
        </p:txBody>
      </p:sp>
      <p:sp>
        <p:nvSpPr>
          <p:cNvPr id="6" name="Rounded Rectangle 5"/>
          <p:cNvSpPr/>
          <p:nvPr/>
        </p:nvSpPr>
        <p:spPr>
          <a:xfrm>
            <a:off x="365760" y="1051560"/>
            <a:ext cx="4663440" cy="1094232"/>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500" b="1" i="0">
                <a:solidFill>
                  <a:srgbClr val="6B6B6B"/>
                </a:solidFill>
                <a:latin typeface="Calibri"/>
              </a:rPr>
              <a:t>Stage 1: at rest.</a:t>
            </a:r>
            <a:r>
              <a:rPr sz="1500" b="0" i="0">
                <a:solidFill>
                  <a:srgbClr val="6B6B6B"/>
                </a:solidFill>
                <a:latin typeface="Calibri"/>
              </a:rPr>
              <a:t> The parcel is on the high-pressure side. No motion, so no Coriolis force: only the pressure gradient force acts, towards low pressure (north).</a:t>
            </a:r>
          </a:p>
        </p:txBody>
      </p:sp>
      <p:sp>
        <p:nvSpPr>
          <p:cNvPr id="7" name="Oval 6"/>
          <p:cNvSpPr/>
          <p:nvPr/>
        </p:nvSpPr>
        <p:spPr>
          <a:xfrm>
            <a:off x="457200" y="1424939"/>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237231"/>
            <a:ext cx="4663440" cy="1094232"/>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500" b="1" i="0">
                <a:solidFill>
                  <a:srgbClr val="6B6B6B"/>
                </a:solidFill>
                <a:latin typeface="Calibri"/>
              </a:rPr>
              <a:t>Stage 2: moving north.</a:t>
            </a:r>
            <a:r>
              <a:rPr sz="1500" b="0" i="0">
                <a:solidFill>
                  <a:srgbClr val="6B6B6B"/>
                </a:solidFill>
                <a:latin typeface="Calibri"/>
              </a:rPr>
              <a:t> As soon as it moves, the Coriolis force appears at right angles and to the </a:t>
            </a:r>
            <a:r>
              <a:rPr sz="1500" b="1" i="0">
                <a:solidFill>
                  <a:srgbClr val="6B6B6B"/>
                </a:solidFill>
                <a:latin typeface="Calibri"/>
              </a:rPr>
              <a:t>right</a:t>
            </a:r>
            <a:r>
              <a:rPr sz="1500" b="0" i="0">
                <a:solidFill>
                  <a:srgbClr val="6B6B6B"/>
                </a:solidFill>
                <a:latin typeface="Calibri"/>
              </a:rPr>
              <a:t>: towards the east. The path bends right.</a:t>
            </a:r>
          </a:p>
        </p:txBody>
      </p:sp>
      <p:sp>
        <p:nvSpPr>
          <p:cNvPr id="9" name="Oval 8"/>
          <p:cNvSpPr/>
          <p:nvPr/>
        </p:nvSpPr>
        <p:spPr>
          <a:xfrm>
            <a:off x="457200" y="2610611"/>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422904"/>
            <a:ext cx="4663440" cy="1094232"/>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500" b="1" i="0">
                <a:solidFill>
                  <a:srgbClr val="6B6B6B"/>
                </a:solidFill>
                <a:latin typeface="Calibri"/>
              </a:rPr>
              <a:t>Stage 3: moving north-east.</a:t>
            </a:r>
            <a:r>
              <a:rPr sz="1500" b="0" i="0">
                <a:solidFill>
                  <a:srgbClr val="6B6B6B"/>
                </a:solidFill>
                <a:latin typeface="Calibri"/>
              </a:rPr>
              <a:t> The speed has grown, so the Coriolis force is larger and now points partly </a:t>
            </a:r>
            <a:r>
              <a:rPr sz="1500" b="1" i="0">
                <a:solidFill>
                  <a:srgbClr val="6B6B6B"/>
                </a:solidFill>
                <a:latin typeface="Calibri"/>
              </a:rPr>
              <a:t>against</a:t>
            </a:r>
            <a:r>
              <a:rPr sz="1500" b="0" i="0">
                <a:solidFill>
                  <a:srgbClr val="6B6B6B"/>
                </a:solidFill>
                <a:latin typeface="Calibri"/>
              </a:rPr>
              <a:t> the pressure force. The path keeps bending.</a:t>
            </a:r>
          </a:p>
        </p:txBody>
      </p:sp>
      <p:sp>
        <p:nvSpPr>
          <p:cNvPr id="11" name="Oval 10"/>
          <p:cNvSpPr/>
          <p:nvPr/>
        </p:nvSpPr>
        <p:spPr>
          <a:xfrm>
            <a:off x="457200" y="3796283"/>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608576"/>
            <a:ext cx="4663440" cy="1094232"/>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500" b="1" i="0">
                <a:solidFill>
                  <a:srgbClr val="1F1F1F"/>
                </a:solidFill>
                <a:latin typeface="Calibri"/>
              </a:rPr>
              <a:t>Stage 4: moving east.</a:t>
            </a:r>
            <a:r>
              <a:rPr sz="1500" b="0" i="0">
                <a:solidFill>
                  <a:srgbClr val="1F1F1F"/>
                </a:solidFill>
                <a:latin typeface="Calibri"/>
              </a:rPr>
              <a:t> Along the isobars the Coriolis force points exactly back towards the high, equal and opposite to the pressure force: </a:t>
            </a:r>
            <a:r>
              <a:rPr sz="1500" b="1" i="0">
                <a:solidFill>
                  <a:srgbClr val="1F1F1F"/>
                </a:solidFill>
                <a:latin typeface="Calibri"/>
              </a:rPr>
              <a:t>balance</a:t>
            </a:r>
            <a:r>
              <a:rPr sz="1500" b="0" i="0">
                <a:solidFill>
                  <a:srgbClr val="1F1F1F"/>
                </a:solidFill>
                <a:latin typeface="Calibri"/>
              </a:rPr>
              <a:t>, steady wind.</a:t>
            </a:r>
          </a:p>
        </p:txBody>
      </p:sp>
      <p:sp>
        <p:nvSpPr>
          <p:cNvPr id="13" name="Oval 12"/>
          <p:cNvSpPr/>
          <p:nvPr/>
        </p:nvSpPr>
        <p:spPr>
          <a:xfrm>
            <a:off x="457200" y="4981956"/>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pic>
        <p:nvPicPr>
          <p:cNvPr id="14" name="Picture 13" descr="geoN_s4.png"/>
          <p:cNvPicPr>
            <a:picLocks noChangeAspect="1"/>
          </p:cNvPicPr>
          <p:nvPr/>
        </p:nvPicPr>
        <p:blipFill>
          <a:blip r:embed="rId3"/>
          <a:stretch>
            <a:fillRect/>
          </a:stretch>
        </p:blipFill>
        <p:spPr>
          <a:xfrm>
            <a:off x="5257800" y="1762220"/>
            <a:ext cx="6613855" cy="3745038"/>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3): Northern Hemisphere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77</a:t>
            </a:r>
          </a:p>
        </p:txBody>
      </p:sp>
      <p:sp>
        <p:nvSpPr>
          <p:cNvPr id="6" name="Rounded Rectangle 5"/>
          <p:cNvSpPr/>
          <p:nvPr/>
        </p:nvSpPr>
        <p:spPr>
          <a:xfrm>
            <a:off x="411480" y="1097280"/>
            <a:ext cx="5760720" cy="237744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The geostrophic wind is one where the pressure gradient force equals the Coriolis force. Mark the side with the higher pressure with an 'H' and the side with the lower pressure with an 'L'.</a:t>
            </a:r>
          </a:p>
        </p:txBody>
      </p:sp>
      <p:sp>
        <p:nvSpPr>
          <p:cNvPr id="7" name="TextBox 6"/>
          <p:cNvSpPr txBox="1"/>
          <p:nvPr/>
        </p:nvSpPr>
        <p:spPr>
          <a:xfrm>
            <a:off x="457200" y="3749039"/>
            <a:ext cx="5669280" cy="265176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The lines are labelled with the </a:t>
            </a:r>
            <a:r>
              <a:rPr sz="1900" b="1" i="0">
                <a:solidFill>
                  <a:srgbClr val="1F1F1F"/>
                </a:solidFill>
                <a:latin typeface="Calibri"/>
              </a:rPr>
              <a:t>height</a:t>
            </a:r>
            <a:r>
              <a:rPr sz="1900" b="0" i="0">
                <a:solidFill>
                  <a:srgbClr val="1F1F1F"/>
                </a:solidFill>
                <a:latin typeface="Calibri"/>
              </a:rPr>
              <a:t> of the 500 hPa surface: 5460 m (top) and 5520 m (bottom).</a:t>
            </a:r>
          </a:p>
        </p:txBody>
      </p:sp>
      <p:pic>
        <p:nvPicPr>
          <p:cNvPr id="8" name="Picture 7" descr="geoansN_s0.png"/>
          <p:cNvPicPr>
            <a:picLocks noChangeAspect="1"/>
          </p:cNvPicPr>
          <p:nvPr/>
        </p:nvPicPr>
        <p:blipFill>
          <a:blip r:embed="rId2"/>
          <a:stretch>
            <a:fillRect/>
          </a:stretch>
        </p:blipFill>
        <p:spPr>
          <a:xfrm>
            <a:off x="6400800" y="2342672"/>
            <a:ext cx="5394960" cy="2629855"/>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3): step 1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78</a:t>
            </a:r>
          </a:p>
        </p:txBody>
      </p:sp>
      <p:sp>
        <p:nvSpPr>
          <p:cNvPr id="6" name="Rounded Rectangle 5"/>
          <p:cNvSpPr/>
          <p:nvPr/>
        </p:nvSpPr>
        <p:spPr>
          <a:xfrm>
            <a:off x="365760" y="1051560"/>
            <a:ext cx="4663440" cy="1001268"/>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Higher height = higher pressure:</a:t>
            </a:r>
            <a:r>
              <a:rPr sz="1800" b="0" i="0">
                <a:solidFill>
                  <a:srgbClr val="1F1F1F"/>
                </a:solidFill>
                <a:latin typeface="Calibri"/>
              </a:rPr>
              <a:t> a pressure surface is higher where the pressure is higher.</a:t>
            </a:r>
          </a:p>
        </p:txBody>
      </p:sp>
      <p:sp>
        <p:nvSpPr>
          <p:cNvPr id="7" name="Oval 6"/>
          <p:cNvSpPr/>
          <p:nvPr/>
        </p:nvSpPr>
        <p:spPr>
          <a:xfrm>
            <a:off x="457200" y="1378457"/>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geoansN_s0.png"/>
          <p:cNvPicPr>
            <a:picLocks noChangeAspect="1"/>
          </p:cNvPicPr>
          <p:nvPr/>
        </p:nvPicPr>
        <p:blipFill>
          <a:blip r:embed="rId3"/>
          <a:stretch>
            <a:fillRect/>
          </a:stretch>
        </p:blipFill>
        <p:spPr>
          <a:xfrm>
            <a:off x="5257800" y="2022727"/>
            <a:ext cx="6613855" cy="3224024"/>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3): step 2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79</a:t>
            </a:r>
          </a:p>
        </p:txBody>
      </p:sp>
      <p:sp>
        <p:nvSpPr>
          <p:cNvPr id="6" name="Rounded Rectangle 5"/>
          <p:cNvSpPr/>
          <p:nvPr/>
        </p:nvSpPr>
        <p:spPr>
          <a:xfrm>
            <a:off x="365760" y="1051560"/>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Higher height = higher pressure:</a:t>
            </a:r>
            <a:r>
              <a:rPr sz="1800" b="0" i="0">
                <a:solidFill>
                  <a:srgbClr val="6B6B6B"/>
                </a:solidFill>
                <a:latin typeface="Calibri"/>
              </a:rPr>
              <a:t> a pressure surface is higher where the pressure is higher.</a:t>
            </a:r>
          </a:p>
        </p:txBody>
      </p:sp>
      <p:sp>
        <p:nvSpPr>
          <p:cNvPr id="7" name="Oval 6"/>
          <p:cNvSpPr/>
          <p:nvPr/>
        </p:nvSpPr>
        <p:spPr>
          <a:xfrm>
            <a:off x="457200" y="1378457"/>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144268"/>
            <a:ext cx="4663440" cy="1001268"/>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0" i="0">
                <a:solidFill>
                  <a:srgbClr val="1F1F1F"/>
                </a:solidFill>
                <a:latin typeface="Calibri"/>
              </a:rPr>
              <a:t>So the </a:t>
            </a:r>
            <a:r>
              <a:rPr sz="1800" b="1" i="0">
                <a:solidFill>
                  <a:srgbClr val="1F1F1F"/>
                </a:solidFill>
                <a:latin typeface="Calibri"/>
              </a:rPr>
              <a:t>5520 m</a:t>
            </a:r>
            <a:r>
              <a:rPr sz="1800" b="0" i="0">
                <a:solidFill>
                  <a:srgbClr val="1F1F1F"/>
                </a:solidFill>
                <a:latin typeface="Calibri"/>
              </a:rPr>
              <a:t> line (bottom) is the high side: write </a:t>
            </a:r>
            <a:r>
              <a:rPr sz="1800" b="1" i="0">
                <a:solidFill>
                  <a:srgbClr val="1F1F1F"/>
                </a:solidFill>
                <a:latin typeface="Calibri"/>
              </a:rPr>
              <a:t>H</a:t>
            </a:r>
            <a:r>
              <a:rPr sz="1800" b="0" i="0">
                <a:solidFill>
                  <a:srgbClr val="1F1F1F"/>
                </a:solidFill>
                <a:latin typeface="Calibri"/>
              </a:rPr>
              <a:t> there; the </a:t>
            </a:r>
            <a:r>
              <a:rPr sz="1800" b="1" i="0">
                <a:solidFill>
                  <a:srgbClr val="1F1F1F"/>
                </a:solidFill>
                <a:latin typeface="Calibri"/>
              </a:rPr>
              <a:t>5460 m</a:t>
            </a:r>
            <a:r>
              <a:rPr sz="1800" b="0" i="0">
                <a:solidFill>
                  <a:srgbClr val="1F1F1F"/>
                </a:solidFill>
                <a:latin typeface="Calibri"/>
              </a:rPr>
              <a:t> line (top) is the low side: </a:t>
            </a:r>
            <a:r>
              <a:rPr sz="1800" b="1" i="0">
                <a:solidFill>
                  <a:srgbClr val="1F1F1F"/>
                </a:solidFill>
                <a:latin typeface="Calibri"/>
              </a:rPr>
              <a:t>L</a:t>
            </a:r>
            <a:r>
              <a:rPr sz="1800" b="0" i="0">
                <a:solidFill>
                  <a:srgbClr val="1F1F1F"/>
                </a:solidFill>
                <a:latin typeface="Calibri"/>
              </a:rPr>
              <a:t>.</a:t>
            </a:r>
          </a:p>
        </p:txBody>
      </p:sp>
      <p:sp>
        <p:nvSpPr>
          <p:cNvPr id="9" name="Oval 8"/>
          <p:cNvSpPr/>
          <p:nvPr/>
        </p:nvSpPr>
        <p:spPr>
          <a:xfrm>
            <a:off x="457200" y="2471165"/>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geoansN_s1.png"/>
          <p:cNvPicPr>
            <a:picLocks noChangeAspect="1"/>
          </p:cNvPicPr>
          <p:nvPr/>
        </p:nvPicPr>
        <p:blipFill>
          <a:blip r:embed="rId3"/>
          <a:stretch>
            <a:fillRect/>
          </a:stretch>
        </p:blipFill>
        <p:spPr>
          <a:xfrm>
            <a:off x="5257800" y="2022727"/>
            <a:ext cx="6613855" cy="3224024"/>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3): step 3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80</a:t>
            </a:r>
          </a:p>
        </p:txBody>
      </p:sp>
      <p:sp>
        <p:nvSpPr>
          <p:cNvPr id="6" name="Rounded Rectangle 5"/>
          <p:cNvSpPr/>
          <p:nvPr/>
        </p:nvSpPr>
        <p:spPr>
          <a:xfrm>
            <a:off x="365760" y="1051560"/>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Higher height = higher pressure:</a:t>
            </a:r>
            <a:r>
              <a:rPr sz="1800" b="0" i="0">
                <a:solidFill>
                  <a:srgbClr val="6B6B6B"/>
                </a:solidFill>
                <a:latin typeface="Calibri"/>
              </a:rPr>
              <a:t> a pressure surface is higher where the pressure is higher.</a:t>
            </a:r>
          </a:p>
        </p:txBody>
      </p:sp>
      <p:sp>
        <p:nvSpPr>
          <p:cNvPr id="7" name="Oval 6"/>
          <p:cNvSpPr/>
          <p:nvPr/>
        </p:nvSpPr>
        <p:spPr>
          <a:xfrm>
            <a:off x="457200" y="1378457"/>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144268"/>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0" i="0">
                <a:solidFill>
                  <a:srgbClr val="6B6B6B"/>
                </a:solidFill>
                <a:latin typeface="Calibri"/>
              </a:rPr>
              <a:t>So the </a:t>
            </a:r>
            <a:r>
              <a:rPr sz="1800" b="1" i="0">
                <a:solidFill>
                  <a:srgbClr val="6B6B6B"/>
                </a:solidFill>
                <a:latin typeface="Calibri"/>
              </a:rPr>
              <a:t>5520 m</a:t>
            </a:r>
            <a:r>
              <a:rPr sz="1800" b="0" i="0">
                <a:solidFill>
                  <a:srgbClr val="6B6B6B"/>
                </a:solidFill>
                <a:latin typeface="Calibri"/>
              </a:rPr>
              <a:t> line (bottom) is the high side: write </a:t>
            </a:r>
            <a:r>
              <a:rPr sz="1800" b="1" i="0">
                <a:solidFill>
                  <a:srgbClr val="6B6B6B"/>
                </a:solidFill>
                <a:latin typeface="Calibri"/>
              </a:rPr>
              <a:t>H</a:t>
            </a:r>
            <a:r>
              <a:rPr sz="1800" b="0" i="0">
                <a:solidFill>
                  <a:srgbClr val="6B6B6B"/>
                </a:solidFill>
                <a:latin typeface="Calibri"/>
              </a:rPr>
              <a:t> there; the </a:t>
            </a:r>
            <a:r>
              <a:rPr sz="1800" b="1" i="0">
                <a:solidFill>
                  <a:srgbClr val="6B6B6B"/>
                </a:solidFill>
                <a:latin typeface="Calibri"/>
              </a:rPr>
              <a:t>5460 m</a:t>
            </a:r>
            <a:r>
              <a:rPr sz="1800" b="0" i="0">
                <a:solidFill>
                  <a:srgbClr val="6B6B6B"/>
                </a:solidFill>
                <a:latin typeface="Calibri"/>
              </a:rPr>
              <a:t> line (top) is the low side: </a:t>
            </a:r>
            <a:r>
              <a:rPr sz="1800" b="1" i="0">
                <a:solidFill>
                  <a:srgbClr val="6B6B6B"/>
                </a:solidFill>
                <a:latin typeface="Calibri"/>
              </a:rPr>
              <a:t>L</a:t>
            </a:r>
            <a:r>
              <a:rPr sz="1800" b="0" i="0">
                <a:solidFill>
                  <a:srgbClr val="6B6B6B"/>
                </a:solidFill>
                <a:latin typeface="Calibri"/>
              </a:rPr>
              <a:t>.</a:t>
            </a:r>
          </a:p>
        </p:txBody>
      </p:sp>
      <p:sp>
        <p:nvSpPr>
          <p:cNvPr id="9" name="Oval 8"/>
          <p:cNvSpPr/>
          <p:nvPr/>
        </p:nvSpPr>
        <p:spPr>
          <a:xfrm>
            <a:off x="457200" y="2471165"/>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236976"/>
            <a:ext cx="4663440" cy="72237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Pressure gradient force</a:t>
            </a:r>
            <a:r>
              <a:rPr sz="1800" b="0" i="0">
                <a:solidFill>
                  <a:srgbClr val="1F1F1F"/>
                </a:solidFill>
                <a:latin typeface="Calibri"/>
              </a:rPr>
              <a:t> from H to L: </a:t>
            </a:r>
            <a:r>
              <a:rPr sz="1800" b="1" i="0">
                <a:solidFill>
                  <a:srgbClr val="1F1F1F"/>
                </a:solidFill>
                <a:latin typeface="Calibri"/>
              </a:rPr>
              <a:t>north</a:t>
            </a:r>
            <a:r>
              <a:rPr sz="1800" b="0" i="0">
                <a:solidFill>
                  <a:srgbClr val="1F1F1F"/>
                </a:solidFill>
                <a:latin typeface="Calibri"/>
              </a:rPr>
              <a:t> (up the page).</a:t>
            </a:r>
          </a:p>
        </p:txBody>
      </p:sp>
      <p:sp>
        <p:nvSpPr>
          <p:cNvPr id="11" name="Oval 10"/>
          <p:cNvSpPr/>
          <p:nvPr/>
        </p:nvSpPr>
        <p:spPr>
          <a:xfrm>
            <a:off x="457200" y="3424428"/>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geoansN_s2.png"/>
          <p:cNvPicPr>
            <a:picLocks noChangeAspect="1"/>
          </p:cNvPicPr>
          <p:nvPr/>
        </p:nvPicPr>
        <p:blipFill>
          <a:blip r:embed="rId3"/>
          <a:stretch>
            <a:fillRect/>
          </a:stretch>
        </p:blipFill>
        <p:spPr>
          <a:xfrm>
            <a:off x="5257800" y="2022727"/>
            <a:ext cx="6613855" cy="3224024"/>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3): step 4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81</a:t>
            </a:r>
          </a:p>
        </p:txBody>
      </p:sp>
      <p:sp>
        <p:nvSpPr>
          <p:cNvPr id="6" name="Rounded Rectangle 5"/>
          <p:cNvSpPr/>
          <p:nvPr/>
        </p:nvSpPr>
        <p:spPr>
          <a:xfrm>
            <a:off x="365760" y="1051560"/>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Higher height = higher pressure:</a:t>
            </a:r>
            <a:r>
              <a:rPr sz="1800" b="0" i="0">
                <a:solidFill>
                  <a:srgbClr val="6B6B6B"/>
                </a:solidFill>
                <a:latin typeface="Calibri"/>
              </a:rPr>
              <a:t> a pressure surface is higher where the pressure is higher.</a:t>
            </a:r>
          </a:p>
        </p:txBody>
      </p:sp>
      <p:sp>
        <p:nvSpPr>
          <p:cNvPr id="7" name="Oval 6"/>
          <p:cNvSpPr/>
          <p:nvPr/>
        </p:nvSpPr>
        <p:spPr>
          <a:xfrm>
            <a:off x="457200" y="1378457"/>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144268"/>
            <a:ext cx="4663440" cy="1001268"/>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0" i="0">
                <a:solidFill>
                  <a:srgbClr val="6B6B6B"/>
                </a:solidFill>
                <a:latin typeface="Calibri"/>
              </a:rPr>
              <a:t>So the </a:t>
            </a:r>
            <a:r>
              <a:rPr sz="1800" b="1" i="0">
                <a:solidFill>
                  <a:srgbClr val="6B6B6B"/>
                </a:solidFill>
                <a:latin typeface="Calibri"/>
              </a:rPr>
              <a:t>5520 m</a:t>
            </a:r>
            <a:r>
              <a:rPr sz="1800" b="0" i="0">
                <a:solidFill>
                  <a:srgbClr val="6B6B6B"/>
                </a:solidFill>
                <a:latin typeface="Calibri"/>
              </a:rPr>
              <a:t> line (bottom) is the high side: write </a:t>
            </a:r>
            <a:r>
              <a:rPr sz="1800" b="1" i="0">
                <a:solidFill>
                  <a:srgbClr val="6B6B6B"/>
                </a:solidFill>
                <a:latin typeface="Calibri"/>
              </a:rPr>
              <a:t>H</a:t>
            </a:r>
            <a:r>
              <a:rPr sz="1800" b="0" i="0">
                <a:solidFill>
                  <a:srgbClr val="6B6B6B"/>
                </a:solidFill>
                <a:latin typeface="Calibri"/>
              </a:rPr>
              <a:t> there; the </a:t>
            </a:r>
            <a:r>
              <a:rPr sz="1800" b="1" i="0">
                <a:solidFill>
                  <a:srgbClr val="6B6B6B"/>
                </a:solidFill>
                <a:latin typeface="Calibri"/>
              </a:rPr>
              <a:t>5460 m</a:t>
            </a:r>
            <a:r>
              <a:rPr sz="1800" b="0" i="0">
                <a:solidFill>
                  <a:srgbClr val="6B6B6B"/>
                </a:solidFill>
                <a:latin typeface="Calibri"/>
              </a:rPr>
              <a:t> line (top) is the low side: </a:t>
            </a:r>
            <a:r>
              <a:rPr sz="1800" b="1" i="0">
                <a:solidFill>
                  <a:srgbClr val="6B6B6B"/>
                </a:solidFill>
                <a:latin typeface="Calibri"/>
              </a:rPr>
              <a:t>L</a:t>
            </a:r>
            <a:r>
              <a:rPr sz="1800" b="0" i="0">
                <a:solidFill>
                  <a:srgbClr val="6B6B6B"/>
                </a:solidFill>
                <a:latin typeface="Calibri"/>
              </a:rPr>
              <a:t>.</a:t>
            </a:r>
          </a:p>
        </p:txBody>
      </p:sp>
      <p:sp>
        <p:nvSpPr>
          <p:cNvPr id="9" name="Oval 8"/>
          <p:cNvSpPr/>
          <p:nvPr/>
        </p:nvSpPr>
        <p:spPr>
          <a:xfrm>
            <a:off x="457200" y="2471165"/>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236976"/>
            <a:ext cx="4663440" cy="72237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6B6B6B"/>
                </a:solidFill>
                <a:latin typeface="Calibri"/>
              </a:rPr>
              <a:t>Pressure gradient force</a:t>
            </a:r>
            <a:r>
              <a:rPr sz="1800" b="0" i="0">
                <a:solidFill>
                  <a:srgbClr val="6B6B6B"/>
                </a:solidFill>
                <a:latin typeface="Calibri"/>
              </a:rPr>
              <a:t> from H to L: </a:t>
            </a:r>
            <a:r>
              <a:rPr sz="1800" b="1" i="0">
                <a:solidFill>
                  <a:srgbClr val="6B6B6B"/>
                </a:solidFill>
                <a:latin typeface="Calibri"/>
              </a:rPr>
              <a:t>north</a:t>
            </a:r>
            <a:r>
              <a:rPr sz="1800" b="0" i="0">
                <a:solidFill>
                  <a:srgbClr val="6B6B6B"/>
                </a:solidFill>
                <a:latin typeface="Calibri"/>
              </a:rPr>
              <a:t> (up the page).</a:t>
            </a:r>
          </a:p>
        </p:txBody>
      </p:sp>
      <p:sp>
        <p:nvSpPr>
          <p:cNvPr id="11" name="Oval 10"/>
          <p:cNvSpPr/>
          <p:nvPr/>
        </p:nvSpPr>
        <p:spPr>
          <a:xfrm>
            <a:off x="457200" y="342442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050791"/>
            <a:ext cx="4663440" cy="1280160"/>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800" b="1" i="0">
                <a:solidFill>
                  <a:srgbClr val="1F1F1F"/>
                </a:solidFill>
                <a:latin typeface="Calibri"/>
              </a:rPr>
              <a:t>Coriolis force</a:t>
            </a:r>
            <a:r>
              <a:rPr sz="1800" b="0" i="0">
                <a:solidFill>
                  <a:srgbClr val="1F1F1F"/>
                </a:solidFill>
                <a:latin typeface="Calibri"/>
              </a:rPr>
              <a:t> equal and opposite, to the right of the wind: </a:t>
            </a:r>
            <a:r>
              <a:rPr sz="1800" b="1" i="0">
                <a:solidFill>
                  <a:srgbClr val="1F1F1F"/>
                </a:solidFill>
                <a:latin typeface="Calibri"/>
              </a:rPr>
              <a:t>south</a:t>
            </a:r>
            <a:r>
              <a:rPr sz="1800" b="0" i="0">
                <a:solidFill>
                  <a:srgbClr val="1F1F1F"/>
                </a:solidFill>
                <a:latin typeface="Calibri"/>
              </a:rPr>
              <a:t>. The geostrophic wind blows </a:t>
            </a:r>
            <a:r>
              <a:rPr sz="1800" b="1" i="0">
                <a:solidFill>
                  <a:srgbClr val="1F1F1F"/>
                </a:solidFill>
                <a:latin typeface="Calibri"/>
              </a:rPr>
              <a:t>east</a:t>
            </a:r>
            <a:r>
              <a:rPr sz="1800" b="0" i="0">
                <a:solidFill>
                  <a:srgbClr val="1F1F1F"/>
                </a:solidFill>
                <a:latin typeface="Calibri"/>
              </a:rPr>
              <a:t> between them.</a:t>
            </a:r>
          </a:p>
        </p:txBody>
      </p:sp>
      <p:sp>
        <p:nvSpPr>
          <p:cNvPr id="13" name="Oval 12"/>
          <p:cNvSpPr/>
          <p:nvPr/>
        </p:nvSpPr>
        <p:spPr>
          <a:xfrm>
            <a:off x="457200" y="4517136"/>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pic>
        <p:nvPicPr>
          <p:cNvPr id="14" name="Picture 13" descr="geoansN_s4.png"/>
          <p:cNvPicPr>
            <a:picLocks noChangeAspect="1"/>
          </p:cNvPicPr>
          <p:nvPr/>
        </p:nvPicPr>
        <p:blipFill>
          <a:blip r:embed="rId3"/>
          <a:stretch>
            <a:fillRect/>
          </a:stretch>
        </p:blipFill>
        <p:spPr>
          <a:xfrm>
            <a:off x="5257800" y="2022727"/>
            <a:ext cx="6613855" cy="3224024"/>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4): Southern Hemisphere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82</a:t>
            </a:r>
          </a:p>
        </p:txBody>
      </p:sp>
      <p:sp>
        <p:nvSpPr>
          <p:cNvPr id="6" name="Rounded Rectangle 5"/>
          <p:cNvSpPr/>
          <p:nvPr/>
        </p:nvSpPr>
        <p:spPr>
          <a:xfrm>
            <a:off x="411480" y="1097280"/>
            <a:ext cx="5760720" cy="301752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Now consider the Southern Hemisphere. Mark the side with the higher pressure with an 'H' and the side with the lower pressure with an 'L'. In Figure 4 draw the pressure gradient force and the Coriolis force acting on the box and the resulting geostrophic wind.</a:t>
            </a:r>
          </a:p>
        </p:txBody>
      </p:sp>
      <p:sp>
        <p:nvSpPr>
          <p:cNvPr id="7" name="TextBox 6"/>
          <p:cNvSpPr txBox="1"/>
          <p:nvPr/>
        </p:nvSpPr>
        <p:spPr>
          <a:xfrm>
            <a:off x="457200" y="4389120"/>
            <a:ext cx="5669280" cy="20116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What changes: the Coriolis force acts to the </a:t>
            </a:r>
            <a:r>
              <a:rPr sz="1900" b="1" i="0">
                <a:solidFill>
                  <a:srgbClr val="1F1F1F"/>
                </a:solidFill>
                <a:latin typeface="Calibri"/>
              </a:rPr>
              <a:t>left</a:t>
            </a:r>
            <a:r>
              <a:rPr sz="1900" b="0" i="0">
                <a:solidFill>
                  <a:srgbClr val="1F1F1F"/>
                </a:solidFill>
                <a:latin typeface="Calibri"/>
              </a:rPr>
              <a:t>.</a:t>
            </a:r>
          </a:p>
          <a:p>
            <a:pPr algn="l">
              <a:spcAft>
                <a:spcPts val="600"/>
              </a:spcAft>
            </a:pPr>
            <a:r>
              <a:rPr sz="1900" b="0" i="0">
                <a:solidFill>
                  <a:srgbClr val="1F1F1F"/>
                </a:solidFill>
                <a:latin typeface="Calibri"/>
              </a:rPr>
              <a:t>Heights: 5640 m (top) and 5580 m (bottom).</a:t>
            </a:r>
          </a:p>
        </p:txBody>
      </p:sp>
      <p:pic>
        <p:nvPicPr>
          <p:cNvPr id="8" name="Picture 7" descr="geoansS_s0.png"/>
          <p:cNvPicPr>
            <a:picLocks noChangeAspect="1"/>
          </p:cNvPicPr>
          <p:nvPr/>
        </p:nvPicPr>
        <p:blipFill>
          <a:blip r:embed="rId2"/>
          <a:stretch>
            <a:fillRect/>
          </a:stretch>
        </p:blipFill>
        <p:spPr>
          <a:xfrm>
            <a:off x="6400800" y="2342672"/>
            <a:ext cx="5394960" cy="2629855"/>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4): step 1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83</a:t>
            </a:r>
          </a:p>
        </p:txBody>
      </p:sp>
      <p:sp>
        <p:nvSpPr>
          <p:cNvPr id="6" name="Rounded Rectangle 5"/>
          <p:cNvSpPr/>
          <p:nvPr/>
        </p:nvSpPr>
        <p:spPr>
          <a:xfrm>
            <a:off x="365760" y="1051560"/>
            <a:ext cx="4663440" cy="95478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H and L:</a:t>
            </a:r>
            <a:r>
              <a:rPr sz="1700" b="0" i="0">
                <a:solidFill>
                  <a:srgbClr val="1F1F1F"/>
                </a:solidFill>
                <a:latin typeface="Calibri"/>
              </a:rPr>
              <a:t> the larger height is the high side: </a:t>
            </a:r>
            <a:r>
              <a:rPr sz="1700" b="1" i="0">
                <a:solidFill>
                  <a:srgbClr val="1F1F1F"/>
                </a:solidFill>
                <a:latin typeface="Calibri"/>
              </a:rPr>
              <a:t>H at 5640 m</a:t>
            </a:r>
            <a:r>
              <a:rPr sz="1700" b="0" i="0">
                <a:solidFill>
                  <a:srgbClr val="1F1F1F"/>
                </a:solidFill>
                <a:latin typeface="Calibri"/>
              </a:rPr>
              <a:t> (top), </a:t>
            </a:r>
            <a:r>
              <a:rPr sz="1700" b="1" i="0">
                <a:solidFill>
                  <a:srgbClr val="1F1F1F"/>
                </a:solidFill>
                <a:latin typeface="Calibri"/>
              </a:rPr>
              <a:t>L at 5580 m</a:t>
            </a:r>
            <a:r>
              <a:rPr sz="1700" b="0" i="0">
                <a:solidFill>
                  <a:srgbClr val="1F1F1F"/>
                </a:solidFill>
                <a:latin typeface="Calibri"/>
              </a:rPr>
              <a:t> (bottom).</a:t>
            </a:r>
          </a:p>
        </p:txBody>
      </p:sp>
      <p:sp>
        <p:nvSpPr>
          <p:cNvPr id="7" name="Oval 6"/>
          <p:cNvSpPr/>
          <p:nvPr/>
        </p:nvSpPr>
        <p:spPr>
          <a:xfrm>
            <a:off x="457200" y="1355216"/>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geoansS_s1.png"/>
          <p:cNvPicPr>
            <a:picLocks noChangeAspect="1"/>
          </p:cNvPicPr>
          <p:nvPr/>
        </p:nvPicPr>
        <p:blipFill>
          <a:blip r:embed="rId3"/>
          <a:stretch>
            <a:fillRect/>
          </a:stretch>
        </p:blipFill>
        <p:spPr>
          <a:xfrm>
            <a:off x="5257800" y="2022727"/>
            <a:ext cx="6613855" cy="3224024"/>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4): step 2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84</a:t>
            </a:r>
          </a:p>
        </p:txBody>
      </p:sp>
      <p:sp>
        <p:nvSpPr>
          <p:cNvPr id="6" name="Rounded Rectangle 5"/>
          <p:cNvSpPr/>
          <p:nvPr/>
        </p:nvSpPr>
        <p:spPr>
          <a:xfrm>
            <a:off x="365760" y="1051560"/>
            <a:ext cx="466344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H and L:</a:t>
            </a:r>
            <a:r>
              <a:rPr sz="1700" b="0" i="0">
                <a:solidFill>
                  <a:srgbClr val="6B6B6B"/>
                </a:solidFill>
                <a:latin typeface="Calibri"/>
              </a:rPr>
              <a:t> the larger height is the high side: </a:t>
            </a:r>
            <a:r>
              <a:rPr sz="1700" b="1" i="0">
                <a:solidFill>
                  <a:srgbClr val="6B6B6B"/>
                </a:solidFill>
                <a:latin typeface="Calibri"/>
              </a:rPr>
              <a:t>H at 5640 m</a:t>
            </a:r>
            <a:r>
              <a:rPr sz="1700" b="0" i="0">
                <a:solidFill>
                  <a:srgbClr val="6B6B6B"/>
                </a:solidFill>
                <a:latin typeface="Calibri"/>
              </a:rPr>
              <a:t> (top), </a:t>
            </a:r>
            <a:r>
              <a:rPr sz="1700" b="1" i="0">
                <a:solidFill>
                  <a:srgbClr val="6B6B6B"/>
                </a:solidFill>
                <a:latin typeface="Calibri"/>
              </a:rPr>
              <a:t>L at 5580 m</a:t>
            </a:r>
            <a:r>
              <a:rPr sz="1700" b="0" i="0">
                <a:solidFill>
                  <a:srgbClr val="6B6B6B"/>
                </a:solidFill>
                <a:latin typeface="Calibri"/>
              </a:rPr>
              <a:t> (bottom).</a:t>
            </a:r>
          </a:p>
        </p:txBody>
      </p:sp>
      <p:sp>
        <p:nvSpPr>
          <p:cNvPr id="7" name="Oval 6"/>
          <p:cNvSpPr/>
          <p:nvPr/>
        </p:nvSpPr>
        <p:spPr>
          <a:xfrm>
            <a:off x="457200" y="135521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097786"/>
            <a:ext cx="4663440" cy="691387"/>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Pressure gradient force</a:t>
            </a:r>
            <a:r>
              <a:rPr sz="1700" b="0" i="0">
                <a:solidFill>
                  <a:srgbClr val="1F1F1F"/>
                </a:solidFill>
                <a:latin typeface="Calibri"/>
              </a:rPr>
              <a:t> from H to L: </a:t>
            </a:r>
            <a:r>
              <a:rPr sz="1700" b="1" i="0">
                <a:solidFill>
                  <a:srgbClr val="1F1F1F"/>
                </a:solidFill>
                <a:latin typeface="Calibri"/>
              </a:rPr>
              <a:t>down</a:t>
            </a:r>
            <a:r>
              <a:rPr sz="1700" b="0" i="0">
                <a:solidFill>
                  <a:srgbClr val="1F1F1F"/>
                </a:solidFill>
                <a:latin typeface="Calibri"/>
              </a:rPr>
              <a:t>.</a:t>
            </a:r>
          </a:p>
        </p:txBody>
      </p:sp>
      <p:sp>
        <p:nvSpPr>
          <p:cNvPr id="9" name="Oval 8"/>
          <p:cNvSpPr/>
          <p:nvPr/>
        </p:nvSpPr>
        <p:spPr>
          <a:xfrm>
            <a:off x="457200" y="2269744"/>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geoansS_s2.png"/>
          <p:cNvPicPr>
            <a:picLocks noChangeAspect="1"/>
          </p:cNvPicPr>
          <p:nvPr/>
        </p:nvPicPr>
        <p:blipFill>
          <a:blip r:embed="rId3"/>
          <a:stretch>
            <a:fillRect/>
          </a:stretch>
        </p:blipFill>
        <p:spPr>
          <a:xfrm>
            <a:off x="5257800" y="2022727"/>
            <a:ext cx="6613855" cy="3224024"/>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4): step 3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85</a:t>
            </a:r>
          </a:p>
        </p:txBody>
      </p:sp>
      <p:sp>
        <p:nvSpPr>
          <p:cNvPr id="6" name="Rounded Rectangle 5"/>
          <p:cNvSpPr/>
          <p:nvPr/>
        </p:nvSpPr>
        <p:spPr>
          <a:xfrm>
            <a:off x="365760" y="1051560"/>
            <a:ext cx="466344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H and L:</a:t>
            </a:r>
            <a:r>
              <a:rPr sz="1700" b="0" i="0">
                <a:solidFill>
                  <a:srgbClr val="6B6B6B"/>
                </a:solidFill>
                <a:latin typeface="Calibri"/>
              </a:rPr>
              <a:t> the larger height is the high side: </a:t>
            </a:r>
            <a:r>
              <a:rPr sz="1700" b="1" i="0">
                <a:solidFill>
                  <a:srgbClr val="6B6B6B"/>
                </a:solidFill>
                <a:latin typeface="Calibri"/>
              </a:rPr>
              <a:t>H at 5640 m</a:t>
            </a:r>
            <a:r>
              <a:rPr sz="1700" b="0" i="0">
                <a:solidFill>
                  <a:srgbClr val="6B6B6B"/>
                </a:solidFill>
                <a:latin typeface="Calibri"/>
              </a:rPr>
              <a:t> (top), </a:t>
            </a:r>
            <a:r>
              <a:rPr sz="1700" b="1" i="0">
                <a:solidFill>
                  <a:srgbClr val="6B6B6B"/>
                </a:solidFill>
                <a:latin typeface="Calibri"/>
              </a:rPr>
              <a:t>L at 5580 m</a:t>
            </a:r>
            <a:r>
              <a:rPr sz="1700" b="0" i="0">
                <a:solidFill>
                  <a:srgbClr val="6B6B6B"/>
                </a:solidFill>
                <a:latin typeface="Calibri"/>
              </a:rPr>
              <a:t> (bottom).</a:t>
            </a:r>
          </a:p>
        </p:txBody>
      </p:sp>
      <p:sp>
        <p:nvSpPr>
          <p:cNvPr id="7" name="Oval 6"/>
          <p:cNvSpPr/>
          <p:nvPr/>
        </p:nvSpPr>
        <p:spPr>
          <a:xfrm>
            <a:off x="457200" y="135521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097786"/>
            <a:ext cx="4663440" cy="691387"/>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Pressure gradient force</a:t>
            </a:r>
            <a:r>
              <a:rPr sz="1700" b="0" i="0">
                <a:solidFill>
                  <a:srgbClr val="6B6B6B"/>
                </a:solidFill>
                <a:latin typeface="Calibri"/>
              </a:rPr>
              <a:t> from H to L: </a:t>
            </a:r>
            <a:r>
              <a:rPr sz="1700" b="1" i="0">
                <a:solidFill>
                  <a:srgbClr val="6B6B6B"/>
                </a:solidFill>
                <a:latin typeface="Calibri"/>
              </a:rPr>
              <a:t>down</a:t>
            </a:r>
            <a:r>
              <a:rPr sz="1700" b="0" i="0">
                <a:solidFill>
                  <a:srgbClr val="6B6B6B"/>
                </a:solidFill>
                <a:latin typeface="Calibri"/>
              </a:rPr>
              <a:t>.</a:t>
            </a:r>
          </a:p>
        </p:txBody>
      </p:sp>
      <p:sp>
        <p:nvSpPr>
          <p:cNvPr id="9" name="Oval 8"/>
          <p:cNvSpPr/>
          <p:nvPr/>
        </p:nvSpPr>
        <p:spPr>
          <a:xfrm>
            <a:off x="457200" y="2269744"/>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2880613"/>
            <a:ext cx="4663440" cy="1481582"/>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Coriolis force</a:t>
            </a:r>
            <a:r>
              <a:rPr sz="1700" b="0" i="0">
                <a:solidFill>
                  <a:srgbClr val="1F1F1F"/>
                </a:solidFill>
                <a:latin typeface="Calibri"/>
              </a:rPr>
              <a:t> equal and opposite: </a:t>
            </a:r>
            <a:r>
              <a:rPr sz="1700" b="1" i="0">
                <a:solidFill>
                  <a:srgbClr val="1F1F1F"/>
                </a:solidFill>
                <a:latin typeface="Calibri"/>
              </a:rPr>
              <a:t>up</a:t>
            </a:r>
            <a:r>
              <a:rPr sz="1700" b="0" i="0">
                <a:solidFill>
                  <a:srgbClr val="1F1F1F"/>
                </a:solidFill>
                <a:latin typeface="Calibri"/>
              </a:rPr>
              <a:t>, towards H. (Check: an eastward wind has north on its left, and in the south the Coriolis force acts to the left: up ✓.)</a:t>
            </a:r>
          </a:p>
        </p:txBody>
      </p:sp>
      <p:sp>
        <p:nvSpPr>
          <p:cNvPr id="11" name="Oval 10"/>
          <p:cNvSpPr/>
          <p:nvPr/>
        </p:nvSpPr>
        <p:spPr>
          <a:xfrm>
            <a:off x="457200" y="3447668"/>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geoansS_s3.png"/>
          <p:cNvPicPr>
            <a:picLocks noChangeAspect="1"/>
          </p:cNvPicPr>
          <p:nvPr/>
        </p:nvPicPr>
        <p:blipFill>
          <a:blip r:embed="rId3"/>
          <a:stretch>
            <a:fillRect/>
          </a:stretch>
        </p:blipFill>
        <p:spPr>
          <a:xfrm>
            <a:off x="5257800" y="2022727"/>
            <a:ext cx="6613855" cy="3224024"/>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(Figure 4): step 4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86</a:t>
            </a:r>
          </a:p>
        </p:txBody>
      </p:sp>
      <p:sp>
        <p:nvSpPr>
          <p:cNvPr id="6" name="Rounded Rectangle 5"/>
          <p:cNvSpPr/>
          <p:nvPr/>
        </p:nvSpPr>
        <p:spPr>
          <a:xfrm>
            <a:off x="365760" y="1051560"/>
            <a:ext cx="466344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H and L:</a:t>
            </a:r>
            <a:r>
              <a:rPr sz="1700" b="0" i="0">
                <a:solidFill>
                  <a:srgbClr val="6B6B6B"/>
                </a:solidFill>
                <a:latin typeface="Calibri"/>
              </a:rPr>
              <a:t> the larger height is the high side: </a:t>
            </a:r>
            <a:r>
              <a:rPr sz="1700" b="1" i="0">
                <a:solidFill>
                  <a:srgbClr val="6B6B6B"/>
                </a:solidFill>
                <a:latin typeface="Calibri"/>
              </a:rPr>
              <a:t>H at 5640 m</a:t>
            </a:r>
            <a:r>
              <a:rPr sz="1700" b="0" i="0">
                <a:solidFill>
                  <a:srgbClr val="6B6B6B"/>
                </a:solidFill>
                <a:latin typeface="Calibri"/>
              </a:rPr>
              <a:t> (top), </a:t>
            </a:r>
            <a:r>
              <a:rPr sz="1700" b="1" i="0">
                <a:solidFill>
                  <a:srgbClr val="6B6B6B"/>
                </a:solidFill>
                <a:latin typeface="Calibri"/>
              </a:rPr>
              <a:t>L at 5580 m</a:t>
            </a:r>
            <a:r>
              <a:rPr sz="1700" b="0" i="0">
                <a:solidFill>
                  <a:srgbClr val="6B6B6B"/>
                </a:solidFill>
                <a:latin typeface="Calibri"/>
              </a:rPr>
              <a:t> (bottom).</a:t>
            </a:r>
          </a:p>
        </p:txBody>
      </p:sp>
      <p:sp>
        <p:nvSpPr>
          <p:cNvPr id="7" name="Oval 6"/>
          <p:cNvSpPr/>
          <p:nvPr/>
        </p:nvSpPr>
        <p:spPr>
          <a:xfrm>
            <a:off x="457200" y="135521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097786"/>
            <a:ext cx="4663440" cy="691387"/>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Pressure gradient force</a:t>
            </a:r>
            <a:r>
              <a:rPr sz="1700" b="0" i="0">
                <a:solidFill>
                  <a:srgbClr val="6B6B6B"/>
                </a:solidFill>
                <a:latin typeface="Calibri"/>
              </a:rPr>
              <a:t> from H to L: </a:t>
            </a:r>
            <a:r>
              <a:rPr sz="1700" b="1" i="0">
                <a:solidFill>
                  <a:srgbClr val="6B6B6B"/>
                </a:solidFill>
                <a:latin typeface="Calibri"/>
              </a:rPr>
              <a:t>down</a:t>
            </a:r>
            <a:r>
              <a:rPr sz="1700" b="0" i="0">
                <a:solidFill>
                  <a:srgbClr val="6B6B6B"/>
                </a:solidFill>
                <a:latin typeface="Calibri"/>
              </a:rPr>
              <a:t>.</a:t>
            </a:r>
          </a:p>
        </p:txBody>
      </p:sp>
      <p:sp>
        <p:nvSpPr>
          <p:cNvPr id="9" name="Oval 8"/>
          <p:cNvSpPr/>
          <p:nvPr/>
        </p:nvSpPr>
        <p:spPr>
          <a:xfrm>
            <a:off x="457200" y="2269744"/>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2880613"/>
            <a:ext cx="4663440" cy="1481582"/>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Coriolis force</a:t>
            </a:r>
            <a:r>
              <a:rPr sz="1700" b="0" i="0">
                <a:solidFill>
                  <a:srgbClr val="6B6B6B"/>
                </a:solidFill>
                <a:latin typeface="Calibri"/>
              </a:rPr>
              <a:t> equal and opposite: </a:t>
            </a:r>
            <a:r>
              <a:rPr sz="1700" b="1" i="0">
                <a:solidFill>
                  <a:srgbClr val="6B6B6B"/>
                </a:solidFill>
                <a:latin typeface="Calibri"/>
              </a:rPr>
              <a:t>up</a:t>
            </a:r>
            <a:r>
              <a:rPr sz="1700" b="0" i="0">
                <a:solidFill>
                  <a:srgbClr val="6B6B6B"/>
                </a:solidFill>
                <a:latin typeface="Calibri"/>
              </a:rPr>
              <a:t>, towards H. (Check: an eastward wind has north on its left, and in the south the Coriolis force acts to the left: up ✓.)</a:t>
            </a:r>
          </a:p>
        </p:txBody>
      </p:sp>
      <p:sp>
        <p:nvSpPr>
          <p:cNvPr id="11" name="Oval 10"/>
          <p:cNvSpPr/>
          <p:nvPr/>
        </p:nvSpPr>
        <p:spPr>
          <a:xfrm>
            <a:off x="457200" y="344766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453635"/>
            <a:ext cx="4663440" cy="95478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The wind</a:t>
            </a:r>
            <a:r>
              <a:rPr sz="1700" b="0" i="0">
                <a:solidFill>
                  <a:srgbClr val="1F1F1F"/>
                </a:solidFill>
                <a:latin typeface="Calibri"/>
              </a:rPr>
              <a:t> blows between them, to the </a:t>
            </a:r>
            <a:r>
              <a:rPr sz="1700" b="1" i="0">
                <a:solidFill>
                  <a:srgbClr val="1F1F1F"/>
                </a:solidFill>
                <a:latin typeface="Calibri"/>
              </a:rPr>
              <a:t>east</a:t>
            </a:r>
            <a:r>
              <a:rPr sz="1700" b="0" i="0">
                <a:solidFill>
                  <a:srgbClr val="1F1F1F"/>
                </a:solidFill>
                <a:latin typeface="Calibri"/>
              </a:rPr>
              <a:t>, with the low pressure on its </a:t>
            </a:r>
            <a:r>
              <a:rPr sz="1700" b="1" i="0">
                <a:solidFill>
                  <a:srgbClr val="1F1F1F"/>
                </a:solidFill>
                <a:latin typeface="Calibri"/>
              </a:rPr>
              <a:t>right</a:t>
            </a:r>
            <a:r>
              <a:rPr sz="1700" b="0" i="0">
                <a:solidFill>
                  <a:srgbClr val="1F1F1F"/>
                </a:solidFill>
                <a:latin typeface="Calibri"/>
              </a:rPr>
              <a:t>.</a:t>
            </a:r>
          </a:p>
        </p:txBody>
      </p:sp>
      <p:sp>
        <p:nvSpPr>
          <p:cNvPr id="13" name="Oval 12"/>
          <p:cNvSpPr/>
          <p:nvPr/>
        </p:nvSpPr>
        <p:spPr>
          <a:xfrm>
            <a:off x="457200" y="4757292"/>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pic>
        <p:nvPicPr>
          <p:cNvPr id="14" name="Picture 13" descr="geoansS_s4.png"/>
          <p:cNvPicPr>
            <a:picLocks noChangeAspect="1"/>
          </p:cNvPicPr>
          <p:nvPr/>
        </p:nvPicPr>
        <p:blipFill>
          <a:blip r:embed="rId3"/>
          <a:stretch>
            <a:fillRect/>
          </a:stretch>
        </p:blipFill>
        <p:spPr>
          <a:xfrm>
            <a:off x="5257800" y="2022727"/>
            <a:ext cx="6613855" cy="3224024"/>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Q7: both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87</a:t>
            </a:r>
          </a:p>
        </p:txBody>
      </p:sp>
      <p:sp>
        <p:nvSpPr>
          <p:cNvPr id="6" name="Rounded Rectangle 5"/>
          <p:cNvSpPr/>
          <p:nvPr/>
        </p:nvSpPr>
        <p:spPr>
          <a:xfrm>
            <a:off x="411480" y="1097280"/>
            <a:ext cx="5669280" cy="31089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900" b="1" i="0">
                <a:solidFill>
                  <a:srgbClr val="007F5F"/>
                </a:solidFill>
                <a:latin typeface="Calibri"/>
              </a:rPr>
              <a:t>Answer</a:t>
            </a:r>
          </a:p>
          <a:p>
            <a:pPr algn="l">
              <a:spcAft>
                <a:spcPts val="300"/>
              </a:spcAft>
            </a:pPr>
            <a:r>
              <a:rPr sz="1900" b="1" i="0">
                <a:solidFill>
                  <a:srgbClr val="1F1F1F"/>
                </a:solidFill>
                <a:latin typeface="Calibri"/>
              </a:rPr>
              <a:t>Figure 3 (north):</a:t>
            </a:r>
            <a:r>
              <a:rPr sz="1900" b="0" i="0">
                <a:solidFill>
                  <a:srgbClr val="1F1F1F"/>
                </a:solidFill>
                <a:latin typeface="Calibri"/>
              </a:rPr>
              <a:t> H at 5520 m, L at 5460 m. F</a:t>
            </a:r>
            <a:r>
              <a:rPr sz="1900" b="0" i="0" baseline="-25000">
                <a:solidFill>
                  <a:srgbClr val="1F1F1F"/>
                </a:solidFill>
                <a:latin typeface="Calibri"/>
              </a:rPr>
              <a:t>pg</a:t>
            </a:r>
            <a:r>
              <a:rPr sz="1900" b="0" i="0">
                <a:solidFill>
                  <a:srgbClr val="1F1F1F"/>
                </a:solidFill>
                <a:latin typeface="Calibri"/>
              </a:rPr>
              <a:t> north, Coriolis south, wind east, low pressure on its </a:t>
            </a:r>
            <a:r>
              <a:rPr sz="1900" b="1" i="0">
                <a:solidFill>
                  <a:srgbClr val="1F1F1F"/>
                </a:solidFill>
                <a:latin typeface="Calibri"/>
              </a:rPr>
              <a:t>left</a:t>
            </a:r>
            <a:r>
              <a:rPr sz="1900" b="0" i="0">
                <a:solidFill>
                  <a:srgbClr val="1F1F1F"/>
                </a:solidFill>
                <a:latin typeface="Calibri"/>
              </a:rPr>
              <a:t>.</a:t>
            </a:r>
          </a:p>
          <a:p>
            <a:pPr algn="l">
              <a:spcAft>
                <a:spcPts val="300"/>
              </a:spcAft>
            </a:pPr>
            <a:r>
              <a:rPr sz="1900" b="1" i="0">
                <a:solidFill>
                  <a:srgbClr val="1F1F1F"/>
                </a:solidFill>
                <a:latin typeface="Calibri"/>
              </a:rPr>
              <a:t>Figure 4 (south):</a:t>
            </a:r>
            <a:r>
              <a:rPr sz="1900" b="0" i="0">
                <a:solidFill>
                  <a:srgbClr val="1F1F1F"/>
                </a:solidFill>
                <a:latin typeface="Calibri"/>
              </a:rPr>
              <a:t> H at 5640 m, L at 5580 m. F</a:t>
            </a:r>
            <a:r>
              <a:rPr sz="1900" b="0" i="0" baseline="-25000">
                <a:solidFill>
                  <a:srgbClr val="1F1F1F"/>
                </a:solidFill>
                <a:latin typeface="Calibri"/>
              </a:rPr>
              <a:t>pg</a:t>
            </a:r>
            <a:r>
              <a:rPr sz="1900" b="0" i="0">
                <a:solidFill>
                  <a:srgbClr val="1F1F1F"/>
                </a:solidFill>
                <a:latin typeface="Calibri"/>
              </a:rPr>
              <a:t> south, Coriolis north, wind east, low pressure on its </a:t>
            </a:r>
            <a:r>
              <a:rPr sz="1900" b="1" i="0">
                <a:solidFill>
                  <a:srgbClr val="1F1F1F"/>
                </a:solidFill>
                <a:latin typeface="Calibri"/>
              </a:rPr>
              <a:t>right</a:t>
            </a:r>
            <a:r>
              <a:rPr sz="1900" b="0" i="0">
                <a:solidFill>
                  <a:srgbClr val="1F1F1F"/>
                </a:solidFill>
                <a:latin typeface="Calibri"/>
              </a:rPr>
              <a:t>.</a:t>
            </a:r>
          </a:p>
        </p:txBody>
      </p:sp>
      <p:pic>
        <p:nvPicPr>
          <p:cNvPr id="7" name="Picture 6" descr="ch06_04.png"/>
          <p:cNvPicPr>
            <a:picLocks noChangeAspect="1"/>
          </p:cNvPicPr>
          <p:nvPr/>
        </p:nvPicPr>
        <p:blipFill>
          <a:blip r:embed="rId2"/>
          <a:stretch>
            <a:fillRect/>
          </a:stretch>
        </p:blipFill>
        <p:spPr>
          <a:xfrm>
            <a:off x="6355080" y="2844710"/>
            <a:ext cx="5516575" cy="1625779"/>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How fast is the geostrophic wind?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88</a:t>
            </a:r>
          </a:p>
        </p:txBody>
      </p:sp>
      <p:sp>
        <p:nvSpPr>
          <p:cNvPr id="6" name="Rounded Rectangle 5"/>
          <p:cNvSpPr/>
          <p:nvPr/>
        </p:nvSpPr>
        <p:spPr>
          <a:xfrm>
            <a:off x="411480" y="1097280"/>
            <a:ext cx="5669280" cy="274320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900" b="1" i="0">
                <a:solidFill>
                  <a:srgbClr val="1B3A6B"/>
                </a:solidFill>
                <a:latin typeface="Calibri"/>
              </a:rPr>
              <a:t>Example: the lines of Figure 3</a:t>
            </a:r>
          </a:p>
          <a:p>
            <a:pPr algn="l">
              <a:spcAft>
                <a:spcPts val="300"/>
              </a:spcAft>
            </a:pPr>
            <a:r>
              <a:rPr sz="1900" b="0" i="0">
                <a:solidFill>
                  <a:srgbClr val="1F1F1F"/>
                </a:solidFill>
                <a:latin typeface="Calibri"/>
              </a:rPr>
              <a:t>Lines 60 m apart and 500 km apart at 45° N:</a:t>
            </a:r>
          </a:p>
          <a:p>
            <a:pPr algn="l">
              <a:spcAft>
                <a:spcPts val="300"/>
              </a:spcAft>
            </a:pPr>
            <a:r>
              <a:rPr sz="1900" b="0" i="0">
                <a:solidFill>
                  <a:srgbClr val="1F1F1F"/>
                </a:solidFill>
                <a:latin typeface="Calibri"/>
              </a:rPr>
              <a:t>f = 1.03×10</a:t>
            </a:r>
            <a:r>
              <a:rPr sz="1900" b="0" i="0" baseline="30000">
                <a:solidFill>
                  <a:srgbClr val="1F1F1F"/>
                </a:solidFill>
                <a:latin typeface="Calibri"/>
              </a:rPr>
              <a:t>−4</a:t>
            </a:r>
            <a:r>
              <a:rPr sz="1900" b="0" i="0">
                <a:solidFill>
                  <a:srgbClr val="1F1F1F"/>
                </a:solidFill>
                <a:latin typeface="Calibri"/>
              </a:rPr>
              <a:t> s</a:t>
            </a:r>
            <a:r>
              <a:rPr sz="1900" b="0" i="0" baseline="30000">
                <a:solidFill>
                  <a:srgbClr val="1F1F1F"/>
                </a:solidFill>
                <a:latin typeface="Calibri"/>
              </a:rPr>
              <a:t>−1</a:t>
            </a:r>
          </a:p>
          <a:p>
            <a:pPr algn="l">
              <a:spcAft>
                <a:spcPts val="300"/>
              </a:spcAft>
            </a:pPr>
            <a:r>
              <a:rPr sz="1900" b="0" i="0">
                <a:solidFill>
                  <a:srgbClr val="1F1F1F"/>
                </a:solidFill>
                <a:latin typeface="Calibri"/>
              </a:rPr>
              <a:t>V</a:t>
            </a:r>
            <a:r>
              <a:rPr sz="1900" b="0" i="0" baseline="-25000">
                <a:solidFill>
                  <a:srgbClr val="1F1F1F"/>
                </a:solidFill>
                <a:latin typeface="Calibri"/>
              </a:rPr>
              <a:t>g</a:t>
            </a:r>
            <a:r>
              <a:rPr sz="1900" b="0" i="0">
                <a:solidFill>
                  <a:srgbClr val="1F1F1F"/>
                </a:solidFill>
                <a:latin typeface="Calibri"/>
              </a:rPr>
              <a:t> = 9.81 × 60 / (1.03×10</a:t>
            </a:r>
            <a:r>
              <a:rPr sz="1900" b="0" i="0" baseline="30000">
                <a:solidFill>
                  <a:srgbClr val="1F1F1F"/>
                </a:solidFill>
                <a:latin typeface="Calibri"/>
              </a:rPr>
              <a:t>−4</a:t>
            </a:r>
            <a:r>
              <a:rPr sz="1900" b="0" i="0">
                <a:solidFill>
                  <a:srgbClr val="1F1F1F"/>
                </a:solidFill>
                <a:latin typeface="Calibri"/>
              </a:rPr>
              <a:t> × 5×10</a:t>
            </a:r>
            <a:r>
              <a:rPr sz="1900" b="0" i="0" baseline="30000">
                <a:solidFill>
                  <a:srgbClr val="1F1F1F"/>
                </a:solidFill>
                <a:latin typeface="Calibri"/>
              </a:rPr>
              <a:t>5</a:t>
            </a:r>
            <a:r>
              <a:rPr sz="1900" b="0" i="0">
                <a:solidFill>
                  <a:srgbClr val="1F1F1F"/>
                </a:solidFill>
                <a:latin typeface="Calibri"/>
              </a:rPr>
              <a:t>) = </a:t>
            </a:r>
            <a:r>
              <a:rPr sz="1900" b="1" i="0">
                <a:solidFill>
                  <a:srgbClr val="1F1F1F"/>
                </a:solidFill>
                <a:latin typeface="Calibri"/>
              </a:rPr>
              <a:t>11.4 m/s</a:t>
            </a:r>
          </a:p>
          <a:p>
            <a:pPr algn="l">
              <a:spcAft>
                <a:spcPts val="300"/>
              </a:spcAft>
            </a:pPr>
            <a:r>
              <a:rPr sz="1900" b="0" i="0">
                <a:solidFill>
                  <a:srgbClr val="1F1F1F"/>
                </a:solidFill>
                <a:latin typeface="Calibri"/>
              </a:rPr>
              <a:t>= 22 knots = 41 km/h</a:t>
            </a:r>
          </a:p>
        </p:txBody>
      </p:sp>
      <p:sp>
        <p:nvSpPr>
          <p:cNvPr id="7" name="TextBox 6"/>
          <p:cNvSpPr txBox="1"/>
          <p:nvPr/>
        </p:nvSpPr>
        <p:spPr>
          <a:xfrm>
            <a:off x="457200" y="4023360"/>
            <a:ext cx="5669280" cy="219456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Halve the spacing (300 km): 19 m/s.</a:t>
            </a:r>
          </a:p>
          <a:p>
            <a:pPr algn="l">
              <a:spcAft>
                <a:spcPts val="600"/>
              </a:spcAft>
            </a:pPr>
            <a:r>
              <a:rPr sz="1800" b="0" i="0">
                <a:solidFill>
                  <a:srgbClr val="1F1F1F"/>
                </a:solidFill>
                <a:latin typeface="Calibri"/>
              </a:rPr>
              <a:t>Same spacing at 60° N: 9.3 m/s; at 30° N: 16.1 m/s.</a:t>
            </a:r>
          </a:p>
          <a:p>
            <a:pPr algn="l">
              <a:spcAft>
                <a:spcPts val="600"/>
              </a:spcAft>
            </a:pPr>
            <a:r>
              <a:rPr sz="1800" b="0" i="0">
                <a:solidFill>
                  <a:srgbClr val="1F1F1F"/>
                </a:solidFill>
                <a:latin typeface="Calibri"/>
              </a:rPr>
              <a:t>Near the equator f → 0 and the formula fails.</a:t>
            </a:r>
          </a:p>
        </p:txBody>
      </p:sp>
      <p:pic>
        <p:nvPicPr>
          <p:cNvPr id="8" name="Picture 7" descr="ch06_06.png"/>
          <p:cNvPicPr>
            <a:picLocks noChangeAspect="1"/>
          </p:cNvPicPr>
          <p:nvPr/>
        </p:nvPicPr>
        <p:blipFill>
          <a:blip r:embed="rId2"/>
          <a:stretch>
            <a:fillRect/>
          </a:stretch>
        </p:blipFill>
        <p:spPr>
          <a:xfrm>
            <a:off x="6309360" y="2382502"/>
            <a:ext cx="5486400" cy="2550195"/>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E: try it yourself</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89</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6B6B6B"/>
                </a:solidFill>
                <a:latin typeface="Calibri"/>
              </a:rPr>
              <a:t>Practice Set E</a:t>
            </a:r>
          </a:p>
          <a:p>
            <a:pPr algn="l">
              <a:spcAft>
                <a:spcPts val="1200"/>
              </a:spcAft>
            </a:pPr>
            <a:r>
              <a:rPr sz="2400" b="1" i="0">
                <a:solidFill>
                  <a:srgbClr val="1F1F1F"/>
                </a:solidFill>
                <a:latin typeface="Calibri"/>
              </a:rPr>
              <a:t>E1.</a:t>
            </a:r>
            <a:r>
              <a:rPr sz="2400" b="0" i="0">
                <a:solidFill>
                  <a:srgbClr val="1F1F1F"/>
                </a:solidFill>
                <a:latin typeface="Calibri"/>
              </a:rPr>
              <a:t>  500 hPa height lines 5460 m and 5520 m are 400 km apart at 50° N. Geostrophic wind?</a:t>
            </a:r>
          </a:p>
          <a:p>
            <a:pPr algn="l">
              <a:spcAft>
                <a:spcPts val="1200"/>
              </a:spcAft>
            </a:pPr>
            <a:r>
              <a:rPr sz="2400" b="1" i="0">
                <a:solidFill>
                  <a:srgbClr val="1F1F1F"/>
                </a:solidFill>
                <a:latin typeface="Calibri"/>
              </a:rPr>
              <a:t>E2.</a:t>
            </a:r>
            <a:r>
              <a:rPr sz="2400" b="0" i="0">
                <a:solidFill>
                  <a:srgbClr val="1F1F1F"/>
                </a:solidFill>
                <a:latin typeface="Calibri"/>
              </a:rPr>
              <a:t>  Southern Hemisphere: 500 hPa heights 5600 m at 40° S and 5500 m at 50° S. Which way does the wind blow?</a:t>
            </a:r>
          </a:p>
          <a:p>
            <a:pPr algn="l">
              <a:spcAft>
                <a:spcPts val="1200"/>
              </a:spcAft>
            </a:pPr>
            <a:r>
              <a:rPr sz="2400" b="1" i="0">
                <a:solidFill>
                  <a:srgbClr val="1F1F1F"/>
                </a:solidFill>
                <a:latin typeface="Calibri"/>
              </a:rPr>
              <a:t>E3.</a:t>
            </a:r>
            <a:r>
              <a:rPr sz="2400" b="0" i="0">
                <a:solidFill>
                  <a:srgbClr val="1F1F1F"/>
                </a:solidFill>
                <a:latin typeface="Calibri"/>
              </a:rPr>
              <a:t>  At what latitude do the lines of Figure 3 (60 m in 500 km) give 20 m/s?</a:t>
            </a:r>
          </a:p>
          <a:p>
            <a:pPr algn="l">
              <a:spcAft>
                <a:spcPts val="1200"/>
              </a:spcAft>
            </a:pPr>
            <a:r>
              <a:rPr sz="2400" b="1" i="0">
                <a:solidFill>
                  <a:srgbClr val="1F1F1F"/>
                </a:solidFill>
                <a:latin typeface="Calibri"/>
              </a:rPr>
              <a:t>E4.</a:t>
            </a:r>
            <a:r>
              <a:rPr sz="2400" b="0" i="0">
                <a:solidFill>
                  <a:srgbClr val="1F1F1F"/>
                </a:solidFill>
                <a:latin typeface="Calibri"/>
              </a:rPr>
              <a:t>  A Northern Hemisphere pilot with the wind directly behind finds low pressure on the left. Consistent with Buys-Ballot?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E: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Geostrophic wind</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90</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007F5F"/>
                </a:solidFill>
                <a:latin typeface="Calibri"/>
              </a:rPr>
              <a:t>Answers</a:t>
            </a:r>
          </a:p>
          <a:p>
            <a:pPr algn="l">
              <a:spcAft>
                <a:spcPts val="1200"/>
              </a:spcAft>
            </a:pPr>
            <a:r>
              <a:rPr sz="2400" b="1" i="0">
                <a:solidFill>
                  <a:srgbClr val="1F1F1F"/>
                </a:solidFill>
                <a:latin typeface="Calibri"/>
              </a:rPr>
              <a:t>E1.</a:t>
            </a:r>
            <a:r>
              <a:rPr sz="2400" b="0" i="0">
                <a:solidFill>
                  <a:srgbClr val="1F1F1F"/>
                </a:solidFill>
                <a:latin typeface="Calibri"/>
              </a:rPr>
              <a:t>  f = 1.117×10</a:t>
            </a:r>
            <a:r>
              <a:rPr sz="2400" b="0" i="0" baseline="30000">
                <a:solidFill>
                  <a:srgbClr val="1F1F1F"/>
                </a:solidFill>
                <a:latin typeface="Calibri"/>
              </a:rPr>
              <a:t>−4</a:t>
            </a:r>
            <a:r>
              <a:rPr sz="2400" b="0" i="0">
                <a:solidFill>
                  <a:srgbClr val="1F1F1F"/>
                </a:solidFill>
                <a:latin typeface="Calibri"/>
              </a:rPr>
              <a:t>; V</a:t>
            </a:r>
            <a:r>
              <a:rPr sz="2400" b="0" i="0" baseline="-25000">
                <a:solidFill>
                  <a:srgbClr val="1F1F1F"/>
                </a:solidFill>
                <a:latin typeface="Calibri"/>
              </a:rPr>
              <a:t>g</a:t>
            </a:r>
            <a:r>
              <a:rPr sz="2400" b="0" i="0">
                <a:solidFill>
                  <a:srgbClr val="1F1F1F"/>
                </a:solidFill>
                <a:latin typeface="Calibri"/>
              </a:rPr>
              <a:t> = 9.81×60 / (1.117×10</a:t>
            </a:r>
            <a:r>
              <a:rPr sz="2400" b="0" i="0" baseline="30000">
                <a:solidFill>
                  <a:srgbClr val="1F1F1F"/>
                </a:solidFill>
                <a:latin typeface="Calibri"/>
              </a:rPr>
              <a:t>−4</a:t>
            </a:r>
            <a:r>
              <a:rPr sz="2400" b="0" i="0">
                <a:solidFill>
                  <a:srgbClr val="1F1F1F"/>
                </a:solidFill>
                <a:latin typeface="Calibri"/>
              </a:rPr>
              <a:t> × 4×10</a:t>
            </a:r>
            <a:r>
              <a:rPr sz="2400" b="0" i="0" baseline="30000">
                <a:solidFill>
                  <a:srgbClr val="1F1F1F"/>
                </a:solidFill>
                <a:latin typeface="Calibri"/>
              </a:rPr>
              <a:t>5</a:t>
            </a:r>
            <a:r>
              <a:rPr sz="2400" b="0" i="0">
                <a:solidFill>
                  <a:srgbClr val="1F1F1F"/>
                </a:solidFill>
                <a:latin typeface="Calibri"/>
              </a:rPr>
              <a:t>) = </a:t>
            </a:r>
            <a:r>
              <a:rPr sz="2400" b="1" i="0">
                <a:solidFill>
                  <a:srgbClr val="007F5F"/>
                </a:solidFill>
                <a:latin typeface="Calibri"/>
              </a:rPr>
              <a:t>13.2 m/s</a:t>
            </a:r>
            <a:r>
              <a:rPr sz="2400" b="0" i="0">
                <a:solidFill>
                  <a:srgbClr val="1F1F1F"/>
                </a:solidFill>
                <a:latin typeface="Calibri"/>
              </a:rPr>
              <a:t> (26 kt).</a:t>
            </a:r>
          </a:p>
          <a:p>
            <a:pPr algn="l">
              <a:spcAft>
                <a:spcPts val="1200"/>
              </a:spcAft>
            </a:pPr>
            <a:r>
              <a:rPr sz="2400" b="1" i="0">
                <a:solidFill>
                  <a:srgbClr val="1F1F1F"/>
                </a:solidFill>
                <a:latin typeface="Calibri"/>
              </a:rPr>
              <a:t>E2.</a:t>
            </a:r>
            <a:r>
              <a:rPr sz="2400" b="0" i="0">
                <a:solidFill>
                  <a:srgbClr val="1F1F1F"/>
                </a:solidFill>
                <a:latin typeface="Calibri"/>
              </a:rPr>
              <a:t>  Heights fall towards the pole, so the low is to the south = on the </a:t>
            </a:r>
            <a:r>
              <a:rPr sz="2400" b="1" i="0">
                <a:solidFill>
                  <a:srgbClr val="1F1F1F"/>
                </a:solidFill>
                <a:latin typeface="Calibri"/>
              </a:rPr>
              <a:t>right</a:t>
            </a:r>
            <a:r>
              <a:rPr sz="2400" b="0" i="0">
                <a:solidFill>
                  <a:srgbClr val="1F1F1F"/>
                </a:solidFill>
                <a:latin typeface="Calibri"/>
              </a:rPr>
              <a:t> of the wind: </a:t>
            </a:r>
            <a:r>
              <a:rPr sz="2400" b="1" i="0">
                <a:solidFill>
                  <a:srgbClr val="007F5F"/>
                </a:solidFill>
                <a:latin typeface="Calibri"/>
              </a:rPr>
              <a:t>west to east</a:t>
            </a:r>
            <a:r>
              <a:rPr sz="2400" b="0" i="0">
                <a:solidFill>
                  <a:srgbClr val="1F1F1F"/>
                </a:solidFill>
                <a:latin typeface="Calibri"/>
              </a:rPr>
              <a:t>.</a:t>
            </a:r>
          </a:p>
          <a:p>
            <a:pPr algn="l">
              <a:spcAft>
                <a:spcPts val="1200"/>
              </a:spcAft>
            </a:pPr>
            <a:r>
              <a:rPr sz="2400" b="1" i="0">
                <a:solidFill>
                  <a:srgbClr val="1F1F1F"/>
                </a:solidFill>
                <a:latin typeface="Calibri"/>
              </a:rPr>
              <a:t>E3.</a:t>
            </a:r>
            <a:r>
              <a:rPr sz="2400" b="0" i="0">
                <a:solidFill>
                  <a:srgbClr val="1F1F1F"/>
                </a:solidFill>
                <a:latin typeface="Calibri"/>
              </a:rPr>
              <a:t>  sin φ = gΔz/(2Ω V</a:t>
            </a:r>
            <a:r>
              <a:rPr sz="2400" b="0" i="0" baseline="-25000">
                <a:solidFill>
                  <a:srgbClr val="1F1F1F"/>
                </a:solidFill>
                <a:latin typeface="Calibri"/>
              </a:rPr>
              <a:t>g</a:t>
            </a:r>
            <a:r>
              <a:rPr sz="2400" b="0" i="0">
                <a:solidFill>
                  <a:srgbClr val="1F1F1F"/>
                </a:solidFill>
                <a:latin typeface="Calibri"/>
              </a:rPr>
              <a:t> Δn) = 588.6/1458 = 0.404 → φ = </a:t>
            </a:r>
            <a:r>
              <a:rPr sz="2400" b="1" i="0">
                <a:solidFill>
                  <a:srgbClr val="007F5F"/>
                </a:solidFill>
                <a:latin typeface="Calibri"/>
              </a:rPr>
              <a:t>23.8°</a:t>
            </a:r>
            <a:r>
              <a:rPr sz="2400" b="0" i="0">
                <a:solidFill>
                  <a:srgbClr val="1F1F1F"/>
                </a:solidFill>
                <a:latin typeface="Calibri"/>
              </a:rPr>
              <a:t>.</a:t>
            </a:r>
          </a:p>
          <a:p>
            <a:pPr algn="l">
              <a:spcAft>
                <a:spcPts val="1200"/>
              </a:spcAft>
            </a:pPr>
            <a:r>
              <a:rPr sz="2400" b="1" i="0">
                <a:solidFill>
                  <a:srgbClr val="1F1F1F"/>
                </a:solidFill>
                <a:latin typeface="Calibri"/>
              </a:rPr>
              <a:t>E4.</a:t>
            </a:r>
            <a:r>
              <a:rPr sz="2400" b="0" i="0">
                <a:solidFill>
                  <a:srgbClr val="1F1F1F"/>
                </a:solidFill>
                <a:latin typeface="Calibri"/>
              </a:rPr>
              <a:t>  </a:t>
            </a:r>
            <a:r>
              <a:rPr sz="2400" b="1" i="0">
                <a:solidFill>
                  <a:srgbClr val="007F5F"/>
                </a:solidFill>
                <a:latin typeface="Calibri"/>
              </a:rPr>
              <a:t>Yes</a:t>
            </a:r>
            <a:r>
              <a:rPr sz="2400" b="0" i="0">
                <a:solidFill>
                  <a:srgbClr val="1F1F1F"/>
                </a:solidFill>
                <a:latin typeface="Calibri"/>
              </a:rPr>
              <a:t>: back to the wind, low on the left is the Northern Hemisphere rule.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400" b="1" i="0">
                <a:solidFill>
                  <a:srgbClr val="FFFFFF"/>
                </a:solidFill>
                <a:latin typeface="Calibri"/>
              </a:rPr>
              <a:t>Motion Q8: what does a slower wind do to the Coriolis force?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91</a:t>
            </a:r>
          </a:p>
        </p:txBody>
      </p:sp>
      <p:sp>
        <p:nvSpPr>
          <p:cNvPr id="6" name="Rounded Rectangle 5"/>
          <p:cNvSpPr/>
          <p:nvPr/>
        </p:nvSpPr>
        <p:spPr>
          <a:xfrm>
            <a:off x="411480" y="1097280"/>
            <a:ext cx="11338560" cy="219456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200" b="1" i="0">
                <a:solidFill>
                  <a:srgbClr val="0072B2"/>
                </a:solidFill>
                <a:latin typeface="Calibri"/>
              </a:rPr>
              <a:t>The question</a:t>
            </a:r>
          </a:p>
          <a:p>
            <a:pPr algn="l">
              <a:spcAft>
                <a:spcPts val="300"/>
              </a:spcAft>
            </a:pPr>
            <a:r>
              <a:rPr sz="2200" b="0" i="0">
                <a:solidFill>
                  <a:srgbClr val="1F1F1F"/>
                </a:solidFill>
                <a:latin typeface="Calibri"/>
              </a:rPr>
              <a:t>Winds close to the earth's surface are also influenced by friction, which acts in a direction opposite to the wind, slowing the wind down. What effect will a reduction in surface wind speed have on the Coriolis force?</a:t>
            </a:r>
          </a:p>
        </p:txBody>
      </p:sp>
      <p:sp>
        <p:nvSpPr>
          <p:cNvPr id="7" name="TextBox 6"/>
          <p:cNvSpPr txBox="1"/>
          <p:nvPr/>
        </p:nvSpPr>
        <p:spPr>
          <a:xfrm>
            <a:off x="457200" y="3566159"/>
            <a:ext cx="11247120" cy="2834640"/>
          </a:xfrm>
          <a:prstGeom prst="rect">
            <a:avLst/>
          </a:prstGeom>
          <a:noFill/>
        </p:spPr>
        <p:txBody>
          <a:bodyPr wrap="square" anchor="t" lIns="45720" rIns="45720">
            <a:spAutoFit/>
          </a:bodyPr>
          <a:lstStyle/>
          <a:p>
            <a:pPr algn="l">
              <a:spcAft>
                <a:spcPts val="600"/>
              </a:spcAft>
            </a:pPr>
            <a:r>
              <a:rPr sz="2100" b="0" i="0">
                <a:solidFill>
                  <a:srgbClr val="1F1F1F"/>
                </a:solidFill>
                <a:latin typeface="Calibri"/>
              </a:rPr>
              <a:t>Recall: Coriolis force = f × V.</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Q8: the answer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92</a:t>
            </a:r>
          </a:p>
        </p:txBody>
      </p:sp>
      <p:sp>
        <p:nvSpPr>
          <p:cNvPr id="6" name="Rounded Rectangle 5"/>
          <p:cNvSpPr/>
          <p:nvPr/>
        </p:nvSpPr>
        <p:spPr>
          <a:xfrm>
            <a:off x="411480" y="1097280"/>
            <a:ext cx="5669280" cy="31089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200" b="1" i="0">
                <a:solidFill>
                  <a:srgbClr val="007F5F"/>
                </a:solidFill>
                <a:latin typeface="Calibri"/>
              </a:rPr>
              <a:t>Answer</a:t>
            </a:r>
          </a:p>
          <a:p>
            <a:pPr algn="l">
              <a:spcAft>
                <a:spcPts val="300"/>
              </a:spcAft>
            </a:pPr>
            <a:r>
              <a:rPr sz="2200" b="0" i="0">
                <a:solidFill>
                  <a:srgbClr val="1F1F1F"/>
                </a:solidFill>
                <a:latin typeface="Calibri"/>
              </a:rPr>
              <a:t>The Coriolis force becomes </a:t>
            </a:r>
            <a:r>
              <a:rPr sz="2200" b="1" i="0">
                <a:solidFill>
                  <a:srgbClr val="007F5F"/>
                </a:solidFill>
                <a:latin typeface="Calibri"/>
              </a:rPr>
              <a:t>weaker</a:t>
            </a:r>
            <a:r>
              <a:rPr sz="2200" b="0" i="0">
                <a:solidFill>
                  <a:srgbClr val="1F1F1F"/>
                </a:solidFill>
                <a:latin typeface="Calibri"/>
              </a:rPr>
              <a:t>: it depends on the wind speed.</a:t>
            </a:r>
          </a:p>
          <a:p>
            <a:pPr algn="l">
              <a:spcAft>
                <a:spcPts val="300"/>
              </a:spcAft>
            </a:pPr>
            <a:r>
              <a:rPr sz="2200" b="0" i="0">
                <a:solidFill>
                  <a:srgbClr val="1F1F1F"/>
                </a:solidFill>
                <a:latin typeface="Calibri"/>
              </a:rPr>
              <a:t>Slower wind → smaller Coriolis force; faster wind → greater deflection.</a:t>
            </a:r>
          </a:p>
        </p:txBody>
      </p:sp>
      <p:sp>
        <p:nvSpPr>
          <p:cNvPr id="7" name="Rounded Rectangle 6"/>
          <p:cNvSpPr/>
          <p:nvPr/>
        </p:nvSpPr>
        <p:spPr>
          <a:xfrm>
            <a:off x="411480" y="4389120"/>
            <a:ext cx="5669280" cy="2377440"/>
          </a:xfrm>
          <a:prstGeom prst="roundRect">
            <a:avLst>
              <a:gd name="adj" fmla="val 6000"/>
            </a:avLst>
          </a:prstGeom>
          <a:solidFill>
            <a:srgbClr val="FFF1DA"/>
          </a:solidFill>
          <a:ln w="22225">
            <a:solidFill>
              <a:srgbClr val="B87A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8A5A00"/>
                </a:solidFill>
                <a:latin typeface="Calibri"/>
              </a:rPr>
              <a:t>So what happens?</a:t>
            </a:r>
          </a:p>
          <a:p>
            <a:pPr algn="l">
              <a:spcAft>
                <a:spcPts val="300"/>
              </a:spcAft>
            </a:pPr>
            <a:r>
              <a:rPr sz="1800" b="0" i="0">
                <a:solidFill>
                  <a:srgbClr val="1F1F1F"/>
                </a:solidFill>
                <a:latin typeface="Calibri"/>
              </a:rPr>
              <a:t>The pressure gradient force no longer has an equal Coriolis force to cancel it. The leftover pushes the wind </a:t>
            </a:r>
            <a:r>
              <a:rPr sz="1800" b="1" i="0">
                <a:solidFill>
                  <a:srgbClr val="1F1F1F"/>
                </a:solidFill>
                <a:latin typeface="Calibri"/>
              </a:rPr>
              <a:t>across</a:t>
            </a:r>
            <a:r>
              <a:rPr sz="1800" b="0" i="0">
                <a:solidFill>
                  <a:srgbClr val="1F1F1F"/>
                </a:solidFill>
                <a:latin typeface="Calibri"/>
              </a:rPr>
              <a:t> the isobars towards low pressure.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Near the ground: a balance of three forces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93</a:t>
            </a:r>
          </a:p>
        </p:txBody>
      </p:sp>
      <p:sp>
        <p:nvSpPr>
          <p:cNvPr id="6" name="TextBox 5"/>
          <p:cNvSpPr txBox="1"/>
          <p:nvPr/>
        </p:nvSpPr>
        <p:spPr>
          <a:xfrm>
            <a:off x="411480" y="1097280"/>
            <a:ext cx="5486400" cy="5120640"/>
          </a:xfrm>
          <a:prstGeom prst="rect">
            <a:avLst/>
          </a:prstGeom>
          <a:noFill/>
        </p:spPr>
        <p:txBody>
          <a:bodyPr wrap="square" anchor="t" lIns="45720" rIns="45720">
            <a:spAutoFit/>
          </a:bodyPr>
          <a:lstStyle/>
          <a:p>
            <a:pPr algn="l">
              <a:spcAft>
                <a:spcPts val="600"/>
              </a:spcAft>
            </a:pPr>
            <a:r>
              <a:rPr sz="2000" b="0" i="0">
                <a:solidFill>
                  <a:srgbClr val="1F1F1F"/>
                </a:solidFill>
                <a:latin typeface="Calibri"/>
              </a:rPr>
              <a:t>Wind parallel to the isobars would leave friction (along the isobars) with nothing to balance it.</a:t>
            </a:r>
          </a:p>
          <a:p>
            <a:pPr algn="l">
              <a:spcAft>
                <a:spcPts val="600"/>
              </a:spcAft>
            </a:pPr>
            <a:r>
              <a:rPr sz="2000" b="0" i="0">
                <a:solidFill>
                  <a:srgbClr val="1F1F1F"/>
                </a:solidFill>
                <a:latin typeface="Calibri"/>
              </a:rPr>
              <a:t>The only way out: the wind turns </a:t>
            </a:r>
            <a:r>
              <a:rPr sz="2000" b="1" i="0">
                <a:solidFill>
                  <a:srgbClr val="1F1F1F"/>
                </a:solidFill>
                <a:latin typeface="Calibri"/>
              </a:rPr>
              <a:t>towards low pressure</a:t>
            </a:r>
            <a:r>
              <a:rPr sz="2000" b="0" i="0">
                <a:solidFill>
                  <a:srgbClr val="1F1F1F"/>
                </a:solidFill>
                <a:latin typeface="Calibri"/>
              </a:rPr>
              <a:t>, so that</a:t>
            </a:r>
          </a:p>
          <a:p>
            <a:pPr algn="l">
              <a:spcAft>
                <a:spcPts val="600"/>
              </a:spcAft>
            </a:pPr>
            <a:r>
              <a:rPr sz="2000" b="0" i="0">
                <a:solidFill>
                  <a:srgbClr val="1F1F1F"/>
                </a:solidFill>
                <a:latin typeface="Calibri"/>
              </a:rPr>
              <a:t>•  the pressure force has a component along the wind that cancels </a:t>
            </a:r>
            <a:r>
              <a:rPr sz="2000" b="1" i="0">
                <a:solidFill>
                  <a:srgbClr val="007F5F"/>
                </a:solidFill>
                <a:latin typeface="Calibri"/>
              </a:rPr>
              <a:t>friction</a:t>
            </a:r>
          </a:p>
          <a:p>
            <a:pPr algn="l">
              <a:spcAft>
                <a:spcPts val="600"/>
              </a:spcAft>
            </a:pPr>
            <a:r>
              <a:rPr sz="2000" b="0" i="0">
                <a:solidFill>
                  <a:srgbClr val="1F1F1F"/>
                </a:solidFill>
                <a:latin typeface="Calibri"/>
              </a:rPr>
              <a:t>•  the </a:t>
            </a:r>
            <a:r>
              <a:rPr sz="2000" b="1" i="0">
                <a:solidFill>
                  <a:srgbClr val="0072B2"/>
                </a:solidFill>
                <a:latin typeface="Calibri"/>
              </a:rPr>
              <a:t>Coriolis force</a:t>
            </a:r>
            <a:r>
              <a:rPr sz="2000" b="0" i="0">
                <a:solidFill>
                  <a:srgbClr val="1F1F1F"/>
                </a:solidFill>
                <a:latin typeface="Calibri"/>
              </a:rPr>
              <a:t>, now tilted backwards, cancels the rest</a:t>
            </a:r>
          </a:p>
          <a:p>
            <a:pPr algn="l">
              <a:spcAft>
                <a:spcPts val="600"/>
              </a:spcAft>
            </a:pPr>
            <a:r>
              <a:rPr sz="2000" b="0" i="0">
                <a:solidFill>
                  <a:srgbClr val="1F1F1F"/>
                </a:solidFill>
                <a:latin typeface="Calibri"/>
              </a:rPr>
              <a:t>Result: a </a:t>
            </a:r>
            <a:r>
              <a:rPr sz="2000" b="1" i="0">
                <a:solidFill>
                  <a:srgbClr val="1F1F1F"/>
                </a:solidFill>
                <a:latin typeface="Calibri"/>
              </a:rPr>
              <a:t>slower</a:t>
            </a:r>
            <a:r>
              <a:rPr sz="2000" b="0" i="0">
                <a:solidFill>
                  <a:srgbClr val="1F1F1F"/>
                </a:solidFill>
                <a:latin typeface="Calibri"/>
              </a:rPr>
              <a:t> wind that </a:t>
            </a:r>
            <a:r>
              <a:rPr sz="2000" b="1" i="0">
                <a:solidFill>
                  <a:srgbClr val="1F1F1F"/>
                </a:solidFill>
                <a:latin typeface="Calibri"/>
              </a:rPr>
              <a:t>crosses the isobars</a:t>
            </a:r>
            <a:r>
              <a:rPr sz="2000" b="0" i="0">
                <a:solidFill>
                  <a:srgbClr val="1F1F1F"/>
                </a:solidFill>
                <a:latin typeface="Calibri"/>
              </a:rPr>
              <a:t> towards low pressure.</a:t>
            </a:r>
          </a:p>
        </p:txBody>
      </p:sp>
      <p:pic>
        <p:nvPicPr>
          <p:cNvPr id="7" name="Picture 6" descr="ch04_06.png"/>
          <p:cNvPicPr>
            <a:picLocks noChangeAspect="1"/>
          </p:cNvPicPr>
          <p:nvPr/>
        </p:nvPicPr>
        <p:blipFill>
          <a:blip r:embed="rId2"/>
          <a:stretch>
            <a:fillRect/>
          </a:stretch>
        </p:blipFill>
        <p:spPr>
          <a:xfrm>
            <a:off x="6035040" y="2645752"/>
            <a:ext cx="5760720" cy="1657934"/>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Q9: the forces in Figure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94</a:t>
            </a:r>
          </a:p>
        </p:txBody>
      </p:sp>
      <p:sp>
        <p:nvSpPr>
          <p:cNvPr id="6" name="Rounded Rectangle 5"/>
          <p:cNvSpPr/>
          <p:nvPr/>
        </p:nvSpPr>
        <p:spPr>
          <a:xfrm>
            <a:off x="411480" y="1097280"/>
            <a:ext cx="5760720" cy="301752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Indicate with arrows the three forces acting on the Northern Hemisphere box in the diagram below (Figure 5): the pressure gradient in red, the Coriolis force in blue and friction in green. The black arrow shows the resulting force.</a:t>
            </a:r>
          </a:p>
        </p:txBody>
      </p:sp>
      <p:sp>
        <p:nvSpPr>
          <p:cNvPr id="7" name="TextBox 6"/>
          <p:cNvSpPr txBox="1"/>
          <p:nvPr/>
        </p:nvSpPr>
        <p:spPr>
          <a:xfrm>
            <a:off x="457200" y="4389120"/>
            <a:ext cx="5669280" cy="20116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Isobars: </a:t>
            </a:r>
            <a:r>
              <a:rPr sz="1900" b="1" i="0">
                <a:solidFill>
                  <a:srgbClr val="1F1F1F"/>
                </a:solidFill>
                <a:latin typeface="Calibri"/>
              </a:rPr>
              <a:t>1012 mb</a:t>
            </a:r>
            <a:r>
              <a:rPr sz="1900" b="0" i="0">
                <a:solidFill>
                  <a:srgbClr val="1F1F1F"/>
                </a:solidFill>
                <a:latin typeface="Calibri"/>
              </a:rPr>
              <a:t> (top) and </a:t>
            </a:r>
            <a:r>
              <a:rPr sz="1900" b="1" i="0">
                <a:solidFill>
                  <a:srgbClr val="1F1F1F"/>
                </a:solidFill>
                <a:latin typeface="Calibri"/>
              </a:rPr>
              <a:t>1016 mb</a:t>
            </a:r>
            <a:r>
              <a:rPr sz="1900" b="0" i="0">
                <a:solidFill>
                  <a:srgbClr val="1F1F1F"/>
                </a:solidFill>
                <a:latin typeface="Calibri"/>
              </a:rPr>
              <a:t> (bottom). Which side is low pressure?</a:t>
            </a:r>
          </a:p>
        </p:txBody>
      </p:sp>
      <p:pic>
        <p:nvPicPr>
          <p:cNvPr id="8" name="Picture 7" descr="fig5_s0.png"/>
          <p:cNvPicPr>
            <a:picLocks noChangeAspect="1"/>
          </p:cNvPicPr>
          <p:nvPr/>
        </p:nvPicPr>
        <p:blipFill>
          <a:blip r:embed="rId2"/>
          <a:stretch>
            <a:fillRect/>
          </a:stretch>
        </p:blipFill>
        <p:spPr>
          <a:xfrm>
            <a:off x="6400800" y="2062863"/>
            <a:ext cx="5394960" cy="3189473"/>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Q9: step 1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95</a:t>
            </a:r>
          </a:p>
        </p:txBody>
      </p:sp>
      <p:sp>
        <p:nvSpPr>
          <p:cNvPr id="6" name="Rounded Rectangle 5"/>
          <p:cNvSpPr/>
          <p:nvPr/>
        </p:nvSpPr>
        <p:spPr>
          <a:xfrm>
            <a:off x="365760" y="1051560"/>
            <a:ext cx="4663440" cy="1218183"/>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D55E00"/>
                </a:solidFill>
                <a:latin typeface="Calibri"/>
              </a:rPr>
              <a:t>Pressure gradient force (red):</a:t>
            </a:r>
            <a:r>
              <a:rPr sz="1700" b="0" i="0">
                <a:solidFill>
                  <a:srgbClr val="1F1F1F"/>
                </a:solidFill>
                <a:latin typeface="Calibri"/>
              </a:rPr>
              <a:t> straight towards the lower pressure: </a:t>
            </a:r>
            <a:r>
              <a:rPr sz="1700" b="1" i="0">
                <a:solidFill>
                  <a:srgbClr val="1F1F1F"/>
                </a:solidFill>
                <a:latin typeface="Calibri"/>
              </a:rPr>
              <a:t>up the page</a:t>
            </a:r>
            <a:r>
              <a:rPr sz="1700" b="0" i="0">
                <a:solidFill>
                  <a:srgbClr val="1F1F1F"/>
                </a:solidFill>
                <a:latin typeface="Calibri"/>
              </a:rPr>
              <a:t>, at right angles to the isobars.</a:t>
            </a:r>
          </a:p>
        </p:txBody>
      </p:sp>
      <p:sp>
        <p:nvSpPr>
          <p:cNvPr id="7" name="Oval 6"/>
          <p:cNvSpPr/>
          <p:nvPr/>
        </p:nvSpPr>
        <p:spPr>
          <a:xfrm>
            <a:off x="457200" y="1486915"/>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fig5_s1.png"/>
          <p:cNvPicPr>
            <a:picLocks noChangeAspect="1"/>
          </p:cNvPicPr>
          <p:nvPr/>
        </p:nvPicPr>
        <p:blipFill>
          <a:blip r:embed="rId3"/>
          <a:stretch>
            <a:fillRect/>
          </a:stretch>
        </p:blipFill>
        <p:spPr>
          <a:xfrm>
            <a:off x="5257800" y="1679701"/>
            <a:ext cx="6613855" cy="3910077"/>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Q9: step 2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96</a:t>
            </a:r>
          </a:p>
        </p:txBody>
      </p:sp>
      <p:sp>
        <p:nvSpPr>
          <p:cNvPr id="6" name="Rounded Rectangle 5"/>
          <p:cNvSpPr/>
          <p:nvPr/>
        </p:nvSpPr>
        <p:spPr>
          <a:xfrm>
            <a:off x="365760" y="1051560"/>
            <a:ext cx="4663440" cy="1218183"/>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D55E00"/>
                </a:solidFill>
                <a:latin typeface="Calibri"/>
              </a:rPr>
              <a:t>Pressure gradient force (red):</a:t>
            </a:r>
            <a:r>
              <a:rPr sz="1700" b="0" i="0">
                <a:solidFill>
                  <a:srgbClr val="6B6B6B"/>
                </a:solidFill>
                <a:latin typeface="Calibri"/>
              </a:rPr>
              <a:t> straight towards the lower pressure: </a:t>
            </a:r>
            <a:r>
              <a:rPr sz="1700" b="1" i="0">
                <a:solidFill>
                  <a:srgbClr val="6B6B6B"/>
                </a:solidFill>
                <a:latin typeface="Calibri"/>
              </a:rPr>
              <a:t>up the page</a:t>
            </a:r>
            <a:r>
              <a:rPr sz="1700" b="0" i="0">
                <a:solidFill>
                  <a:srgbClr val="6B6B6B"/>
                </a:solidFill>
                <a:latin typeface="Calibri"/>
              </a:rPr>
              <a:t>, at right angles to the isobars.</a:t>
            </a:r>
          </a:p>
        </p:txBody>
      </p:sp>
      <p:sp>
        <p:nvSpPr>
          <p:cNvPr id="7" name="Oval 6"/>
          <p:cNvSpPr/>
          <p:nvPr/>
        </p:nvSpPr>
        <p:spPr>
          <a:xfrm>
            <a:off x="457200" y="1486915"/>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361183"/>
            <a:ext cx="4663440" cy="1218183"/>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The wind (black):</a:t>
            </a:r>
            <a:r>
              <a:rPr sz="1700" b="0" i="0">
                <a:solidFill>
                  <a:srgbClr val="1F1F1F"/>
                </a:solidFill>
                <a:latin typeface="Calibri"/>
              </a:rPr>
              <a:t> across the isobars towards low pressure, turned to the right: </a:t>
            </a:r>
            <a:r>
              <a:rPr sz="1700" b="1" i="0">
                <a:solidFill>
                  <a:srgbClr val="1F1F1F"/>
                </a:solidFill>
                <a:latin typeface="Calibri"/>
              </a:rPr>
              <a:t>up and to the right</a:t>
            </a:r>
            <a:r>
              <a:rPr sz="1700" b="0" i="0">
                <a:solidFill>
                  <a:srgbClr val="1F1F1F"/>
                </a:solidFill>
                <a:latin typeface="Calibri"/>
              </a:rPr>
              <a:t> (45° in this example).</a:t>
            </a:r>
          </a:p>
        </p:txBody>
      </p:sp>
      <p:sp>
        <p:nvSpPr>
          <p:cNvPr id="9" name="Oval 8"/>
          <p:cNvSpPr/>
          <p:nvPr/>
        </p:nvSpPr>
        <p:spPr>
          <a:xfrm>
            <a:off x="457200" y="2796539"/>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fig5_s2.png"/>
          <p:cNvPicPr>
            <a:picLocks noChangeAspect="1"/>
          </p:cNvPicPr>
          <p:nvPr/>
        </p:nvPicPr>
        <p:blipFill>
          <a:blip r:embed="rId3"/>
          <a:stretch>
            <a:fillRect/>
          </a:stretch>
        </p:blipFill>
        <p:spPr>
          <a:xfrm>
            <a:off x="5257800" y="1679701"/>
            <a:ext cx="6613855" cy="3910077"/>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Q9: step 3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97</a:t>
            </a:r>
          </a:p>
        </p:txBody>
      </p:sp>
      <p:sp>
        <p:nvSpPr>
          <p:cNvPr id="6" name="Rounded Rectangle 5"/>
          <p:cNvSpPr/>
          <p:nvPr/>
        </p:nvSpPr>
        <p:spPr>
          <a:xfrm>
            <a:off x="365760" y="1051560"/>
            <a:ext cx="4663440" cy="1218183"/>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D55E00"/>
                </a:solidFill>
                <a:latin typeface="Calibri"/>
              </a:rPr>
              <a:t>Pressure gradient force (red):</a:t>
            </a:r>
            <a:r>
              <a:rPr sz="1700" b="0" i="0">
                <a:solidFill>
                  <a:srgbClr val="6B6B6B"/>
                </a:solidFill>
                <a:latin typeface="Calibri"/>
              </a:rPr>
              <a:t> straight towards the lower pressure: </a:t>
            </a:r>
            <a:r>
              <a:rPr sz="1700" b="1" i="0">
                <a:solidFill>
                  <a:srgbClr val="6B6B6B"/>
                </a:solidFill>
                <a:latin typeface="Calibri"/>
              </a:rPr>
              <a:t>up the page</a:t>
            </a:r>
            <a:r>
              <a:rPr sz="1700" b="0" i="0">
                <a:solidFill>
                  <a:srgbClr val="6B6B6B"/>
                </a:solidFill>
                <a:latin typeface="Calibri"/>
              </a:rPr>
              <a:t>, at right angles to the isobars.</a:t>
            </a:r>
          </a:p>
        </p:txBody>
      </p:sp>
      <p:sp>
        <p:nvSpPr>
          <p:cNvPr id="7" name="Oval 6"/>
          <p:cNvSpPr/>
          <p:nvPr/>
        </p:nvSpPr>
        <p:spPr>
          <a:xfrm>
            <a:off x="457200" y="1486915"/>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361183"/>
            <a:ext cx="4663440" cy="1218183"/>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The wind (black):</a:t>
            </a:r>
            <a:r>
              <a:rPr sz="1700" b="0" i="0">
                <a:solidFill>
                  <a:srgbClr val="6B6B6B"/>
                </a:solidFill>
                <a:latin typeface="Calibri"/>
              </a:rPr>
              <a:t> across the isobars towards low pressure, turned to the right: </a:t>
            </a:r>
            <a:r>
              <a:rPr sz="1700" b="1" i="0">
                <a:solidFill>
                  <a:srgbClr val="6B6B6B"/>
                </a:solidFill>
                <a:latin typeface="Calibri"/>
              </a:rPr>
              <a:t>up and to the right</a:t>
            </a:r>
            <a:r>
              <a:rPr sz="1700" b="0" i="0">
                <a:solidFill>
                  <a:srgbClr val="6B6B6B"/>
                </a:solidFill>
                <a:latin typeface="Calibri"/>
              </a:rPr>
              <a:t> (45° in this example).</a:t>
            </a:r>
          </a:p>
        </p:txBody>
      </p:sp>
      <p:sp>
        <p:nvSpPr>
          <p:cNvPr id="9" name="Oval 8"/>
          <p:cNvSpPr/>
          <p:nvPr/>
        </p:nvSpPr>
        <p:spPr>
          <a:xfrm>
            <a:off x="457200" y="2796539"/>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670807"/>
            <a:ext cx="4663440" cy="95478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0072B2"/>
                </a:solidFill>
                <a:latin typeface="Calibri"/>
              </a:rPr>
              <a:t>Coriolis force (blue):</a:t>
            </a:r>
            <a:r>
              <a:rPr sz="1700" b="0" i="0">
                <a:solidFill>
                  <a:srgbClr val="1F1F1F"/>
                </a:solidFill>
                <a:latin typeface="Calibri"/>
              </a:rPr>
              <a:t> at right angles to the wind, on its </a:t>
            </a:r>
            <a:r>
              <a:rPr sz="1700" b="1" i="0">
                <a:solidFill>
                  <a:srgbClr val="1F1F1F"/>
                </a:solidFill>
                <a:latin typeface="Calibri"/>
              </a:rPr>
              <a:t>right</a:t>
            </a:r>
            <a:r>
              <a:rPr sz="1700" b="0" i="0">
                <a:solidFill>
                  <a:srgbClr val="1F1F1F"/>
                </a:solidFill>
                <a:latin typeface="Calibri"/>
              </a:rPr>
              <a:t>: down and to the right.</a:t>
            </a:r>
          </a:p>
        </p:txBody>
      </p:sp>
      <p:sp>
        <p:nvSpPr>
          <p:cNvPr id="11" name="Oval 10"/>
          <p:cNvSpPr/>
          <p:nvPr/>
        </p:nvSpPr>
        <p:spPr>
          <a:xfrm>
            <a:off x="457200" y="3974464"/>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fig5_s3.png"/>
          <p:cNvPicPr>
            <a:picLocks noChangeAspect="1"/>
          </p:cNvPicPr>
          <p:nvPr/>
        </p:nvPicPr>
        <p:blipFill>
          <a:blip r:embed="rId3"/>
          <a:stretch>
            <a:fillRect/>
          </a:stretch>
        </p:blipFill>
        <p:spPr>
          <a:xfrm>
            <a:off x="5257800" y="1679701"/>
            <a:ext cx="6613855" cy="3910077"/>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Q9: step 4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98</a:t>
            </a:r>
          </a:p>
        </p:txBody>
      </p:sp>
      <p:sp>
        <p:nvSpPr>
          <p:cNvPr id="6" name="Rounded Rectangle 5"/>
          <p:cNvSpPr/>
          <p:nvPr/>
        </p:nvSpPr>
        <p:spPr>
          <a:xfrm>
            <a:off x="365760" y="1051560"/>
            <a:ext cx="4663440" cy="1218183"/>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D55E00"/>
                </a:solidFill>
                <a:latin typeface="Calibri"/>
              </a:rPr>
              <a:t>Pressure gradient force (red):</a:t>
            </a:r>
            <a:r>
              <a:rPr sz="1700" b="0" i="0">
                <a:solidFill>
                  <a:srgbClr val="6B6B6B"/>
                </a:solidFill>
                <a:latin typeface="Calibri"/>
              </a:rPr>
              <a:t> straight towards the lower pressure: </a:t>
            </a:r>
            <a:r>
              <a:rPr sz="1700" b="1" i="0">
                <a:solidFill>
                  <a:srgbClr val="6B6B6B"/>
                </a:solidFill>
                <a:latin typeface="Calibri"/>
              </a:rPr>
              <a:t>up the page</a:t>
            </a:r>
            <a:r>
              <a:rPr sz="1700" b="0" i="0">
                <a:solidFill>
                  <a:srgbClr val="6B6B6B"/>
                </a:solidFill>
                <a:latin typeface="Calibri"/>
              </a:rPr>
              <a:t>, at right angles to the isobars.</a:t>
            </a:r>
          </a:p>
        </p:txBody>
      </p:sp>
      <p:sp>
        <p:nvSpPr>
          <p:cNvPr id="7" name="Oval 6"/>
          <p:cNvSpPr/>
          <p:nvPr/>
        </p:nvSpPr>
        <p:spPr>
          <a:xfrm>
            <a:off x="457200" y="1486915"/>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361183"/>
            <a:ext cx="4663440" cy="1218183"/>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The wind (black):</a:t>
            </a:r>
            <a:r>
              <a:rPr sz="1700" b="0" i="0">
                <a:solidFill>
                  <a:srgbClr val="6B6B6B"/>
                </a:solidFill>
                <a:latin typeface="Calibri"/>
              </a:rPr>
              <a:t> across the isobars towards low pressure, turned to the right: </a:t>
            </a:r>
            <a:r>
              <a:rPr sz="1700" b="1" i="0">
                <a:solidFill>
                  <a:srgbClr val="6B6B6B"/>
                </a:solidFill>
                <a:latin typeface="Calibri"/>
              </a:rPr>
              <a:t>up and to the right</a:t>
            </a:r>
            <a:r>
              <a:rPr sz="1700" b="0" i="0">
                <a:solidFill>
                  <a:srgbClr val="6B6B6B"/>
                </a:solidFill>
                <a:latin typeface="Calibri"/>
              </a:rPr>
              <a:t> (45° in this example).</a:t>
            </a:r>
          </a:p>
        </p:txBody>
      </p:sp>
      <p:sp>
        <p:nvSpPr>
          <p:cNvPr id="9" name="Oval 8"/>
          <p:cNvSpPr/>
          <p:nvPr/>
        </p:nvSpPr>
        <p:spPr>
          <a:xfrm>
            <a:off x="457200" y="2796539"/>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670807"/>
            <a:ext cx="466344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0072B2"/>
                </a:solidFill>
                <a:latin typeface="Calibri"/>
              </a:rPr>
              <a:t>Coriolis force (blue):</a:t>
            </a:r>
            <a:r>
              <a:rPr sz="1700" b="0" i="0">
                <a:solidFill>
                  <a:srgbClr val="6B6B6B"/>
                </a:solidFill>
                <a:latin typeface="Calibri"/>
              </a:rPr>
              <a:t> at right angles to the wind, on its </a:t>
            </a:r>
            <a:r>
              <a:rPr sz="1700" b="1" i="0">
                <a:solidFill>
                  <a:srgbClr val="6B6B6B"/>
                </a:solidFill>
                <a:latin typeface="Calibri"/>
              </a:rPr>
              <a:t>right</a:t>
            </a:r>
            <a:r>
              <a:rPr sz="1700" b="0" i="0">
                <a:solidFill>
                  <a:srgbClr val="6B6B6B"/>
                </a:solidFill>
                <a:latin typeface="Calibri"/>
              </a:rPr>
              <a:t>: down and to the right.</a:t>
            </a:r>
          </a:p>
        </p:txBody>
      </p:sp>
      <p:sp>
        <p:nvSpPr>
          <p:cNvPr id="11" name="Oval 10"/>
          <p:cNvSpPr/>
          <p:nvPr/>
        </p:nvSpPr>
        <p:spPr>
          <a:xfrm>
            <a:off x="457200" y="3974464"/>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717034"/>
            <a:ext cx="4663440" cy="691387"/>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007F5F"/>
                </a:solidFill>
                <a:latin typeface="Calibri"/>
              </a:rPr>
              <a:t>Friction (green):</a:t>
            </a:r>
            <a:r>
              <a:rPr sz="1700" b="0" i="0">
                <a:solidFill>
                  <a:srgbClr val="1F1F1F"/>
                </a:solidFill>
                <a:latin typeface="Calibri"/>
              </a:rPr>
              <a:t> directly </a:t>
            </a:r>
            <a:r>
              <a:rPr sz="1700" b="1" i="0">
                <a:solidFill>
                  <a:srgbClr val="1F1F1F"/>
                </a:solidFill>
                <a:latin typeface="Calibri"/>
              </a:rPr>
              <a:t>opposite</a:t>
            </a:r>
            <a:r>
              <a:rPr sz="1700" b="0" i="0">
                <a:solidFill>
                  <a:srgbClr val="1F1F1F"/>
                </a:solidFill>
                <a:latin typeface="Calibri"/>
              </a:rPr>
              <a:t> to the wind: down and to the left.</a:t>
            </a:r>
          </a:p>
        </p:txBody>
      </p:sp>
      <p:sp>
        <p:nvSpPr>
          <p:cNvPr id="13" name="Oval 12"/>
          <p:cNvSpPr/>
          <p:nvPr/>
        </p:nvSpPr>
        <p:spPr>
          <a:xfrm>
            <a:off x="457200" y="4888991"/>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pic>
        <p:nvPicPr>
          <p:cNvPr id="14" name="Picture 13" descr="fig5_s4.png"/>
          <p:cNvPicPr>
            <a:picLocks noChangeAspect="1"/>
          </p:cNvPicPr>
          <p:nvPr/>
        </p:nvPicPr>
        <p:blipFill>
          <a:blip r:embed="rId3"/>
          <a:stretch>
            <a:fillRect/>
          </a:stretch>
        </p:blipFill>
        <p:spPr>
          <a:xfrm>
            <a:off x="5257800" y="1679701"/>
            <a:ext cx="6613855" cy="3910077"/>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Q9: step 5 of 5</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99</a:t>
            </a:r>
          </a:p>
        </p:txBody>
      </p:sp>
      <p:sp>
        <p:nvSpPr>
          <p:cNvPr id="6" name="Rounded Rectangle 5"/>
          <p:cNvSpPr/>
          <p:nvPr/>
        </p:nvSpPr>
        <p:spPr>
          <a:xfrm>
            <a:off x="365760" y="1051560"/>
            <a:ext cx="4663440" cy="908304"/>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600" b="1" i="0">
                <a:solidFill>
                  <a:srgbClr val="D55E00"/>
                </a:solidFill>
                <a:latin typeface="Calibri"/>
              </a:rPr>
              <a:t>Pressure gradient force (red):</a:t>
            </a:r>
            <a:r>
              <a:rPr sz="1600" b="0" i="0">
                <a:solidFill>
                  <a:srgbClr val="6B6B6B"/>
                </a:solidFill>
                <a:latin typeface="Calibri"/>
              </a:rPr>
              <a:t> straight towards the lower pressure: </a:t>
            </a:r>
            <a:r>
              <a:rPr sz="1600" b="1" i="0">
                <a:solidFill>
                  <a:srgbClr val="6B6B6B"/>
                </a:solidFill>
                <a:latin typeface="Calibri"/>
              </a:rPr>
              <a:t>up the page</a:t>
            </a:r>
            <a:r>
              <a:rPr sz="1600" b="0" i="0">
                <a:solidFill>
                  <a:srgbClr val="6B6B6B"/>
                </a:solidFill>
                <a:latin typeface="Calibri"/>
              </a:rPr>
              <a:t>, at right angles to the isobars.</a:t>
            </a:r>
          </a:p>
        </p:txBody>
      </p:sp>
      <p:sp>
        <p:nvSpPr>
          <p:cNvPr id="7" name="Oval 6"/>
          <p:cNvSpPr/>
          <p:nvPr/>
        </p:nvSpPr>
        <p:spPr>
          <a:xfrm>
            <a:off x="457200" y="133197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051303"/>
            <a:ext cx="4663440" cy="1156207"/>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600" b="1" i="0">
                <a:solidFill>
                  <a:srgbClr val="6B6B6B"/>
                </a:solidFill>
                <a:latin typeface="Calibri"/>
              </a:rPr>
              <a:t>The wind (black):</a:t>
            </a:r>
            <a:r>
              <a:rPr sz="1600" b="0" i="0">
                <a:solidFill>
                  <a:srgbClr val="6B6B6B"/>
                </a:solidFill>
                <a:latin typeface="Calibri"/>
              </a:rPr>
              <a:t> across the isobars towards low pressure, turned to the right: </a:t>
            </a:r>
            <a:r>
              <a:rPr sz="1600" b="1" i="0">
                <a:solidFill>
                  <a:srgbClr val="6B6B6B"/>
                </a:solidFill>
                <a:latin typeface="Calibri"/>
              </a:rPr>
              <a:t>up and to the right</a:t>
            </a:r>
            <a:r>
              <a:rPr sz="1600" b="0" i="0">
                <a:solidFill>
                  <a:srgbClr val="6B6B6B"/>
                </a:solidFill>
                <a:latin typeface="Calibri"/>
              </a:rPr>
              <a:t> (45° in this example).</a:t>
            </a:r>
          </a:p>
        </p:txBody>
      </p:sp>
      <p:sp>
        <p:nvSpPr>
          <p:cNvPr id="9" name="Oval 8"/>
          <p:cNvSpPr/>
          <p:nvPr/>
        </p:nvSpPr>
        <p:spPr>
          <a:xfrm>
            <a:off x="457200" y="2455671"/>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298952"/>
            <a:ext cx="4663440" cy="908304"/>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600" b="1" i="0">
                <a:solidFill>
                  <a:srgbClr val="0072B2"/>
                </a:solidFill>
                <a:latin typeface="Calibri"/>
              </a:rPr>
              <a:t>Coriolis force (blue):</a:t>
            </a:r>
            <a:r>
              <a:rPr sz="1600" b="0" i="0">
                <a:solidFill>
                  <a:srgbClr val="6B6B6B"/>
                </a:solidFill>
                <a:latin typeface="Calibri"/>
              </a:rPr>
              <a:t> at right angles to the wind, on its </a:t>
            </a:r>
            <a:r>
              <a:rPr sz="1600" b="1" i="0">
                <a:solidFill>
                  <a:srgbClr val="6B6B6B"/>
                </a:solidFill>
                <a:latin typeface="Calibri"/>
              </a:rPr>
              <a:t>right</a:t>
            </a:r>
            <a:r>
              <a:rPr sz="1600" b="0" i="0">
                <a:solidFill>
                  <a:srgbClr val="6B6B6B"/>
                </a:solidFill>
                <a:latin typeface="Calibri"/>
              </a:rPr>
              <a:t>: down and to the right.</a:t>
            </a:r>
          </a:p>
        </p:txBody>
      </p:sp>
      <p:sp>
        <p:nvSpPr>
          <p:cNvPr id="11" name="Oval 10"/>
          <p:cNvSpPr/>
          <p:nvPr/>
        </p:nvSpPr>
        <p:spPr>
          <a:xfrm>
            <a:off x="457200" y="357936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298696"/>
            <a:ext cx="4663440" cy="660399"/>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600" b="1" i="0">
                <a:solidFill>
                  <a:srgbClr val="007F5F"/>
                </a:solidFill>
                <a:latin typeface="Calibri"/>
              </a:rPr>
              <a:t>Friction (green):</a:t>
            </a:r>
            <a:r>
              <a:rPr sz="1600" b="0" i="0">
                <a:solidFill>
                  <a:srgbClr val="6B6B6B"/>
                </a:solidFill>
                <a:latin typeface="Calibri"/>
              </a:rPr>
              <a:t> directly </a:t>
            </a:r>
            <a:r>
              <a:rPr sz="1600" b="1" i="0">
                <a:solidFill>
                  <a:srgbClr val="6B6B6B"/>
                </a:solidFill>
                <a:latin typeface="Calibri"/>
              </a:rPr>
              <a:t>opposite</a:t>
            </a:r>
            <a:r>
              <a:rPr sz="1600" b="0" i="0">
                <a:solidFill>
                  <a:srgbClr val="6B6B6B"/>
                </a:solidFill>
                <a:latin typeface="Calibri"/>
              </a:rPr>
              <a:t> to the wind: down and to the left.</a:t>
            </a:r>
          </a:p>
        </p:txBody>
      </p:sp>
      <p:sp>
        <p:nvSpPr>
          <p:cNvPr id="13" name="Oval 12"/>
          <p:cNvSpPr/>
          <p:nvPr/>
        </p:nvSpPr>
        <p:spPr>
          <a:xfrm>
            <a:off x="457200" y="4455160"/>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sp>
        <p:nvSpPr>
          <p:cNvPr id="14" name="Rounded Rectangle 13"/>
          <p:cNvSpPr/>
          <p:nvPr/>
        </p:nvSpPr>
        <p:spPr>
          <a:xfrm>
            <a:off x="365760" y="5050536"/>
            <a:ext cx="4663440" cy="908304"/>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600" b="1" i="0">
                <a:solidFill>
                  <a:srgbClr val="1F1F1F"/>
                </a:solidFill>
                <a:latin typeface="Calibri"/>
              </a:rPr>
              <a:t>Check:</a:t>
            </a:r>
            <a:r>
              <a:rPr sz="1600" b="0" i="0">
                <a:solidFill>
                  <a:srgbClr val="1F1F1F"/>
                </a:solidFill>
                <a:latin typeface="Calibri"/>
              </a:rPr>
              <a:t> join red, blue and green tip to tail: they close into a triangle. The forces cancel.</a:t>
            </a:r>
          </a:p>
        </p:txBody>
      </p:sp>
      <p:sp>
        <p:nvSpPr>
          <p:cNvPr id="15" name="Oval 14"/>
          <p:cNvSpPr/>
          <p:nvPr/>
        </p:nvSpPr>
        <p:spPr>
          <a:xfrm>
            <a:off x="457200" y="5330952"/>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5</a:t>
            </a:r>
          </a:p>
        </p:txBody>
      </p:sp>
      <p:pic>
        <p:nvPicPr>
          <p:cNvPr id="16" name="Picture 15" descr="fig5_s5.png"/>
          <p:cNvPicPr>
            <a:picLocks noChangeAspect="1"/>
          </p:cNvPicPr>
          <p:nvPr/>
        </p:nvPicPr>
        <p:blipFill>
          <a:blip r:embed="rId3"/>
          <a:stretch>
            <a:fillRect/>
          </a:stretch>
        </p:blipFill>
        <p:spPr>
          <a:xfrm>
            <a:off x="5257800" y="1679701"/>
            <a:ext cx="6613855" cy="3910077"/>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Q9: the answer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100</a:t>
            </a:r>
          </a:p>
        </p:txBody>
      </p:sp>
      <p:sp>
        <p:nvSpPr>
          <p:cNvPr id="6" name="Rounded Rectangle 5"/>
          <p:cNvSpPr/>
          <p:nvPr/>
        </p:nvSpPr>
        <p:spPr>
          <a:xfrm>
            <a:off x="411480" y="1097280"/>
            <a:ext cx="5669280" cy="31089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F5F"/>
                </a:solidFill>
                <a:latin typeface="Calibri"/>
              </a:rPr>
              <a:t>Answer</a:t>
            </a:r>
          </a:p>
          <a:p>
            <a:pPr algn="l">
              <a:spcAft>
                <a:spcPts val="300"/>
              </a:spcAft>
            </a:pPr>
            <a:r>
              <a:rPr sz="2000" b="1" i="0">
                <a:solidFill>
                  <a:srgbClr val="D55E00"/>
                </a:solidFill>
                <a:latin typeface="Calibri"/>
              </a:rPr>
              <a:t>Pressure gradient</a:t>
            </a:r>
            <a:r>
              <a:rPr sz="2000" b="0" i="0">
                <a:solidFill>
                  <a:srgbClr val="1F1F1F"/>
                </a:solidFill>
                <a:latin typeface="Calibri"/>
              </a:rPr>
              <a:t>: up, towards 1012 mb</a:t>
            </a:r>
          </a:p>
          <a:p>
            <a:pPr algn="l">
              <a:spcAft>
                <a:spcPts val="300"/>
              </a:spcAft>
            </a:pPr>
            <a:r>
              <a:rPr sz="2000" b="1" i="0">
                <a:solidFill>
                  <a:srgbClr val="1F1F1F"/>
                </a:solidFill>
                <a:latin typeface="Calibri"/>
              </a:rPr>
              <a:t>Wind</a:t>
            </a:r>
            <a:r>
              <a:rPr sz="2000" b="0" i="0">
                <a:solidFill>
                  <a:srgbClr val="1F1F1F"/>
                </a:solidFill>
                <a:latin typeface="Calibri"/>
              </a:rPr>
              <a:t> (black): up and to the right</a:t>
            </a:r>
          </a:p>
          <a:p>
            <a:pPr algn="l">
              <a:spcAft>
                <a:spcPts val="300"/>
              </a:spcAft>
            </a:pPr>
            <a:r>
              <a:rPr sz="2000" b="1" i="0">
                <a:solidFill>
                  <a:srgbClr val="0072B2"/>
                </a:solidFill>
                <a:latin typeface="Calibri"/>
              </a:rPr>
              <a:t>Coriolis</a:t>
            </a:r>
            <a:r>
              <a:rPr sz="2000" b="0" i="0">
                <a:solidFill>
                  <a:srgbClr val="1F1F1F"/>
                </a:solidFill>
                <a:latin typeface="Calibri"/>
              </a:rPr>
              <a:t>: at right angles to the wind, down and to the right</a:t>
            </a:r>
          </a:p>
          <a:p>
            <a:pPr algn="l">
              <a:spcAft>
                <a:spcPts val="300"/>
              </a:spcAft>
            </a:pPr>
            <a:r>
              <a:rPr sz="2000" b="1" i="0">
                <a:solidFill>
                  <a:srgbClr val="007F5F"/>
                </a:solidFill>
                <a:latin typeface="Calibri"/>
              </a:rPr>
              <a:t>Friction</a:t>
            </a:r>
            <a:r>
              <a:rPr sz="2000" b="0" i="0">
                <a:solidFill>
                  <a:srgbClr val="1F1F1F"/>
                </a:solidFill>
                <a:latin typeface="Calibri"/>
              </a:rPr>
              <a:t>: opposite to the wind, down and to the left</a:t>
            </a:r>
          </a:p>
        </p:txBody>
      </p:sp>
      <p:sp>
        <p:nvSpPr>
          <p:cNvPr id="7" name="Rounded Rectangle 6"/>
          <p:cNvSpPr/>
          <p:nvPr/>
        </p:nvSpPr>
        <p:spPr>
          <a:xfrm>
            <a:off x="411480" y="4389120"/>
            <a:ext cx="5669280" cy="2304288"/>
          </a:xfrm>
          <a:prstGeom prst="roundRect">
            <a:avLst>
              <a:gd name="adj" fmla="val 6000"/>
            </a:avLst>
          </a:prstGeom>
          <a:solidFill>
            <a:srgbClr val="FFF1DA"/>
          </a:solidFill>
          <a:ln w="22225">
            <a:solidFill>
              <a:srgbClr val="B87A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8A5A00"/>
                </a:solidFill>
                <a:latin typeface="Calibri"/>
              </a:rPr>
              <a:t>The black arrow is not a force</a:t>
            </a:r>
          </a:p>
          <a:p>
            <a:pPr algn="l">
              <a:spcAft>
                <a:spcPts val="300"/>
              </a:spcAft>
            </a:pPr>
            <a:r>
              <a:rPr sz="1800" b="0" i="0">
                <a:solidFill>
                  <a:srgbClr val="1F1F1F"/>
                </a:solidFill>
                <a:latin typeface="Calibri"/>
              </a:rPr>
              <a:t>In a steady wind the three forces cancel. The black arrow shows the </a:t>
            </a:r>
            <a:r>
              <a:rPr sz="1800" b="1" i="0">
                <a:solidFill>
                  <a:srgbClr val="1F1F1F"/>
                </a:solidFill>
                <a:latin typeface="Calibri"/>
              </a:rPr>
              <a:t>wind</a:t>
            </a:r>
            <a:r>
              <a:rPr sz="1800" b="0" i="0">
                <a:solidFill>
                  <a:srgbClr val="1F1F1F"/>
                </a:solidFill>
                <a:latin typeface="Calibri"/>
              </a:rPr>
              <a:t>, the direction the air moves when they balance.</a:t>
            </a:r>
          </a:p>
        </p:txBody>
      </p:sp>
      <p:pic>
        <p:nvPicPr>
          <p:cNvPr id="8" name="Picture 7" descr="fig5_s5.png"/>
          <p:cNvPicPr>
            <a:picLocks noChangeAspect="1"/>
          </p:cNvPicPr>
          <p:nvPr/>
        </p:nvPicPr>
        <p:blipFill>
          <a:blip r:embed="rId2"/>
          <a:stretch>
            <a:fillRect/>
          </a:stretch>
        </p:blipFill>
        <p:spPr>
          <a:xfrm>
            <a:off x="6355080" y="2026914"/>
            <a:ext cx="5516575" cy="3261371"/>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How much does friction turn the wind?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101</a:t>
            </a:r>
          </a:p>
        </p:txBody>
      </p:sp>
      <p:graphicFrame>
        <p:nvGraphicFramePr>
          <p:cNvPr id="6" name="Table 5"/>
          <p:cNvGraphicFramePr>
            <a:graphicFrameLocks noGrp="1"/>
          </p:cNvGraphicFramePr>
          <p:nvPr/>
        </p:nvGraphicFramePr>
        <p:xfrm>
          <a:off x="411480" y="1143000"/>
          <a:ext cx="5303518" cy="3182112"/>
        </p:xfrm>
        <a:graphic>
          <a:graphicData uri="http://schemas.openxmlformats.org/drawingml/2006/table">
            <a:tbl>
              <a:tblPr firstRow="0" bandRow="0">
                <a:tableStyleId>{5940675A-B579-460E-94D1-54222C63F5DA}</a:tableStyleId>
              </a:tblPr>
              <a:tblGrid>
                <a:gridCol w="2401593"/>
                <a:gridCol w="800531"/>
                <a:gridCol w="1000664"/>
                <a:gridCol w="1100730"/>
              </a:tblGrid>
              <a:tr h="530352">
                <a:tc>
                  <a:txBody>
                    <a:bodyPr wrap="square"/>
                    <a:lstStyle/>
                    <a:p>
                      <a:pPr algn="l"/>
                      <a:r>
                        <a:rPr sz="1700" b="1" i="0">
                          <a:solidFill>
                            <a:srgbClr val="FFFFFF"/>
                          </a:solidFill>
                          <a:latin typeface="Calibri"/>
                        </a:rPr>
                        <a:t>Surface</a:t>
                      </a:r>
                    </a:p>
                  </a:txBody>
                  <a:tcPr marL="73152" marR="73152" marT="27432" marB="27432" anchor="ctr">
                    <a:solidFill>
                      <a:srgbClr val="1B3A6B"/>
                    </a:solidFill>
                  </a:tcPr>
                </a:tc>
                <a:tc>
                  <a:txBody>
                    <a:bodyPr wrap="square"/>
                    <a:lstStyle/>
                    <a:p>
                      <a:pPr algn="l"/>
                      <a:r>
                        <a:rPr sz="1700" b="1" i="0">
                          <a:solidFill>
                            <a:srgbClr val="FFFFFF"/>
                          </a:solidFill>
                          <a:latin typeface="Calibri"/>
                        </a:rPr>
                        <a:t>k/f</a:t>
                      </a:r>
                    </a:p>
                  </a:txBody>
                  <a:tcPr marL="73152" marR="73152" marT="27432" marB="27432" anchor="ctr">
                    <a:solidFill>
                      <a:srgbClr val="1B3A6B"/>
                    </a:solidFill>
                  </a:tcPr>
                </a:tc>
                <a:tc>
                  <a:txBody>
                    <a:bodyPr wrap="square"/>
                    <a:lstStyle/>
                    <a:p>
                      <a:pPr algn="l"/>
                      <a:r>
                        <a:rPr sz="1700" b="1" i="0">
                          <a:solidFill>
                            <a:srgbClr val="FFFFFF"/>
                          </a:solidFill>
                          <a:latin typeface="Calibri"/>
                        </a:rPr>
                        <a:t>Angle</a:t>
                      </a:r>
                    </a:p>
                  </a:txBody>
                  <a:tcPr marL="73152" marR="73152" marT="27432" marB="27432" anchor="ctr">
                    <a:solidFill>
                      <a:srgbClr val="1B3A6B"/>
                    </a:solidFill>
                  </a:tcPr>
                </a:tc>
                <a:tc>
                  <a:txBody>
                    <a:bodyPr wrap="square"/>
                    <a:lstStyle/>
                    <a:p>
                      <a:pPr algn="l"/>
                      <a:r>
                        <a:rPr sz="1700" b="1" i="0">
                          <a:solidFill>
                            <a:srgbClr val="FFFFFF"/>
                          </a:solidFill>
                          <a:latin typeface="Calibri"/>
                        </a:rPr>
                        <a:t>V/V</a:t>
                      </a:r>
                      <a:r>
                        <a:rPr sz="1700" b="1" i="0" baseline="-25000">
                          <a:solidFill>
                            <a:srgbClr val="FFFFFF"/>
                          </a:solidFill>
                          <a:latin typeface="Calibri"/>
                        </a:rPr>
                        <a:t>g</a:t>
                      </a:r>
                    </a:p>
                  </a:txBody>
                  <a:tcPr marL="73152" marR="73152" marT="27432" marB="27432" anchor="ctr">
                    <a:solidFill>
                      <a:srgbClr val="1B3A6B"/>
                    </a:solidFill>
                  </a:tcPr>
                </a:tc>
              </a:tr>
              <a:tr h="530352">
                <a:tc>
                  <a:txBody>
                    <a:bodyPr wrap="square"/>
                    <a:lstStyle/>
                    <a:p>
                      <a:pPr algn="l"/>
                      <a:r>
                        <a:rPr sz="1700" b="0" i="0">
                          <a:solidFill>
                            <a:srgbClr val="1F1F1F"/>
                          </a:solidFill>
                          <a:latin typeface="Calibri"/>
                        </a:rPr>
                        <a:t>No friction (high up)</a:t>
                      </a:r>
                    </a:p>
                  </a:txBody>
                  <a:tcPr marL="73152" marR="73152" marT="27432" marB="27432" anchor="ctr">
                    <a:solidFill>
                      <a:srgbClr val="FFFFFF"/>
                    </a:solidFill>
                  </a:tcPr>
                </a:tc>
                <a:tc>
                  <a:txBody>
                    <a:bodyPr wrap="square"/>
                    <a:lstStyle/>
                    <a:p>
                      <a:pPr algn="l"/>
                      <a:r>
                        <a:rPr sz="1700" b="0" i="0">
                          <a:solidFill>
                            <a:srgbClr val="1F1F1F"/>
                          </a:solidFill>
                          <a:latin typeface="Calibri"/>
                        </a:rPr>
                        <a:t>0</a:t>
                      </a:r>
                    </a:p>
                  </a:txBody>
                  <a:tcPr marL="73152" marR="73152" marT="27432" marB="27432" anchor="ctr">
                    <a:solidFill>
                      <a:srgbClr val="FFFFFF"/>
                    </a:solidFill>
                  </a:tcPr>
                </a:tc>
                <a:tc>
                  <a:txBody>
                    <a:bodyPr wrap="square"/>
                    <a:lstStyle/>
                    <a:p>
                      <a:pPr algn="l"/>
                      <a:r>
                        <a:rPr sz="1700" b="0" i="0">
                          <a:solidFill>
                            <a:srgbClr val="1F1F1F"/>
                          </a:solidFill>
                          <a:latin typeface="Calibri"/>
                        </a:rPr>
                        <a:t>0°</a:t>
                      </a:r>
                    </a:p>
                  </a:txBody>
                  <a:tcPr marL="73152" marR="73152" marT="27432" marB="27432" anchor="ctr">
                    <a:solidFill>
                      <a:srgbClr val="FFFFFF"/>
                    </a:solidFill>
                  </a:tcPr>
                </a:tc>
                <a:tc>
                  <a:txBody>
                    <a:bodyPr wrap="square"/>
                    <a:lstStyle/>
                    <a:p>
                      <a:pPr algn="l"/>
                      <a:r>
                        <a:rPr sz="1700" b="0" i="0">
                          <a:solidFill>
                            <a:srgbClr val="1F1F1F"/>
                          </a:solidFill>
                          <a:latin typeface="Calibri"/>
                        </a:rPr>
                        <a:t>100 %</a:t>
                      </a:r>
                    </a:p>
                  </a:txBody>
                  <a:tcPr marL="73152" marR="73152" marT="27432" marB="27432" anchor="ctr">
                    <a:solidFill>
                      <a:srgbClr val="FFFFFF"/>
                    </a:solidFill>
                  </a:tcPr>
                </a:tc>
              </a:tr>
              <a:tr h="530352">
                <a:tc>
                  <a:txBody>
                    <a:bodyPr wrap="square"/>
                    <a:lstStyle/>
                    <a:p>
                      <a:pPr algn="l"/>
                      <a:r>
                        <a:rPr sz="1700" b="0" i="0">
                          <a:solidFill>
                            <a:srgbClr val="1F1F1F"/>
                          </a:solidFill>
                          <a:latin typeface="Calibri"/>
                        </a:rPr>
                        <a:t>Open sea</a:t>
                      </a:r>
                    </a:p>
                  </a:txBody>
                  <a:tcPr marL="73152" marR="73152" marT="27432" marB="27432" anchor="ctr">
                    <a:solidFill>
                      <a:srgbClr val="F7F7F5"/>
                    </a:solidFill>
                  </a:tcPr>
                </a:tc>
                <a:tc>
                  <a:txBody>
                    <a:bodyPr wrap="square"/>
                    <a:lstStyle/>
                    <a:p>
                      <a:pPr algn="l"/>
                      <a:r>
                        <a:rPr sz="1700" b="0" i="0">
                          <a:solidFill>
                            <a:srgbClr val="1F1F1F"/>
                          </a:solidFill>
                          <a:latin typeface="Calibri"/>
                        </a:rPr>
                        <a:t>0.3</a:t>
                      </a:r>
                    </a:p>
                  </a:txBody>
                  <a:tcPr marL="73152" marR="73152" marT="27432" marB="27432" anchor="ctr">
                    <a:solidFill>
                      <a:srgbClr val="F7F7F5"/>
                    </a:solidFill>
                  </a:tcPr>
                </a:tc>
                <a:tc>
                  <a:txBody>
                    <a:bodyPr wrap="square"/>
                    <a:lstStyle/>
                    <a:p>
                      <a:pPr algn="l"/>
                      <a:r>
                        <a:rPr sz="1700" b="0" i="0">
                          <a:solidFill>
                            <a:srgbClr val="1F1F1F"/>
                          </a:solidFill>
                          <a:latin typeface="Calibri"/>
                        </a:rPr>
                        <a:t>17°</a:t>
                      </a:r>
                    </a:p>
                  </a:txBody>
                  <a:tcPr marL="73152" marR="73152" marT="27432" marB="27432" anchor="ctr">
                    <a:solidFill>
                      <a:srgbClr val="F7F7F5"/>
                    </a:solidFill>
                  </a:tcPr>
                </a:tc>
                <a:tc>
                  <a:txBody>
                    <a:bodyPr wrap="square"/>
                    <a:lstStyle/>
                    <a:p>
                      <a:pPr algn="l"/>
                      <a:r>
                        <a:rPr sz="1700" b="0" i="0">
                          <a:solidFill>
                            <a:srgbClr val="1F1F1F"/>
                          </a:solidFill>
                          <a:latin typeface="Calibri"/>
                        </a:rPr>
                        <a:t>96 %</a:t>
                      </a:r>
                    </a:p>
                  </a:txBody>
                  <a:tcPr marL="73152" marR="73152" marT="27432" marB="27432" anchor="ctr">
                    <a:solidFill>
                      <a:srgbClr val="F7F7F5"/>
                    </a:solidFill>
                  </a:tcPr>
                </a:tc>
              </a:tr>
              <a:tr h="530352">
                <a:tc>
                  <a:txBody>
                    <a:bodyPr wrap="square"/>
                    <a:lstStyle/>
                    <a:p>
                      <a:pPr algn="l"/>
                      <a:r>
                        <a:rPr sz="1700" b="0" i="0">
                          <a:solidFill>
                            <a:srgbClr val="1F1F1F"/>
                          </a:solidFill>
                          <a:latin typeface="Calibri"/>
                        </a:rPr>
                        <a:t>Flat grassland</a:t>
                      </a:r>
                    </a:p>
                  </a:txBody>
                  <a:tcPr marL="73152" marR="73152" marT="27432" marB="27432" anchor="ctr">
                    <a:solidFill>
                      <a:srgbClr val="FFFFFF"/>
                    </a:solidFill>
                  </a:tcPr>
                </a:tc>
                <a:tc>
                  <a:txBody>
                    <a:bodyPr wrap="square"/>
                    <a:lstStyle/>
                    <a:p>
                      <a:pPr algn="l"/>
                      <a:r>
                        <a:rPr sz="1700" b="0" i="0">
                          <a:solidFill>
                            <a:srgbClr val="1F1F1F"/>
                          </a:solidFill>
                          <a:latin typeface="Calibri"/>
                        </a:rPr>
                        <a:t>0.6</a:t>
                      </a:r>
                    </a:p>
                  </a:txBody>
                  <a:tcPr marL="73152" marR="73152" marT="27432" marB="27432" anchor="ctr">
                    <a:solidFill>
                      <a:srgbClr val="FFFFFF"/>
                    </a:solidFill>
                  </a:tcPr>
                </a:tc>
                <a:tc>
                  <a:txBody>
                    <a:bodyPr wrap="square"/>
                    <a:lstStyle/>
                    <a:p>
                      <a:pPr algn="l"/>
                      <a:r>
                        <a:rPr sz="1700" b="0" i="0">
                          <a:solidFill>
                            <a:srgbClr val="1F1F1F"/>
                          </a:solidFill>
                          <a:latin typeface="Calibri"/>
                        </a:rPr>
                        <a:t>31°</a:t>
                      </a:r>
                    </a:p>
                  </a:txBody>
                  <a:tcPr marL="73152" marR="73152" marT="27432" marB="27432" anchor="ctr">
                    <a:solidFill>
                      <a:srgbClr val="FFFFFF"/>
                    </a:solidFill>
                  </a:tcPr>
                </a:tc>
                <a:tc>
                  <a:txBody>
                    <a:bodyPr wrap="square"/>
                    <a:lstStyle/>
                    <a:p>
                      <a:pPr algn="l"/>
                      <a:r>
                        <a:rPr sz="1700" b="0" i="0">
                          <a:solidFill>
                            <a:srgbClr val="1F1F1F"/>
                          </a:solidFill>
                          <a:latin typeface="Calibri"/>
                        </a:rPr>
                        <a:t>86 %</a:t>
                      </a:r>
                    </a:p>
                  </a:txBody>
                  <a:tcPr marL="73152" marR="73152" marT="27432" marB="27432" anchor="ctr">
                    <a:solidFill>
                      <a:srgbClr val="FFFFFF"/>
                    </a:solidFill>
                  </a:tcPr>
                </a:tc>
              </a:tr>
              <a:tr h="530352">
                <a:tc>
                  <a:txBody>
                    <a:bodyPr wrap="square"/>
                    <a:lstStyle/>
                    <a:p>
                      <a:pPr algn="l"/>
                      <a:r>
                        <a:rPr sz="1700" b="0" i="0">
                          <a:solidFill>
                            <a:srgbClr val="1F1F1F"/>
                          </a:solidFill>
                          <a:latin typeface="Calibri"/>
                        </a:rPr>
                        <a:t>Forest or suburb</a:t>
                      </a:r>
                    </a:p>
                  </a:txBody>
                  <a:tcPr marL="73152" marR="73152" marT="27432" marB="27432" anchor="ctr">
                    <a:solidFill>
                      <a:srgbClr val="F7F7F5"/>
                    </a:solidFill>
                  </a:tcPr>
                </a:tc>
                <a:tc>
                  <a:txBody>
                    <a:bodyPr wrap="square"/>
                    <a:lstStyle/>
                    <a:p>
                      <a:pPr algn="l"/>
                      <a:r>
                        <a:rPr sz="1700" b="0" i="0">
                          <a:solidFill>
                            <a:srgbClr val="1F1F1F"/>
                          </a:solidFill>
                          <a:latin typeface="Calibri"/>
                        </a:rPr>
                        <a:t>1.0</a:t>
                      </a:r>
                    </a:p>
                  </a:txBody>
                  <a:tcPr marL="73152" marR="73152" marT="27432" marB="27432" anchor="ctr">
                    <a:solidFill>
                      <a:srgbClr val="F7F7F5"/>
                    </a:solidFill>
                  </a:tcPr>
                </a:tc>
                <a:tc>
                  <a:txBody>
                    <a:bodyPr wrap="square"/>
                    <a:lstStyle/>
                    <a:p>
                      <a:pPr algn="l"/>
                      <a:r>
                        <a:rPr sz="1700" b="0" i="0">
                          <a:solidFill>
                            <a:srgbClr val="1F1F1F"/>
                          </a:solidFill>
                          <a:latin typeface="Calibri"/>
                        </a:rPr>
                        <a:t>45°</a:t>
                      </a:r>
                    </a:p>
                  </a:txBody>
                  <a:tcPr marL="73152" marR="73152" marT="27432" marB="27432" anchor="ctr">
                    <a:solidFill>
                      <a:srgbClr val="F7F7F5"/>
                    </a:solidFill>
                  </a:tcPr>
                </a:tc>
                <a:tc>
                  <a:txBody>
                    <a:bodyPr wrap="square"/>
                    <a:lstStyle/>
                    <a:p>
                      <a:pPr algn="l"/>
                      <a:r>
                        <a:rPr sz="1700" b="0" i="0">
                          <a:solidFill>
                            <a:srgbClr val="1F1F1F"/>
                          </a:solidFill>
                          <a:latin typeface="Calibri"/>
                        </a:rPr>
                        <a:t>71 %</a:t>
                      </a:r>
                    </a:p>
                  </a:txBody>
                  <a:tcPr marL="73152" marR="73152" marT="27432" marB="27432" anchor="ctr">
                    <a:solidFill>
                      <a:srgbClr val="F7F7F5"/>
                    </a:solidFill>
                  </a:tcPr>
                </a:tc>
              </a:tr>
              <a:tr h="530352">
                <a:tc>
                  <a:txBody>
                    <a:bodyPr wrap="square"/>
                    <a:lstStyle/>
                    <a:p>
                      <a:pPr algn="l"/>
                      <a:r>
                        <a:rPr sz="1700" b="0" i="0">
                          <a:solidFill>
                            <a:srgbClr val="1F1F1F"/>
                          </a:solidFill>
                          <a:latin typeface="Calibri"/>
                        </a:rPr>
                        <a:t>Tall city</a:t>
                      </a:r>
                    </a:p>
                  </a:txBody>
                  <a:tcPr marL="73152" marR="73152" marT="27432" marB="27432" anchor="ctr">
                    <a:solidFill>
                      <a:srgbClr val="FFFFFF"/>
                    </a:solidFill>
                  </a:tcPr>
                </a:tc>
                <a:tc>
                  <a:txBody>
                    <a:bodyPr wrap="square"/>
                    <a:lstStyle/>
                    <a:p>
                      <a:pPr algn="l"/>
                      <a:r>
                        <a:rPr sz="1700" b="0" i="0">
                          <a:solidFill>
                            <a:srgbClr val="1F1F1F"/>
                          </a:solidFill>
                          <a:latin typeface="Calibri"/>
                        </a:rPr>
                        <a:t>1.5</a:t>
                      </a:r>
                    </a:p>
                  </a:txBody>
                  <a:tcPr marL="73152" marR="73152" marT="27432" marB="27432" anchor="ctr">
                    <a:solidFill>
                      <a:srgbClr val="FFFFFF"/>
                    </a:solidFill>
                  </a:tcPr>
                </a:tc>
                <a:tc>
                  <a:txBody>
                    <a:bodyPr wrap="square"/>
                    <a:lstStyle/>
                    <a:p>
                      <a:pPr algn="l"/>
                      <a:r>
                        <a:rPr sz="1700" b="0" i="0">
                          <a:solidFill>
                            <a:srgbClr val="1F1F1F"/>
                          </a:solidFill>
                          <a:latin typeface="Calibri"/>
                        </a:rPr>
                        <a:t>56°</a:t>
                      </a:r>
                    </a:p>
                  </a:txBody>
                  <a:tcPr marL="73152" marR="73152" marT="27432" marB="27432" anchor="ctr">
                    <a:solidFill>
                      <a:srgbClr val="FFFFFF"/>
                    </a:solidFill>
                  </a:tcPr>
                </a:tc>
                <a:tc>
                  <a:txBody>
                    <a:bodyPr wrap="square"/>
                    <a:lstStyle/>
                    <a:p>
                      <a:pPr algn="l"/>
                      <a:r>
                        <a:rPr sz="1700" b="0" i="0">
                          <a:solidFill>
                            <a:srgbClr val="1F1F1F"/>
                          </a:solidFill>
                          <a:latin typeface="Calibri"/>
                        </a:rPr>
                        <a:t>55 %</a:t>
                      </a:r>
                    </a:p>
                  </a:txBody>
                  <a:tcPr marL="73152" marR="73152" marT="27432" marB="27432" anchor="ctr">
                    <a:solidFill>
                      <a:srgbClr val="FFFFFF"/>
                    </a:solidFill>
                  </a:tcPr>
                </a:tc>
              </a:tr>
            </a:tbl>
          </a:graphicData>
        </a:graphic>
      </p:graphicFrame>
      <p:sp>
        <p:nvSpPr>
          <p:cNvPr id="7" name="Rounded Rectangle 6"/>
          <p:cNvSpPr/>
          <p:nvPr/>
        </p:nvSpPr>
        <p:spPr>
          <a:xfrm>
            <a:off x="457200" y="4572000"/>
            <a:ext cx="5212080" cy="137160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700" b="1" i="0">
                <a:solidFill>
                  <a:srgbClr val="0072B2"/>
                </a:solidFill>
                <a:latin typeface="Calibri"/>
              </a:rPr>
              <a:t>Simple drag model</a:t>
            </a:r>
          </a:p>
          <a:p>
            <a:pPr algn="l">
              <a:spcAft>
                <a:spcPts val="300"/>
              </a:spcAft>
            </a:pPr>
            <a:r>
              <a:rPr sz="1700" b="0" i="0">
                <a:solidFill>
                  <a:srgbClr val="1F1F1F"/>
                </a:solidFill>
                <a:latin typeface="Calibri"/>
              </a:rPr>
              <a:t>angle α = arctan(k/f)</a:t>
            </a:r>
          </a:p>
          <a:p>
            <a:pPr algn="l">
              <a:spcAft>
                <a:spcPts val="300"/>
              </a:spcAft>
            </a:pPr>
            <a:r>
              <a:rPr sz="1700" b="0" i="0">
                <a:solidFill>
                  <a:srgbClr val="1F1F1F"/>
                </a:solidFill>
                <a:latin typeface="Calibri"/>
              </a:rPr>
              <a:t>speed V = V</a:t>
            </a:r>
            <a:r>
              <a:rPr sz="1700" b="0" i="0" baseline="-25000">
                <a:solidFill>
                  <a:srgbClr val="1F1F1F"/>
                </a:solidFill>
                <a:latin typeface="Calibri"/>
              </a:rPr>
              <a:t>g</a:t>
            </a:r>
            <a:r>
              <a:rPr sz="1700" b="0" i="0">
                <a:solidFill>
                  <a:srgbClr val="1F1F1F"/>
                </a:solidFill>
                <a:latin typeface="Calibri"/>
              </a:rPr>
              <a:t> cos α</a:t>
            </a:r>
          </a:p>
        </p:txBody>
      </p:sp>
      <p:pic>
        <p:nvPicPr>
          <p:cNvPr id="8" name="Picture 7" descr="ch07_02.png"/>
          <p:cNvPicPr>
            <a:picLocks noChangeAspect="1"/>
          </p:cNvPicPr>
          <p:nvPr/>
        </p:nvPicPr>
        <p:blipFill>
          <a:blip r:embed="rId3"/>
          <a:stretch>
            <a:fillRect/>
          </a:stretch>
        </p:blipFill>
        <p:spPr>
          <a:xfrm>
            <a:off x="5943600" y="2282459"/>
            <a:ext cx="5852160" cy="2750280"/>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Q10: which system is which?</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102</a:t>
            </a:r>
          </a:p>
        </p:txBody>
      </p:sp>
      <p:sp>
        <p:nvSpPr>
          <p:cNvPr id="6" name="Rounded Rectangle 5"/>
          <p:cNvSpPr/>
          <p:nvPr/>
        </p:nvSpPr>
        <p:spPr>
          <a:xfrm>
            <a:off x="411480" y="1097280"/>
            <a:ext cx="11338560" cy="219456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200" b="1" i="0">
                <a:solidFill>
                  <a:srgbClr val="0072B2"/>
                </a:solidFill>
                <a:latin typeface="Calibri"/>
              </a:rPr>
              <a:t>The question</a:t>
            </a:r>
          </a:p>
          <a:p>
            <a:pPr algn="l">
              <a:spcAft>
                <a:spcPts val="300"/>
              </a:spcAft>
            </a:pPr>
            <a:r>
              <a:rPr sz="2200" b="0" i="0">
                <a:solidFill>
                  <a:srgbClr val="1F1F1F"/>
                </a:solidFill>
                <a:latin typeface="Calibri"/>
              </a:rPr>
              <a:t>Figure 6 shows winds circulating around surface high and low pressure centres in both the Northern and Southern Hemispheres. Label the correct hemispheres (Northern or Southern) and pressure system (high or low) for each of the four examples.</a:t>
            </a:r>
          </a:p>
        </p:txBody>
      </p:sp>
      <p:sp>
        <p:nvSpPr>
          <p:cNvPr id="7" name="TextBox 6"/>
          <p:cNvSpPr txBox="1"/>
          <p:nvPr/>
        </p:nvSpPr>
        <p:spPr>
          <a:xfrm>
            <a:off x="457200" y="3566159"/>
            <a:ext cx="11247120" cy="2834640"/>
          </a:xfrm>
          <a:prstGeom prst="rect">
            <a:avLst/>
          </a:prstGeom>
          <a:noFill/>
        </p:spPr>
        <p:txBody>
          <a:bodyPr wrap="square" anchor="t" lIns="45720" rIns="45720">
            <a:spAutoFit/>
          </a:bodyPr>
          <a:lstStyle/>
          <a:p>
            <a:pPr algn="l">
              <a:spcAft>
                <a:spcPts val="600"/>
              </a:spcAft>
            </a:pPr>
            <a:r>
              <a:rPr sz="2100" b="0" i="0">
                <a:solidFill>
                  <a:srgbClr val="1F1F1F"/>
                </a:solidFill>
                <a:latin typeface="Calibri"/>
              </a:rPr>
              <a:t>Two questions identify each system: does the air spiral </a:t>
            </a:r>
            <a:r>
              <a:rPr sz="2100" b="1" i="0">
                <a:solidFill>
                  <a:srgbClr val="1F1F1F"/>
                </a:solidFill>
                <a:latin typeface="Calibri"/>
              </a:rPr>
              <a:t>in or out</a:t>
            </a:r>
            <a:r>
              <a:rPr sz="2100" b="0" i="0">
                <a:solidFill>
                  <a:srgbClr val="1F1F1F"/>
                </a:solidFill>
                <a:latin typeface="Calibri"/>
              </a:rPr>
              <a:t>? Which way does it </a:t>
            </a:r>
            <a:r>
              <a:rPr sz="2100" b="1" i="0">
                <a:solidFill>
                  <a:srgbClr val="1F1F1F"/>
                </a:solidFill>
                <a:latin typeface="Calibri"/>
              </a:rPr>
              <a:t>turn</a:t>
            </a:r>
            <a:r>
              <a:rPr sz="2100" b="0" i="0">
                <a:solidFill>
                  <a:srgbClr val="1F1F1F"/>
                </a:solidFill>
                <a:latin typeface="Calibri"/>
              </a:rPr>
              <a: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Q10: a two-question key</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103</a:t>
            </a:r>
          </a:p>
        </p:txBody>
      </p:sp>
      <p:pic>
        <p:nvPicPr>
          <p:cNvPr id="6" name="Picture 5" descr="ch07_04.png"/>
          <p:cNvPicPr>
            <a:picLocks noChangeAspect="1"/>
          </p:cNvPicPr>
          <p:nvPr/>
        </p:nvPicPr>
        <p:blipFill>
          <a:blip r:embed="rId2"/>
          <a:stretch>
            <a:fillRect/>
          </a:stretch>
        </p:blipFill>
        <p:spPr>
          <a:xfrm>
            <a:off x="365760" y="1406924"/>
            <a:ext cx="6400800" cy="3129750"/>
          </a:xfrm>
          <a:prstGeom prst="rect">
            <a:avLst/>
          </a:prstGeom>
        </p:spPr>
      </p:pic>
      <p:graphicFrame>
        <p:nvGraphicFramePr>
          <p:cNvPr id="7" name="Table 6"/>
          <p:cNvGraphicFramePr>
            <a:graphicFrameLocks noGrp="1"/>
          </p:cNvGraphicFramePr>
          <p:nvPr/>
        </p:nvGraphicFramePr>
        <p:xfrm>
          <a:off x="6949440" y="1188720"/>
          <a:ext cx="4846318" cy="2743200"/>
        </p:xfrm>
        <a:graphic>
          <a:graphicData uri="http://schemas.openxmlformats.org/drawingml/2006/table">
            <a:tbl>
              <a:tblPr firstRow="0" bandRow="0">
                <a:tableStyleId>{5940675A-B579-460E-94D1-54222C63F5DA}</a:tableStyleId>
              </a:tblPr>
              <a:tblGrid>
                <a:gridCol w="1872441"/>
                <a:gridCol w="1872441"/>
                <a:gridCol w="1101436"/>
              </a:tblGrid>
              <a:tr h="548640">
                <a:tc>
                  <a:txBody>
                    <a:bodyPr wrap="square"/>
                    <a:lstStyle/>
                    <a:p>
                      <a:pPr algn="l"/>
                      <a:r>
                        <a:rPr sz="1800" b="1" i="0">
                          <a:solidFill>
                            <a:srgbClr val="FFFFFF"/>
                          </a:solidFill>
                          <a:latin typeface="Calibri"/>
                        </a:rPr>
                        <a:t>System</a:t>
                      </a:r>
                    </a:p>
                  </a:txBody>
                  <a:tcPr marL="73152" marR="73152" marT="27432" marB="27432" anchor="ctr">
                    <a:solidFill>
                      <a:srgbClr val="1B3A6B"/>
                    </a:solidFill>
                  </a:tcPr>
                </a:tc>
                <a:tc>
                  <a:txBody>
                    <a:bodyPr wrap="square"/>
                    <a:lstStyle/>
                    <a:p>
                      <a:pPr algn="l"/>
                      <a:r>
                        <a:rPr sz="1800" b="1" i="0">
                          <a:solidFill>
                            <a:srgbClr val="FFFFFF"/>
                          </a:solidFill>
                          <a:latin typeface="Calibri"/>
                        </a:rPr>
                        <a:t>Rotation</a:t>
                      </a:r>
                    </a:p>
                  </a:txBody>
                  <a:tcPr marL="73152" marR="73152" marT="27432" marB="27432" anchor="ctr">
                    <a:solidFill>
                      <a:srgbClr val="1B3A6B"/>
                    </a:solidFill>
                  </a:tcPr>
                </a:tc>
                <a:tc>
                  <a:txBody>
                    <a:bodyPr wrap="square"/>
                    <a:lstStyle/>
                    <a:p>
                      <a:pPr algn="l"/>
                      <a:r>
                        <a:rPr sz="1800" b="1" i="0">
                          <a:solidFill>
                            <a:srgbClr val="FFFFFF"/>
                          </a:solidFill>
                          <a:latin typeface="Calibri"/>
                        </a:rPr>
                        <a:t>Spirals</a:t>
                      </a:r>
                    </a:p>
                  </a:txBody>
                  <a:tcPr marL="73152" marR="73152" marT="27432" marB="27432" anchor="ctr">
                    <a:solidFill>
                      <a:srgbClr val="1B3A6B"/>
                    </a:solidFill>
                  </a:tcPr>
                </a:tc>
              </a:tr>
              <a:tr h="548640">
                <a:tc>
                  <a:txBody>
                    <a:bodyPr wrap="square"/>
                    <a:lstStyle/>
                    <a:p>
                      <a:pPr algn="l"/>
                      <a:r>
                        <a:rPr sz="1800" b="0" i="0">
                          <a:solidFill>
                            <a:srgbClr val="1F1F1F"/>
                          </a:solidFill>
                          <a:latin typeface="Calibri"/>
                        </a:rPr>
                        <a:t>Northern low</a:t>
                      </a:r>
                    </a:p>
                  </a:txBody>
                  <a:tcPr marL="73152" marR="73152" marT="27432" marB="27432" anchor="ctr">
                    <a:solidFill>
                      <a:srgbClr val="FFFFFF"/>
                    </a:solidFill>
                  </a:tcPr>
                </a:tc>
                <a:tc>
                  <a:txBody>
                    <a:bodyPr wrap="square"/>
                    <a:lstStyle/>
                    <a:p>
                      <a:pPr algn="l"/>
                      <a:r>
                        <a:rPr sz="1800" b="0" i="0">
                          <a:solidFill>
                            <a:srgbClr val="1F1F1F"/>
                          </a:solidFill>
                          <a:latin typeface="Calibri"/>
                        </a:rPr>
                        <a:t>anticlockwise</a:t>
                      </a:r>
                    </a:p>
                  </a:txBody>
                  <a:tcPr marL="73152" marR="73152" marT="27432" marB="27432" anchor="ctr">
                    <a:solidFill>
                      <a:srgbClr val="FFFFFF"/>
                    </a:solidFill>
                  </a:tcPr>
                </a:tc>
                <a:tc>
                  <a:txBody>
                    <a:bodyPr wrap="square"/>
                    <a:lstStyle/>
                    <a:p>
                      <a:pPr algn="l"/>
                      <a:r>
                        <a:rPr sz="1800" b="0" i="0">
                          <a:solidFill>
                            <a:srgbClr val="1F1F1F"/>
                          </a:solidFill>
                          <a:latin typeface="Calibri"/>
                        </a:rPr>
                        <a:t>in</a:t>
                      </a:r>
                    </a:p>
                  </a:txBody>
                  <a:tcPr marL="73152" marR="73152" marT="27432" marB="27432" anchor="ctr">
                    <a:solidFill>
                      <a:srgbClr val="FFFFFF"/>
                    </a:solidFill>
                  </a:tcPr>
                </a:tc>
              </a:tr>
              <a:tr h="548640">
                <a:tc>
                  <a:txBody>
                    <a:bodyPr wrap="square"/>
                    <a:lstStyle/>
                    <a:p>
                      <a:pPr algn="l"/>
                      <a:r>
                        <a:rPr sz="1800" b="0" i="0">
                          <a:solidFill>
                            <a:srgbClr val="1F1F1F"/>
                          </a:solidFill>
                          <a:latin typeface="Calibri"/>
                        </a:rPr>
                        <a:t>Northern high</a:t>
                      </a:r>
                    </a:p>
                  </a:txBody>
                  <a:tcPr marL="73152" marR="73152" marT="27432" marB="27432" anchor="ctr">
                    <a:solidFill>
                      <a:srgbClr val="F7F7F5"/>
                    </a:solidFill>
                  </a:tcPr>
                </a:tc>
                <a:tc>
                  <a:txBody>
                    <a:bodyPr wrap="square"/>
                    <a:lstStyle/>
                    <a:p>
                      <a:pPr algn="l"/>
                      <a:r>
                        <a:rPr sz="1800" b="0" i="0">
                          <a:solidFill>
                            <a:srgbClr val="1F1F1F"/>
                          </a:solidFill>
                          <a:latin typeface="Calibri"/>
                        </a:rPr>
                        <a:t>clockwise</a:t>
                      </a:r>
                    </a:p>
                  </a:txBody>
                  <a:tcPr marL="73152" marR="73152" marT="27432" marB="27432" anchor="ctr">
                    <a:solidFill>
                      <a:srgbClr val="F7F7F5"/>
                    </a:solidFill>
                  </a:tcPr>
                </a:tc>
                <a:tc>
                  <a:txBody>
                    <a:bodyPr wrap="square"/>
                    <a:lstStyle/>
                    <a:p>
                      <a:pPr algn="l"/>
                      <a:r>
                        <a:rPr sz="1800" b="0" i="0">
                          <a:solidFill>
                            <a:srgbClr val="1F1F1F"/>
                          </a:solidFill>
                          <a:latin typeface="Calibri"/>
                        </a:rPr>
                        <a:t>out</a:t>
                      </a:r>
                    </a:p>
                  </a:txBody>
                  <a:tcPr marL="73152" marR="73152" marT="27432" marB="27432" anchor="ctr">
                    <a:solidFill>
                      <a:srgbClr val="F7F7F5"/>
                    </a:solidFill>
                  </a:tcPr>
                </a:tc>
              </a:tr>
              <a:tr h="548640">
                <a:tc>
                  <a:txBody>
                    <a:bodyPr wrap="square"/>
                    <a:lstStyle/>
                    <a:p>
                      <a:pPr algn="l"/>
                      <a:r>
                        <a:rPr sz="1800" b="0" i="0">
                          <a:solidFill>
                            <a:srgbClr val="1F1F1F"/>
                          </a:solidFill>
                          <a:latin typeface="Calibri"/>
                        </a:rPr>
                        <a:t>Southern low</a:t>
                      </a:r>
                    </a:p>
                  </a:txBody>
                  <a:tcPr marL="73152" marR="73152" marT="27432" marB="27432" anchor="ctr">
                    <a:solidFill>
                      <a:srgbClr val="FFFFFF"/>
                    </a:solidFill>
                  </a:tcPr>
                </a:tc>
                <a:tc>
                  <a:txBody>
                    <a:bodyPr wrap="square"/>
                    <a:lstStyle/>
                    <a:p>
                      <a:pPr algn="l"/>
                      <a:r>
                        <a:rPr sz="1800" b="0" i="0">
                          <a:solidFill>
                            <a:srgbClr val="1F1F1F"/>
                          </a:solidFill>
                          <a:latin typeface="Calibri"/>
                        </a:rPr>
                        <a:t>clockwise</a:t>
                      </a:r>
                    </a:p>
                  </a:txBody>
                  <a:tcPr marL="73152" marR="73152" marT="27432" marB="27432" anchor="ctr">
                    <a:solidFill>
                      <a:srgbClr val="FFFFFF"/>
                    </a:solidFill>
                  </a:tcPr>
                </a:tc>
                <a:tc>
                  <a:txBody>
                    <a:bodyPr wrap="square"/>
                    <a:lstStyle/>
                    <a:p>
                      <a:pPr algn="l"/>
                      <a:r>
                        <a:rPr sz="1800" b="0" i="0">
                          <a:solidFill>
                            <a:srgbClr val="1F1F1F"/>
                          </a:solidFill>
                          <a:latin typeface="Calibri"/>
                        </a:rPr>
                        <a:t>in</a:t>
                      </a:r>
                    </a:p>
                  </a:txBody>
                  <a:tcPr marL="73152" marR="73152" marT="27432" marB="27432" anchor="ctr">
                    <a:solidFill>
                      <a:srgbClr val="FFFFFF"/>
                    </a:solidFill>
                  </a:tcPr>
                </a:tc>
              </a:tr>
              <a:tr h="548640">
                <a:tc>
                  <a:txBody>
                    <a:bodyPr wrap="square"/>
                    <a:lstStyle/>
                    <a:p>
                      <a:pPr algn="l"/>
                      <a:r>
                        <a:rPr sz="1800" b="0" i="0">
                          <a:solidFill>
                            <a:srgbClr val="1F1F1F"/>
                          </a:solidFill>
                          <a:latin typeface="Calibri"/>
                        </a:rPr>
                        <a:t>Southern high</a:t>
                      </a:r>
                    </a:p>
                  </a:txBody>
                  <a:tcPr marL="73152" marR="73152" marT="27432" marB="27432" anchor="ctr">
                    <a:solidFill>
                      <a:srgbClr val="F7F7F5"/>
                    </a:solidFill>
                  </a:tcPr>
                </a:tc>
                <a:tc>
                  <a:txBody>
                    <a:bodyPr wrap="square"/>
                    <a:lstStyle/>
                    <a:p>
                      <a:pPr algn="l"/>
                      <a:r>
                        <a:rPr sz="1800" b="0" i="0">
                          <a:solidFill>
                            <a:srgbClr val="1F1F1F"/>
                          </a:solidFill>
                          <a:latin typeface="Calibri"/>
                        </a:rPr>
                        <a:t>anticlockwise</a:t>
                      </a:r>
                    </a:p>
                  </a:txBody>
                  <a:tcPr marL="73152" marR="73152" marT="27432" marB="27432" anchor="ctr">
                    <a:solidFill>
                      <a:srgbClr val="F7F7F5"/>
                    </a:solidFill>
                  </a:tcPr>
                </a:tc>
                <a:tc>
                  <a:txBody>
                    <a:bodyPr wrap="square"/>
                    <a:lstStyle/>
                    <a:p>
                      <a:pPr algn="l"/>
                      <a:r>
                        <a:rPr sz="1800" b="0" i="0">
                          <a:solidFill>
                            <a:srgbClr val="1F1F1F"/>
                          </a:solidFill>
                          <a:latin typeface="Calibri"/>
                        </a:rPr>
                        <a:t>out</a:t>
                      </a:r>
                    </a:p>
                  </a:txBody>
                  <a:tcPr marL="73152" marR="73152" marT="27432" marB="27432" anchor="ctr">
                    <a:solidFill>
                      <a:srgbClr val="F7F7F5"/>
                    </a:solidFill>
                  </a:tcPr>
                </a:tc>
              </a:tr>
            </a:tbl>
          </a:graphicData>
        </a:graphic>
      </p:graphicFrame>
      <p:sp>
        <p:nvSpPr>
          <p:cNvPr id="8" name="TextBox 7"/>
          <p:cNvSpPr txBox="1"/>
          <p:nvPr/>
        </p:nvSpPr>
        <p:spPr>
          <a:xfrm>
            <a:off x="457200" y="5029200"/>
            <a:ext cx="11247120" cy="118872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Friction makes the air cross the isobars towards low pressure: </a:t>
            </a:r>
            <a:r>
              <a:rPr sz="1800" b="1" i="0">
                <a:solidFill>
                  <a:srgbClr val="1F1F1F"/>
                </a:solidFill>
                <a:latin typeface="Calibri"/>
              </a:rPr>
              <a:t>in</a:t>
            </a:r>
            <a:r>
              <a:rPr sz="1800" b="0" i="0">
                <a:solidFill>
                  <a:srgbClr val="1F1F1F"/>
                </a:solidFill>
                <a:latin typeface="Calibri"/>
              </a:rPr>
              <a:t> for a low, </a:t>
            </a:r>
            <a:r>
              <a:rPr sz="1800" b="1" i="0">
                <a:solidFill>
                  <a:srgbClr val="1F1F1F"/>
                </a:solidFill>
                <a:latin typeface="Calibri"/>
              </a:rPr>
              <a:t>out</a:t>
            </a:r>
            <a:r>
              <a:rPr sz="1800" b="0" i="0">
                <a:solidFill>
                  <a:srgbClr val="1F1F1F"/>
                </a:solidFill>
                <a:latin typeface="Calibri"/>
              </a:rPr>
              <a:t> for a high. The Coriolis force turns it right (north) or left (south).</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Q10 and Q11: Figure 6 completed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104</a:t>
            </a:r>
          </a:p>
        </p:txBody>
      </p:sp>
      <p:pic>
        <p:nvPicPr>
          <p:cNvPr id="6" name="Picture 5" descr="ch07_05.png"/>
          <p:cNvPicPr>
            <a:picLocks noChangeAspect="1"/>
          </p:cNvPicPr>
          <p:nvPr/>
        </p:nvPicPr>
        <p:blipFill>
          <a:blip r:embed="rId3"/>
          <a:stretch>
            <a:fillRect/>
          </a:stretch>
        </p:blipFill>
        <p:spPr>
          <a:xfrm>
            <a:off x="1999045" y="1005840"/>
            <a:ext cx="2311269" cy="2606040"/>
          </a:xfrm>
          <a:prstGeom prst="rect">
            <a:avLst/>
          </a:prstGeom>
        </p:spPr>
      </p:pic>
      <p:pic>
        <p:nvPicPr>
          <p:cNvPr id="7" name="Picture 6" descr="ch07_06.png"/>
          <p:cNvPicPr>
            <a:picLocks noChangeAspect="1"/>
          </p:cNvPicPr>
          <p:nvPr/>
        </p:nvPicPr>
        <p:blipFill>
          <a:blip r:embed="rId4"/>
          <a:stretch>
            <a:fillRect/>
          </a:stretch>
        </p:blipFill>
        <p:spPr>
          <a:xfrm>
            <a:off x="7814358" y="1005840"/>
            <a:ext cx="2384962" cy="2606040"/>
          </a:xfrm>
          <a:prstGeom prst="rect">
            <a:avLst/>
          </a:prstGeom>
        </p:spPr>
      </p:pic>
      <p:pic>
        <p:nvPicPr>
          <p:cNvPr id="8" name="Picture 7" descr="ch07_07.png"/>
          <p:cNvPicPr>
            <a:picLocks noChangeAspect="1"/>
          </p:cNvPicPr>
          <p:nvPr/>
        </p:nvPicPr>
        <p:blipFill>
          <a:blip r:embed="rId5"/>
          <a:stretch>
            <a:fillRect/>
          </a:stretch>
        </p:blipFill>
        <p:spPr>
          <a:xfrm>
            <a:off x="2009094" y="3657600"/>
            <a:ext cx="2291171" cy="2606040"/>
          </a:xfrm>
          <a:prstGeom prst="rect">
            <a:avLst/>
          </a:prstGeom>
        </p:spPr>
      </p:pic>
      <p:pic>
        <p:nvPicPr>
          <p:cNvPr id="9" name="Picture 8" descr="ch07_08.png"/>
          <p:cNvPicPr>
            <a:picLocks noChangeAspect="1"/>
          </p:cNvPicPr>
          <p:nvPr/>
        </p:nvPicPr>
        <p:blipFill>
          <a:blip r:embed="rId6"/>
          <a:stretch>
            <a:fillRect/>
          </a:stretch>
        </p:blipFill>
        <p:spPr>
          <a:xfrm>
            <a:off x="7821058" y="3657600"/>
            <a:ext cx="2371563" cy="2606040"/>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Motion Q10 and Q11: the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105</a:t>
            </a:r>
          </a:p>
        </p:txBody>
      </p:sp>
      <p:sp>
        <p:nvSpPr>
          <p:cNvPr id="6" name="Rounded Rectangle 5"/>
          <p:cNvSpPr/>
          <p:nvPr/>
        </p:nvSpPr>
        <p:spPr>
          <a:xfrm>
            <a:off x="411480" y="1097280"/>
            <a:ext cx="5486400" cy="21945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700" b="1" i="0">
                <a:solidFill>
                  <a:srgbClr val="007F5F"/>
                </a:solidFill>
                <a:latin typeface="Calibri"/>
              </a:rPr>
              <a:t>Q10: labels (in the order of Figure 6)</a:t>
            </a:r>
          </a:p>
          <a:p>
            <a:pPr algn="l">
              <a:spcAft>
                <a:spcPts val="300"/>
              </a:spcAft>
            </a:pPr>
            <a:r>
              <a:rPr sz="1700" b="0" i="0">
                <a:solidFill>
                  <a:srgbClr val="1F1F1F"/>
                </a:solidFill>
                <a:latin typeface="Calibri"/>
              </a:rPr>
              <a:t>Top left: </a:t>
            </a:r>
            <a:r>
              <a:rPr sz="1700" b="1" i="0">
                <a:solidFill>
                  <a:srgbClr val="1F1F1F"/>
                </a:solidFill>
                <a:latin typeface="Calibri"/>
              </a:rPr>
              <a:t>Northern Hemisphere low</a:t>
            </a:r>
          </a:p>
          <a:p>
            <a:pPr algn="l">
              <a:spcAft>
                <a:spcPts val="300"/>
              </a:spcAft>
            </a:pPr>
            <a:r>
              <a:rPr sz="1700" b="0" i="0">
                <a:solidFill>
                  <a:srgbClr val="1F1F1F"/>
                </a:solidFill>
                <a:latin typeface="Calibri"/>
              </a:rPr>
              <a:t>Top right: </a:t>
            </a:r>
            <a:r>
              <a:rPr sz="1700" b="1" i="0">
                <a:solidFill>
                  <a:srgbClr val="1F1F1F"/>
                </a:solidFill>
                <a:latin typeface="Calibri"/>
              </a:rPr>
              <a:t>Northern Hemisphere high</a:t>
            </a:r>
          </a:p>
          <a:p>
            <a:pPr algn="l">
              <a:spcAft>
                <a:spcPts val="300"/>
              </a:spcAft>
            </a:pPr>
            <a:r>
              <a:rPr sz="1700" b="0" i="0">
                <a:solidFill>
                  <a:srgbClr val="1F1F1F"/>
                </a:solidFill>
                <a:latin typeface="Calibri"/>
              </a:rPr>
              <a:t>Bottom left: </a:t>
            </a:r>
            <a:r>
              <a:rPr sz="1700" b="1" i="0">
                <a:solidFill>
                  <a:srgbClr val="1F1F1F"/>
                </a:solidFill>
                <a:latin typeface="Calibri"/>
              </a:rPr>
              <a:t>Southern Hemisphere low</a:t>
            </a:r>
          </a:p>
          <a:p>
            <a:pPr algn="l">
              <a:spcAft>
                <a:spcPts val="300"/>
              </a:spcAft>
            </a:pPr>
            <a:r>
              <a:rPr sz="1700" b="0" i="0">
                <a:solidFill>
                  <a:srgbClr val="1F1F1F"/>
                </a:solidFill>
                <a:latin typeface="Calibri"/>
              </a:rPr>
              <a:t>Bottom right: </a:t>
            </a:r>
            <a:r>
              <a:rPr sz="1700" b="1" i="0">
                <a:solidFill>
                  <a:srgbClr val="1F1F1F"/>
                </a:solidFill>
                <a:latin typeface="Calibri"/>
              </a:rPr>
              <a:t>Southern Hemisphere high</a:t>
            </a:r>
          </a:p>
        </p:txBody>
      </p:sp>
      <p:sp>
        <p:nvSpPr>
          <p:cNvPr id="7" name="Rounded Rectangle 6"/>
          <p:cNvSpPr/>
          <p:nvPr/>
        </p:nvSpPr>
        <p:spPr>
          <a:xfrm>
            <a:off x="411480" y="3474720"/>
            <a:ext cx="5486400" cy="274320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500" b="1" i="0">
                <a:solidFill>
                  <a:srgbClr val="007F5F"/>
                </a:solidFill>
                <a:latin typeface="Calibri"/>
              </a:rPr>
              <a:t>Q11: forces on one box in each system</a:t>
            </a:r>
          </a:p>
          <a:p>
            <a:pPr algn="l">
              <a:spcAft>
                <a:spcPts val="300"/>
              </a:spcAft>
            </a:pPr>
            <a:r>
              <a:rPr sz="1500" b="1" i="0">
                <a:solidFill>
                  <a:srgbClr val="D55E00"/>
                </a:solidFill>
                <a:latin typeface="Calibri"/>
              </a:rPr>
              <a:t>Red</a:t>
            </a:r>
            <a:r>
              <a:rPr sz="1500" b="0" i="0">
                <a:solidFill>
                  <a:srgbClr val="1F1F1F"/>
                </a:solidFill>
                <a:latin typeface="Calibri"/>
              </a:rPr>
              <a:t> along the line to (low) or from (high) the centre</a:t>
            </a:r>
          </a:p>
          <a:p>
            <a:pPr algn="l">
              <a:spcAft>
                <a:spcPts val="300"/>
              </a:spcAft>
            </a:pPr>
            <a:r>
              <a:rPr sz="1500" b="1" i="0">
                <a:solidFill>
                  <a:srgbClr val="0072B2"/>
                </a:solidFill>
                <a:latin typeface="Calibri"/>
              </a:rPr>
              <a:t>Blue</a:t>
            </a:r>
            <a:r>
              <a:rPr sz="1500" b="0" i="0">
                <a:solidFill>
                  <a:srgbClr val="1F1F1F"/>
                </a:solidFill>
                <a:latin typeface="Calibri"/>
              </a:rPr>
              <a:t> at right angles to the wind: right in the north, left in the south</a:t>
            </a:r>
          </a:p>
          <a:p>
            <a:pPr algn="l">
              <a:spcAft>
                <a:spcPts val="300"/>
              </a:spcAft>
            </a:pPr>
            <a:r>
              <a:rPr sz="1500" b="1" i="0">
                <a:solidFill>
                  <a:srgbClr val="007F5F"/>
                </a:solidFill>
                <a:latin typeface="Calibri"/>
              </a:rPr>
              <a:t>Green</a:t>
            </a:r>
            <a:r>
              <a:rPr sz="1500" b="0" i="0">
                <a:solidFill>
                  <a:srgbClr val="1F1F1F"/>
                </a:solidFill>
                <a:latin typeface="Calibri"/>
              </a:rPr>
              <a:t> opposite to the wind</a:t>
            </a:r>
          </a:p>
          <a:p>
            <a:pPr algn="l">
              <a:spcAft>
                <a:spcPts val="300"/>
              </a:spcAft>
            </a:pPr>
            <a:r>
              <a:rPr sz="1500" b="1" i="0">
                <a:solidFill>
                  <a:srgbClr val="1F1F1F"/>
                </a:solidFill>
                <a:latin typeface="Calibri"/>
              </a:rPr>
              <a:t>Black</a:t>
            </a:r>
            <a:r>
              <a:rPr sz="1500" b="0" i="0">
                <a:solidFill>
                  <a:srgbClr val="1F1F1F"/>
                </a:solidFill>
                <a:latin typeface="Calibri"/>
              </a:rPr>
              <a:t> wind: spirals in (low) / out (high)</a:t>
            </a:r>
          </a:p>
          <a:p>
            <a:pPr algn="l">
              <a:spcAft>
                <a:spcPts val="300"/>
              </a:spcAft>
            </a:pPr>
            <a:r>
              <a:rPr sz="1500" b="0" i="0">
                <a:solidFill>
                  <a:srgbClr val="1F1F1F"/>
                </a:solidFill>
                <a:latin typeface="Calibri"/>
              </a:rPr>
              <a:t>The pattern is the same at every position round the system</a:t>
            </a:r>
          </a:p>
        </p:txBody>
      </p:sp>
      <p:pic>
        <p:nvPicPr>
          <p:cNvPr id="8" name="Picture 7" descr="ch07_05.png"/>
          <p:cNvPicPr>
            <a:picLocks noChangeAspect="1"/>
          </p:cNvPicPr>
          <p:nvPr/>
        </p:nvPicPr>
        <p:blipFill>
          <a:blip r:embed="rId2"/>
          <a:stretch>
            <a:fillRect/>
          </a:stretch>
        </p:blipFill>
        <p:spPr>
          <a:xfrm>
            <a:off x="6494708" y="1051560"/>
            <a:ext cx="2189623" cy="2468880"/>
          </a:xfrm>
          <a:prstGeom prst="rect">
            <a:avLst/>
          </a:prstGeom>
        </p:spPr>
      </p:pic>
      <p:pic>
        <p:nvPicPr>
          <p:cNvPr id="9" name="Picture 8" descr="ch07_06.png"/>
          <p:cNvPicPr>
            <a:picLocks noChangeAspect="1"/>
          </p:cNvPicPr>
          <p:nvPr/>
        </p:nvPicPr>
        <p:blipFill>
          <a:blip r:embed="rId3"/>
          <a:stretch>
            <a:fillRect/>
          </a:stretch>
        </p:blipFill>
        <p:spPr>
          <a:xfrm>
            <a:off x="9294441" y="1051560"/>
            <a:ext cx="2259437" cy="2468880"/>
          </a:xfrm>
          <a:prstGeom prst="rect">
            <a:avLst/>
          </a:prstGeom>
        </p:spPr>
      </p:pic>
      <p:pic>
        <p:nvPicPr>
          <p:cNvPr id="10" name="Picture 9" descr="ch07_07.png"/>
          <p:cNvPicPr>
            <a:picLocks noChangeAspect="1"/>
          </p:cNvPicPr>
          <p:nvPr/>
        </p:nvPicPr>
        <p:blipFill>
          <a:blip r:embed="rId4"/>
          <a:stretch>
            <a:fillRect/>
          </a:stretch>
        </p:blipFill>
        <p:spPr>
          <a:xfrm>
            <a:off x="6504228" y="3657600"/>
            <a:ext cx="2170583" cy="2468880"/>
          </a:xfrm>
          <a:prstGeom prst="rect">
            <a:avLst/>
          </a:prstGeom>
        </p:spPr>
      </p:pic>
      <p:pic>
        <p:nvPicPr>
          <p:cNvPr id="11" name="Picture 10" descr="ch07_08.png"/>
          <p:cNvPicPr>
            <a:picLocks noChangeAspect="1"/>
          </p:cNvPicPr>
          <p:nvPr/>
        </p:nvPicPr>
        <p:blipFill>
          <a:blip r:embed="rId5"/>
          <a:stretch>
            <a:fillRect/>
          </a:stretch>
        </p:blipFill>
        <p:spPr>
          <a:xfrm>
            <a:off x="9300787" y="3657600"/>
            <a:ext cx="2246744" cy="2468880"/>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Why it matters for weather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106</a:t>
            </a:r>
          </a:p>
        </p:txBody>
      </p:sp>
      <p:sp>
        <p:nvSpPr>
          <p:cNvPr id="6" name="TextBox 5"/>
          <p:cNvSpPr txBox="1"/>
          <p:nvPr/>
        </p:nvSpPr>
        <p:spPr>
          <a:xfrm>
            <a:off x="411480" y="1097280"/>
            <a:ext cx="5120640" cy="5120640"/>
          </a:xfrm>
          <a:prstGeom prst="rect">
            <a:avLst/>
          </a:prstGeom>
          <a:noFill/>
        </p:spPr>
        <p:txBody>
          <a:bodyPr wrap="square" anchor="t" lIns="45720" rIns="45720">
            <a:spAutoFit/>
          </a:bodyPr>
          <a:lstStyle/>
          <a:p>
            <a:pPr algn="l">
              <a:spcAft>
                <a:spcPts val="600"/>
              </a:spcAft>
            </a:pPr>
            <a:r>
              <a:rPr sz="2000" b="0" i="0">
                <a:solidFill>
                  <a:srgbClr val="1F1F1F"/>
                </a:solidFill>
                <a:latin typeface="Calibri"/>
              </a:rPr>
              <a:t>Air spirals </a:t>
            </a:r>
            <a:r>
              <a:rPr sz="2000" b="1" i="0">
                <a:solidFill>
                  <a:srgbClr val="1F1F1F"/>
                </a:solidFill>
                <a:latin typeface="Calibri"/>
              </a:rPr>
              <a:t>in</a:t>
            </a:r>
            <a:r>
              <a:rPr sz="2000" b="0" i="0">
                <a:solidFill>
                  <a:srgbClr val="1F1F1F"/>
                </a:solidFill>
                <a:latin typeface="Calibri"/>
              </a:rPr>
              <a:t> towards a low: more flows in at the bottom than flows out sideways, so the surplus must </a:t>
            </a:r>
            <a:r>
              <a:rPr sz="2000" b="1" i="0">
                <a:solidFill>
                  <a:srgbClr val="1F1F1F"/>
                </a:solidFill>
                <a:latin typeface="Calibri"/>
              </a:rPr>
              <a:t>rise</a:t>
            </a:r>
            <a:r>
              <a:rPr sz="2000" b="0" i="0">
                <a:solidFill>
                  <a:srgbClr val="1F1F1F"/>
                </a:solidFill>
                <a:latin typeface="Calibri"/>
              </a:rPr>
              <a:t>: convergence, cloud and rain.</a:t>
            </a:r>
          </a:p>
          <a:p>
            <a:pPr algn="l">
              <a:spcAft>
                <a:spcPts val="600"/>
              </a:spcAft>
            </a:pPr>
            <a:r>
              <a:rPr sz="2000" b="0" i="0">
                <a:solidFill>
                  <a:srgbClr val="1F1F1F"/>
                </a:solidFill>
                <a:latin typeface="Calibri"/>
              </a:rPr>
              <a:t>Air spirals </a:t>
            </a:r>
            <a:r>
              <a:rPr sz="2000" b="1" i="0">
                <a:solidFill>
                  <a:srgbClr val="1F1F1F"/>
                </a:solidFill>
                <a:latin typeface="Calibri"/>
              </a:rPr>
              <a:t>out</a:t>
            </a:r>
            <a:r>
              <a:rPr sz="2000" b="0" i="0">
                <a:solidFill>
                  <a:srgbClr val="1F1F1F"/>
                </a:solidFill>
                <a:latin typeface="Calibri"/>
              </a:rPr>
              <a:t> from a high: air </a:t>
            </a:r>
            <a:r>
              <a:rPr sz="2000" b="1" i="0">
                <a:solidFill>
                  <a:srgbClr val="1F1F1F"/>
                </a:solidFill>
                <a:latin typeface="Calibri"/>
              </a:rPr>
              <a:t>sinks</a:t>
            </a:r>
            <a:r>
              <a:rPr sz="2000" b="0" i="0">
                <a:solidFill>
                  <a:srgbClr val="1F1F1F"/>
                </a:solidFill>
                <a:latin typeface="Calibri"/>
              </a:rPr>
              <a:t> from above to replace it, warming and drying: clear skies.</a:t>
            </a:r>
          </a:p>
          <a:p>
            <a:pPr algn="l">
              <a:spcAft>
                <a:spcPts val="600"/>
              </a:spcAft>
            </a:pPr>
            <a:r>
              <a:rPr sz="2000" b="0" i="0">
                <a:solidFill>
                  <a:srgbClr val="1F1F1F"/>
                </a:solidFill>
                <a:latin typeface="Calibri"/>
              </a:rPr>
              <a:t>That is why lows bring cloud and rain and highs bring settled weather: the link to the weather map in Part III.</a:t>
            </a:r>
          </a:p>
        </p:txBody>
      </p:sp>
      <p:pic>
        <p:nvPicPr>
          <p:cNvPr id="7" name="Picture 6" descr="ch07_09.png"/>
          <p:cNvPicPr>
            <a:picLocks noChangeAspect="1"/>
          </p:cNvPicPr>
          <p:nvPr/>
        </p:nvPicPr>
        <p:blipFill>
          <a:blip r:embed="rId2"/>
          <a:stretch>
            <a:fillRect/>
          </a:stretch>
        </p:blipFill>
        <p:spPr>
          <a:xfrm>
            <a:off x="5669280" y="2368372"/>
            <a:ext cx="6126480" cy="2212695"/>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F: try it yourself</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107</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6B6B6B"/>
                </a:solidFill>
                <a:latin typeface="Calibri"/>
              </a:rPr>
              <a:t>Practice Set F</a:t>
            </a:r>
          </a:p>
          <a:p>
            <a:pPr algn="l">
              <a:spcAft>
                <a:spcPts val="1200"/>
              </a:spcAft>
            </a:pPr>
            <a:r>
              <a:rPr sz="2400" b="1" i="0">
                <a:solidFill>
                  <a:srgbClr val="1F1F1F"/>
                </a:solidFill>
                <a:latin typeface="Calibri"/>
              </a:rPr>
              <a:t>F1.</a:t>
            </a:r>
            <a:r>
              <a:rPr sz="2400" b="0" i="0">
                <a:solidFill>
                  <a:srgbClr val="1F1F1F"/>
                </a:solidFill>
                <a:latin typeface="Calibri"/>
              </a:rPr>
              <a:t>  Over grassland (k/f = 0.6) the geostrophic wind is 15 m/s. Surface wind speed and angle to the isobars?</a:t>
            </a:r>
          </a:p>
          <a:p>
            <a:pPr algn="l">
              <a:spcAft>
                <a:spcPts val="1200"/>
              </a:spcAft>
            </a:pPr>
            <a:r>
              <a:rPr sz="2400" b="1" i="0">
                <a:solidFill>
                  <a:srgbClr val="1F1F1F"/>
                </a:solidFill>
                <a:latin typeface="Calibri"/>
              </a:rPr>
              <a:t>F2.</a:t>
            </a:r>
            <a:r>
              <a:rPr sz="2400" b="0" i="0">
                <a:solidFill>
                  <a:srgbClr val="1F1F1F"/>
                </a:solidFill>
                <a:latin typeface="Calibri"/>
              </a:rPr>
              <a:t>  In a Southern Hemisphere low, which way does the air circulate, and does it spiral in or out?</a:t>
            </a:r>
          </a:p>
          <a:p>
            <a:pPr algn="l">
              <a:spcAft>
                <a:spcPts val="1200"/>
              </a:spcAft>
            </a:pPr>
            <a:r>
              <a:rPr sz="2400" b="1" i="0">
                <a:solidFill>
                  <a:srgbClr val="1F1F1F"/>
                </a:solidFill>
                <a:latin typeface="Calibri"/>
              </a:rPr>
              <a:t>F3.</a:t>
            </a:r>
            <a:r>
              <a:rPr sz="2400" b="0" i="0">
                <a:solidFill>
                  <a:srgbClr val="1F1F1F"/>
                </a:solidFill>
                <a:latin typeface="Calibri"/>
              </a:rPr>
              <a:t>  Air spirals outwards in an anticlockwise sense. Which hemisphere and which system?</a:t>
            </a:r>
          </a:p>
          <a:p>
            <a:pPr algn="l">
              <a:spcAft>
                <a:spcPts val="1200"/>
              </a:spcAft>
            </a:pPr>
            <a:r>
              <a:rPr sz="2400" b="1" i="0">
                <a:solidFill>
                  <a:srgbClr val="1F1F1F"/>
                </a:solidFill>
                <a:latin typeface="Calibri"/>
              </a:rPr>
              <a:t>F4.</a:t>
            </a:r>
            <a:r>
              <a:rPr sz="2400" b="0" i="0">
                <a:solidFill>
                  <a:srgbClr val="1F1F1F"/>
                </a:solidFill>
                <a:latin typeface="Calibri"/>
              </a:rPr>
              <a:t>  Over a city the surface wind is 6 m/s and the geostrophic wind above it 11 m/s. Estimate k/f.</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F: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 · Friction</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108</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007F5F"/>
                </a:solidFill>
                <a:latin typeface="Calibri"/>
              </a:rPr>
              <a:t>Answers</a:t>
            </a:r>
          </a:p>
          <a:p>
            <a:pPr algn="l">
              <a:spcAft>
                <a:spcPts val="1200"/>
              </a:spcAft>
            </a:pPr>
            <a:r>
              <a:rPr sz="2400" b="1" i="0">
                <a:solidFill>
                  <a:srgbClr val="1F1F1F"/>
                </a:solidFill>
                <a:latin typeface="Calibri"/>
              </a:rPr>
              <a:t>F1.</a:t>
            </a:r>
            <a:r>
              <a:rPr sz="2400" b="0" i="0">
                <a:solidFill>
                  <a:srgbClr val="1F1F1F"/>
                </a:solidFill>
                <a:latin typeface="Calibri"/>
              </a:rPr>
              <a:t>  α = arctan 0.6 = </a:t>
            </a:r>
            <a:r>
              <a:rPr sz="2400" b="1" i="0">
                <a:solidFill>
                  <a:srgbClr val="007F5F"/>
                </a:solidFill>
                <a:latin typeface="Calibri"/>
              </a:rPr>
              <a:t>31°</a:t>
            </a:r>
            <a:r>
              <a:rPr sz="2400" b="0" i="0">
                <a:solidFill>
                  <a:srgbClr val="1F1F1F"/>
                </a:solidFill>
                <a:latin typeface="Calibri"/>
              </a:rPr>
              <a:t>;  V = 15 cos 31° = </a:t>
            </a:r>
            <a:r>
              <a:rPr sz="2400" b="1" i="0">
                <a:solidFill>
                  <a:srgbClr val="007F5F"/>
                </a:solidFill>
                <a:latin typeface="Calibri"/>
              </a:rPr>
              <a:t>12.9 m/s</a:t>
            </a:r>
            <a:r>
              <a:rPr sz="2400" b="0" i="0">
                <a:solidFill>
                  <a:srgbClr val="1F1F1F"/>
                </a:solidFill>
                <a:latin typeface="Calibri"/>
              </a:rPr>
              <a:t>.</a:t>
            </a:r>
          </a:p>
          <a:p>
            <a:pPr algn="l">
              <a:spcAft>
                <a:spcPts val="1200"/>
              </a:spcAft>
            </a:pPr>
            <a:r>
              <a:rPr sz="2400" b="1" i="0">
                <a:solidFill>
                  <a:srgbClr val="1F1F1F"/>
                </a:solidFill>
                <a:latin typeface="Calibri"/>
              </a:rPr>
              <a:t>F2.</a:t>
            </a:r>
            <a:r>
              <a:rPr sz="2400" b="0" i="0">
                <a:solidFill>
                  <a:srgbClr val="1F1F1F"/>
                </a:solidFill>
                <a:latin typeface="Calibri"/>
              </a:rPr>
              <a:t>  </a:t>
            </a:r>
            <a:r>
              <a:rPr sz="2400" b="1" i="0">
                <a:solidFill>
                  <a:srgbClr val="007F5F"/>
                </a:solidFill>
                <a:latin typeface="Calibri"/>
              </a:rPr>
              <a:t>Clockwise, spiralling in.</a:t>
            </a:r>
          </a:p>
          <a:p>
            <a:pPr algn="l">
              <a:spcAft>
                <a:spcPts val="1200"/>
              </a:spcAft>
            </a:pPr>
            <a:r>
              <a:rPr sz="2400" b="1" i="0">
                <a:solidFill>
                  <a:srgbClr val="1F1F1F"/>
                </a:solidFill>
                <a:latin typeface="Calibri"/>
              </a:rPr>
              <a:t>F3.</a:t>
            </a:r>
            <a:r>
              <a:rPr sz="2400" b="0" i="0">
                <a:solidFill>
                  <a:srgbClr val="1F1F1F"/>
                </a:solidFill>
                <a:latin typeface="Calibri"/>
              </a:rPr>
              <a:t>  </a:t>
            </a:r>
            <a:r>
              <a:rPr sz="2400" b="1" i="0">
                <a:solidFill>
                  <a:srgbClr val="007F5F"/>
                </a:solidFill>
                <a:latin typeface="Calibri"/>
              </a:rPr>
              <a:t>Southern Hemisphere high.</a:t>
            </a:r>
          </a:p>
          <a:p>
            <a:pPr algn="l">
              <a:spcAft>
                <a:spcPts val="1200"/>
              </a:spcAft>
            </a:pPr>
            <a:r>
              <a:rPr sz="2400" b="1" i="0">
                <a:solidFill>
                  <a:srgbClr val="1F1F1F"/>
                </a:solidFill>
                <a:latin typeface="Calibri"/>
              </a:rPr>
              <a:t>F4.</a:t>
            </a:r>
            <a:r>
              <a:rPr sz="2400" b="0" i="0">
                <a:solidFill>
                  <a:srgbClr val="1F1F1F"/>
                </a:solidFill>
                <a:latin typeface="Calibri"/>
              </a:rPr>
              <a:t>  V/V</a:t>
            </a:r>
            <a:r>
              <a:rPr sz="2400" b="0" i="0" baseline="-25000">
                <a:solidFill>
                  <a:srgbClr val="1F1F1F"/>
                </a:solidFill>
                <a:latin typeface="Calibri"/>
              </a:rPr>
              <a:t>g</a:t>
            </a:r>
            <a:r>
              <a:rPr sz="2400" b="0" i="0">
                <a:solidFill>
                  <a:srgbClr val="1F1F1F"/>
                </a:solidFill>
                <a:latin typeface="Calibri"/>
              </a:rPr>
              <a:t> = 6/11 = 0.55 = cos α → α ≈ 57° → k/f = tan 57° ≈ </a:t>
            </a:r>
            <a:r>
              <a:rPr sz="2400" b="1" i="0">
                <a:solidFill>
                  <a:srgbClr val="007F5F"/>
                </a:solidFill>
                <a:latin typeface="Calibri"/>
              </a:rPr>
              <a:t>1.5</a:t>
            </a:r>
            <a:r>
              <a:rPr sz="2400" b="0" i="0">
                <a:solidFill>
                  <a:srgbClr val="1F1F1F"/>
                </a:solidFill>
                <a:latin typeface="Calibri"/>
              </a:rPr>
              <a:t> (a tall-city value).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743200"/>
            <a:ext cx="1280160" cy="822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1188720"/>
          </a:xfrm>
          <a:prstGeom prst="rect">
            <a:avLst/>
          </a:prstGeom>
          <a:noFill/>
        </p:spPr>
        <p:txBody>
          <a:bodyPr wrap="square">
            <a:spAutoFit/>
          </a:bodyPr>
          <a:lstStyle/>
          <a:p>
            <a:r>
              <a:rPr sz="4400" b="1" i="0">
                <a:solidFill>
                  <a:srgbClr val="FFFFFF"/>
                </a:solidFill>
                <a:latin typeface="Calibri"/>
              </a:rPr>
              <a:t>Part III: Weather map analysis</a:t>
            </a:r>
          </a:p>
        </p:txBody>
      </p:sp>
      <p:sp>
        <p:nvSpPr>
          <p:cNvPr id="5" name="TextBox 4"/>
          <p:cNvSpPr txBox="1"/>
          <p:nvPr/>
        </p:nvSpPr>
        <p:spPr>
          <a:xfrm>
            <a:off x="731520" y="3017520"/>
            <a:ext cx="10515600" cy="2286000"/>
          </a:xfrm>
          <a:prstGeom prst="rect">
            <a:avLst/>
          </a:prstGeom>
          <a:noFill/>
        </p:spPr>
        <p:txBody>
          <a:bodyPr wrap="square">
            <a:spAutoFit/>
          </a:bodyPr>
          <a:lstStyle/>
          <a:p>
            <a:pPr>
              <a:spcAft>
                <a:spcPts val="600"/>
              </a:spcAft>
            </a:pPr>
            <a:r>
              <a:rPr sz="2200" b="0" i="0">
                <a:solidFill>
                  <a:srgbClr val="CFDDEE"/>
                </a:solidFill>
                <a:latin typeface="Calibri"/>
              </a:rPr>
              <a:t>Reading station models, drawing streamlines,</a:t>
            </a:r>
          </a:p>
          <a:p>
            <a:pPr>
              <a:spcAft>
                <a:spcPts val="600"/>
              </a:spcAft>
            </a:pPr>
            <a:r>
              <a:rPr sz="2200" b="0" i="0">
                <a:solidFill>
                  <a:srgbClr val="CFDDEE"/>
                </a:solidFill>
                <a:latin typeface="Calibri"/>
              </a:rPr>
              <a:t>locating fronts and analysing a whole map</a:t>
            </a:r>
          </a:p>
          <a:p>
            <a:pPr>
              <a:spcAft>
                <a:spcPts val="600"/>
              </a:spcAft>
            </a:pPr>
            <a:r>
              <a:rPr sz="2200" b="0" i="0">
                <a:solidFill>
                  <a:srgbClr val="CFDDEE"/>
                </a:solidFill>
                <a:latin typeface="Calibri"/>
              </a:rPr>
              <a:t>Map Q12 to Q14</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station model</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110</a:t>
            </a:r>
          </a:p>
        </p:txBody>
      </p:sp>
      <p:sp>
        <p:nvSpPr>
          <p:cNvPr id="6" name="TextBox 5"/>
          <p:cNvSpPr txBox="1"/>
          <p:nvPr/>
        </p:nvSpPr>
        <p:spPr>
          <a:xfrm>
            <a:off x="411480" y="1051560"/>
            <a:ext cx="4023360" cy="521208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Every observation is drawn in a </a:t>
            </a:r>
            <a:r>
              <a:rPr sz="1800" b="1" i="0">
                <a:solidFill>
                  <a:srgbClr val="1F1F1F"/>
                </a:solidFill>
                <a:latin typeface="Calibri"/>
              </a:rPr>
              <a:t>fixed layout</a:t>
            </a:r>
            <a:r>
              <a:rPr sz="1800" b="0" i="0">
                <a:solidFill>
                  <a:srgbClr val="1F1F1F"/>
                </a:solidFill>
                <a:latin typeface="Calibri"/>
              </a:rPr>
              <a:t> round a circle:</a:t>
            </a:r>
          </a:p>
          <a:p>
            <a:pPr algn="l">
              <a:spcAft>
                <a:spcPts val="600"/>
              </a:spcAft>
            </a:pPr>
            <a:r>
              <a:rPr sz="1800" b="0" i="0">
                <a:solidFill>
                  <a:srgbClr val="1F1F1F"/>
                </a:solidFill>
                <a:latin typeface="Calibri"/>
              </a:rPr>
              <a:t>•  </a:t>
            </a:r>
            <a:r>
              <a:rPr sz="1800" b="1" i="0">
                <a:solidFill>
                  <a:srgbClr val="1F1F1F"/>
                </a:solidFill>
                <a:latin typeface="Calibri"/>
              </a:rPr>
              <a:t>top left:</a:t>
            </a:r>
            <a:r>
              <a:rPr sz="1800" b="0" i="0">
                <a:solidFill>
                  <a:srgbClr val="1F1F1F"/>
                </a:solidFill>
                <a:latin typeface="Calibri"/>
              </a:rPr>
              <a:t> air temperature (°F on the sheet)</a:t>
            </a:r>
          </a:p>
          <a:p>
            <a:pPr algn="l">
              <a:spcAft>
                <a:spcPts val="600"/>
              </a:spcAft>
            </a:pPr>
            <a:r>
              <a:rPr sz="1800" b="0" i="0">
                <a:solidFill>
                  <a:srgbClr val="1F1F1F"/>
                </a:solidFill>
                <a:latin typeface="Calibri"/>
              </a:rPr>
              <a:t>•  </a:t>
            </a:r>
            <a:r>
              <a:rPr sz="1800" b="1" i="0">
                <a:solidFill>
                  <a:srgbClr val="1F1F1F"/>
                </a:solidFill>
                <a:latin typeface="Calibri"/>
              </a:rPr>
              <a:t>bottom left:</a:t>
            </a:r>
            <a:r>
              <a:rPr sz="1800" b="0" i="0">
                <a:solidFill>
                  <a:srgbClr val="1F1F1F"/>
                </a:solidFill>
                <a:latin typeface="Calibri"/>
              </a:rPr>
              <a:t> dew point</a:t>
            </a:r>
          </a:p>
          <a:p>
            <a:pPr algn="l">
              <a:spcAft>
                <a:spcPts val="600"/>
              </a:spcAft>
            </a:pPr>
            <a:r>
              <a:rPr sz="1800" b="0" i="0">
                <a:solidFill>
                  <a:srgbClr val="1F1F1F"/>
                </a:solidFill>
                <a:latin typeface="Calibri"/>
              </a:rPr>
              <a:t>•  </a:t>
            </a:r>
            <a:r>
              <a:rPr sz="1800" b="1" i="0">
                <a:solidFill>
                  <a:srgbClr val="1F1F1F"/>
                </a:solidFill>
                <a:latin typeface="Calibri"/>
              </a:rPr>
              <a:t>top right:</a:t>
            </a:r>
            <a:r>
              <a:rPr sz="1800" b="0" i="0">
                <a:solidFill>
                  <a:srgbClr val="1F1F1F"/>
                </a:solidFill>
                <a:latin typeface="Calibri"/>
              </a:rPr>
              <a:t> pressure (3 digits)</a:t>
            </a:r>
          </a:p>
          <a:p>
            <a:pPr algn="l">
              <a:spcAft>
                <a:spcPts val="600"/>
              </a:spcAft>
            </a:pPr>
            <a:r>
              <a:rPr sz="1800" b="0" i="0">
                <a:solidFill>
                  <a:srgbClr val="1F1F1F"/>
                </a:solidFill>
                <a:latin typeface="Calibri"/>
              </a:rPr>
              <a:t>•  </a:t>
            </a:r>
            <a:r>
              <a:rPr sz="1800" b="1" i="0">
                <a:solidFill>
                  <a:srgbClr val="1F1F1F"/>
                </a:solidFill>
                <a:latin typeface="Calibri"/>
              </a:rPr>
              <a:t>right, below:</a:t>
            </a:r>
            <a:r>
              <a:rPr sz="1800" b="0" i="0">
                <a:solidFill>
                  <a:srgbClr val="1F1F1F"/>
                </a:solidFill>
                <a:latin typeface="Calibri"/>
              </a:rPr>
              <a:t> 3-hour pressure change + tendency symbol</a:t>
            </a:r>
          </a:p>
          <a:p>
            <a:pPr algn="l">
              <a:spcAft>
                <a:spcPts val="600"/>
              </a:spcAft>
            </a:pPr>
            <a:r>
              <a:rPr sz="1800" b="0" i="0">
                <a:solidFill>
                  <a:srgbClr val="1F1F1F"/>
                </a:solidFill>
                <a:latin typeface="Calibri"/>
              </a:rPr>
              <a:t>•  </a:t>
            </a:r>
            <a:r>
              <a:rPr sz="1800" b="1" i="0">
                <a:solidFill>
                  <a:srgbClr val="1F1F1F"/>
                </a:solidFill>
                <a:latin typeface="Calibri"/>
              </a:rPr>
              <a:t>left:</a:t>
            </a:r>
            <a:r>
              <a:rPr sz="1800" b="0" i="0">
                <a:solidFill>
                  <a:srgbClr val="1F1F1F"/>
                </a:solidFill>
                <a:latin typeface="Calibri"/>
              </a:rPr>
              <a:t> present weather</a:t>
            </a:r>
          </a:p>
          <a:p>
            <a:pPr algn="l">
              <a:spcAft>
                <a:spcPts val="600"/>
              </a:spcAft>
            </a:pPr>
            <a:r>
              <a:rPr sz="1800" b="0" i="0">
                <a:solidFill>
                  <a:srgbClr val="1F1F1F"/>
                </a:solidFill>
                <a:latin typeface="Calibri"/>
              </a:rPr>
              <a:t>•  </a:t>
            </a:r>
            <a:r>
              <a:rPr sz="1800" b="1" i="0">
                <a:solidFill>
                  <a:srgbClr val="1F1F1F"/>
                </a:solidFill>
                <a:latin typeface="Calibri"/>
              </a:rPr>
              <a:t>circle:</a:t>
            </a:r>
            <a:r>
              <a:rPr sz="1800" b="0" i="0">
                <a:solidFill>
                  <a:srgbClr val="1F1F1F"/>
                </a:solidFill>
                <a:latin typeface="Calibri"/>
              </a:rPr>
              <a:t> sky cover</a:t>
            </a:r>
          </a:p>
          <a:p>
            <a:pPr algn="l">
              <a:spcAft>
                <a:spcPts val="600"/>
              </a:spcAft>
            </a:pPr>
            <a:r>
              <a:rPr sz="1800" b="0" i="0">
                <a:solidFill>
                  <a:srgbClr val="1F1F1F"/>
                </a:solidFill>
                <a:latin typeface="Calibri"/>
              </a:rPr>
              <a:t>•  </a:t>
            </a:r>
            <a:r>
              <a:rPr sz="1800" b="1" i="0">
                <a:solidFill>
                  <a:srgbClr val="1F1F1F"/>
                </a:solidFill>
                <a:latin typeface="Calibri"/>
              </a:rPr>
              <a:t>staff:</a:t>
            </a:r>
            <a:r>
              <a:rPr sz="1800" b="0" i="0">
                <a:solidFill>
                  <a:srgbClr val="1F1F1F"/>
                </a:solidFill>
                <a:latin typeface="Calibri"/>
              </a:rPr>
              <a:t> wind</a:t>
            </a:r>
          </a:p>
        </p:txBody>
      </p:sp>
      <p:pic>
        <p:nvPicPr>
          <p:cNvPr id="7" name="Picture 6" descr="ch08_01.png"/>
          <p:cNvPicPr>
            <a:picLocks noChangeAspect="1"/>
          </p:cNvPicPr>
          <p:nvPr/>
        </p:nvPicPr>
        <p:blipFill>
          <a:blip r:embed="rId3"/>
          <a:stretch>
            <a:fillRect/>
          </a:stretch>
        </p:blipFill>
        <p:spPr>
          <a:xfrm>
            <a:off x="4480560" y="2122635"/>
            <a:ext cx="7315200" cy="3069928"/>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Decoding the pressure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111</a:t>
            </a:r>
          </a:p>
        </p:txBody>
      </p:sp>
      <p:sp>
        <p:nvSpPr>
          <p:cNvPr id="6" name="Rounded Rectangle 5"/>
          <p:cNvSpPr/>
          <p:nvPr/>
        </p:nvSpPr>
        <p:spPr>
          <a:xfrm>
            <a:off x="411480" y="1097280"/>
            <a:ext cx="6035040" cy="274320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0072B2"/>
                </a:solidFill>
                <a:latin typeface="Calibri"/>
              </a:rPr>
              <a:t>The pressure rule</a:t>
            </a:r>
          </a:p>
          <a:p>
            <a:pPr algn="l">
              <a:spcAft>
                <a:spcPts val="300"/>
              </a:spcAft>
            </a:pPr>
            <a:r>
              <a:rPr sz="1800" b="0" i="0">
                <a:solidFill>
                  <a:srgbClr val="1F1F1F"/>
                </a:solidFill>
                <a:latin typeface="Calibri"/>
              </a:rPr>
              <a:t>1.  Put a decimal point before the last digit:  117 → 11.7</a:t>
            </a:r>
          </a:p>
          <a:p>
            <a:pPr algn="l">
              <a:spcAft>
                <a:spcPts val="300"/>
              </a:spcAft>
            </a:pPr>
            <a:r>
              <a:rPr sz="1800" b="0" i="0">
                <a:solidFill>
                  <a:srgbClr val="1F1F1F"/>
                </a:solidFill>
                <a:latin typeface="Calibri"/>
              </a:rPr>
              <a:t>2.  If the 3-digit number is </a:t>
            </a:r>
            <a:r>
              <a:rPr sz="1800" b="1" i="0">
                <a:solidFill>
                  <a:srgbClr val="1F1F1F"/>
                </a:solidFill>
                <a:latin typeface="Calibri"/>
              </a:rPr>
              <a:t>less than 500</a:t>
            </a:r>
            <a:r>
              <a:rPr sz="1800" b="0" i="0">
                <a:solidFill>
                  <a:srgbClr val="1F1F1F"/>
                </a:solidFill>
                <a:latin typeface="Calibri"/>
              </a:rPr>
              <a:t>, put </a:t>
            </a:r>
            <a:r>
              <a:rPr sz="1800" b="1" i="0">
                <a:solidFill>
                  <a:srgbClr val="1F1F1F"/>
                </a:solidFill>
                <a:latin typeface="Calibri"/>
              </a:rPr>
              <a:t>10</a:t>
            </a:r>
            <a:r>
              <a:rPr sz="1800" b="0" i="0">
                <a:solidFill>
                  <a:srgbClr val="1F1F1F"/>
                </a:solidFill>
                <a:latin typeface="Calibri"/>
              </a:rPr>
              <a:t> in front: 1011.7 hPa</a:t>
            </a:r>
          </a:p>
          <a:p>
            <a:pPr algn="l">
              <a:spcAft>
                <a:spcPts val="300"/>
              </a:spcAft>
            </a:pPr>
            <a:r>
              <a:rPr sz="1800" b="0" i="0">
                <a:solidFill>
                  <a:srgbClr val="1F1F1F"/>
                </a:solidFill>
                <a:latin typeface="Calibri"/>
              </a:rPr>
              <a:t>3.  If it is </a:t>
            </a:r>
            <a:r>
              <a:rPr sz="1800" b="1" i="0">
                <a:solidFill>
                  <a:srgbClr val="1F1F1F"/>
                </a:solidFill>
                <a:latin typeface="Calibri"/>
              </a:rPr>
              <a:t>500 or more</a:t>
            </a:r>
            <a:r>
              <a:rPr sz="1800" b="0" i="0">
                <a:solidFill>
                  <a:srgbClr val="1F1F1F"/>
                </a:solidFill>
                <a:latin typeface="Calibri"/>
              </a:rPr>
              <a:t>, put </a:t>
            </a:r>
            <a:r>
              <a:rPr sz="1800" b="1" i="0">
                <a:solidFill>
                  <a:srgbClr val="1F1F1F"/>
                </a:solidFill>
                <a:latin typeface="Calibri"/>
              </a:rPr>
              <a:t>9</a:t>
            </a:r>
            <a:r>
              <a:rPr sz="1800" b="0" i="0">
                <a:solidFill>
                  <a:srgbClr val="1F1F1F"/>
                </a:solidFill>
                <a:latin typeface="Calibri"/>
              </a:rPr>
              <a:t> in front: 998 → 99.8 → 999.8 hPa</a:t>
            </a:r>
          </a:p>
        </p:txBody>
      </p:sp>
      <p:sp>
        <p:nvSpPr>
          <p:cNvPr id="7" name="TextBox 6"/>
          <p:cNvSpPr txBox="1"/>
          <p:nvPr/>
        </p:nvSpPr>
        <p:spPr>
          <a:xfrm>
            <a:off x="457200" y="4023360"/>
            <a:ext cx="5943600" cy="219456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Sea-level pressure is almost always 950–1050 hPa, so the missing digits are never in doubt.</a:t>
            </a:r>
          </a:p>
        </p:txBody>
      </p:sp>
      <p:graphicFrame>
        <p:nvGraphicFramePr>
          <p:cNvPr id="8" name="Table 7"/>
          <p:cNvGraphicFramePr>
            <a:graphicFrameLocks noGrp="1"/>
          </p:cNvGraphicFramePr>
          <p:nvPr/>
        </p:nvGraphicFramePr>
        <p:xfrm>
          <a:off x="6675120" y="1188720"/>
          <a:ext cx="5120637" cy="3401568"/>
        </p:xfrm>
        <a:graphic>
          <a:graphicData uri="http://schemas.openxmlformats.org/drawingml/2006/table">
            <a:tbl>
              <a:tblPr firstRow="0" bandRow="0">
                <a:tableStyleId>{5940675A-B579-460E-94D1-54222C63F5DA}</a:tableStyleId>
              </a:tblPr>
              <a:tblGrid>
                <a:gridCol w="825909"/>
                <a:gridCol w="908500"/>
                <a:gridCol w="1238864"/>
                <a:gridCol w="743318"/>
                <a:gridCol w="1404046"/>
              </a:tblGrid>
              <a:tr h="566928">
                <a:tc>
                  <a:txBody>
                    <a:bodyPr wrap="square"/>
                    <a:lstStyle/>
                    <a:p>
                      <a:pPr algn="l"/>
                      <a:r>
                        <a:rPr sz="1600" b="1" i="0">
                          <a:solidFill>
                            <a:srgbClr val="FFFFFF"/>
                          </a:solidFill>
                          <a:latin typeface="Calibri"/>
                        </a:rPr>
                        <a:t>Printed</a:t>
                      </a:r>
                    </a:p>
                  </a:txBody>
                  <a:tcPr marL="73152" marR="73152" marT="27432" marB="27432" anchor="ctr">
                    <a:solidFill>
                      <a:srgbClr val="1B3A6B"/>
                    </a:solidFill>
                  </a:tcPr>
                </a:tc>
                <a:tc>
                  <a:txBody>
                    <a:bodyPr wrap="square"/>
                    <a:lstStyle/>
                    <a:p>
                      <a:pPr algn="l"/>
                      <a:r>
                        <a:rPr sz="1600" b="1" i="0">
                          <a:solidFill>
                            <a:srgbClr val="FFFFFF"/>
                          </a:solidFill>
                          <a:latin typeface="Calibri"/>
                        </a:rPr>
                        <a:t>Decimal</a:t>
                      </a:r>
                    </a:p>
                  </a:txBody>
                  <a:tcPr marL="73152" marR="73152" marT="27432" marB="27432" anchor="ctr">
                    <a:solidFill>
                      <a:srgbClr val="1B3A6B"/>
                    </a:solidFill>
                  </a:tcPr>
                </a:tc>
                <a:tc>
                  <a:txBody>
                    <a:bodyPr wrap="square"/>
                    <a:lstStyle/>
                    <a:p>
                      <a:pPr algn="l"/>
                      <a:r>
                        <a:rPr sz="1600" b="1" i="0">
                          <a:solidFill>
                            <a:srgbClr val="FFFFFF"/>
                          </a:solidFill>
                          <a:latin typeface="Calibri"/>
                        </a:rPr>
                        <a:t>&lt; 500 or ≥ 500</a:t>
                      </a:r>
                    </a:p>
                  </a:txBody>
                  <a:tcPr marL="73152" marR="73152" marT="27432" marB="27432" anchor="ctr">
                    <a:solidFill>
                      <a:srgbClr val="1B3A6B"/>
                    </a:solidFill>
                  </a:tcPr>
                </a:tc>
                <a:tc>
                  <a:txBody>
                    <a:bodyPr wrap="square"/>
                    <a:lstStyle/>
                    <a:p>
                      <a:pPr algn="l"/>
                      <a:r>
                        <a:rPr sz="1600" b="1" i="0">
                          <a:solidFill>
                            <a:srgbClr val="FFFFFF"/>
                          </a:solidFill>
                          <a:latin typeface="Calibri"/>
                        </a:rPr>
                        <a:t>Prefix</a:t>
                      </a:r>
                    </a:p>
                  </a:txBody>
                  <a:tcPr marL="73152" marR="73152" marT="27432" marB="27432" anchor="ctr">
                    <a:solidFill>
                      <a:srgbClr val="1B3A6B"/>
                    </a:solidFill>
                  </a:tcPr>
                </a:tc>
                <a:tc>
                  <a:txBody>
                    <a:bodyPr wrap="square"/>
                    <a:lstStyle/>
                    <a:p>
                      <a:pPr algn="l"/>
                      <a:r>
                        <a:rPr sz="1600" b="1" i="0">
                          <a:solidFill>
                            <a:srgbClr val="FFFFFF"/>
                          </a:solidFill>
                          <a:latin typeface="Calibri"/>
                        </a:rPr>
                        <a:t>Pressure</a:t>
                      </a:r>
                    </a:p>
                  </a:txBody>
                  <a:tcPr marL="73152" marR="73152" marT="27432" marB="27432" anchor="ctr">
                    <a:solidFill>
                      <a:srgbClr val="1B3A6B"/>
                    </a:solidFill>
                  </a:tcPr>
                </a:tc>
              </a:tr>
              <a:tr h="566928">
                <a:tc>
                  <a:txBody>
                    <a:bodyPr wrap="square"/>
                    <a:lstStyle/>
                    <a:p>
                      <a:pPr algn="l"/>
                      <a:r>
                        <a:rPr sz="1600" b="0" i="0">
                          <a:solidFill>
                            <a:srgbClr val="1F1F1F"/>
                          </a:solidFill>
                          <a:latin typeface="Calibri"/>
                        </a:rPr>
                        <a:t>024</a:t>
                      </a:r>
                    </a:p>
                  </a:txBody>
                  <a:tcPr marL="73152" marR="73152" marT="27432" marB="27432" anchor="ctr">
                    <a:solidFill>
                      <a:srgbClr val="FFFFFF"/>
                    </a:solidFill>
                  </a:tcPr>
                </a:tc>
                <a:tc>
                  <a:txBody>
                    <a:bodyPr wrap="square"/>
                    <a:lstStyle/>
                    <a:p>
                      <a:pPr algn="l"/>
                      <a:r>
                        <a:rPr sz="1600" b="0" i="0">
                          <a:solidFill>
                            <a:srgbClr val="1F1F1F"/>
                          </a:solidFill>
                          <a:latin typeface="Calibri"/>
                        </a:rPr>
                        <a:t>02.4</a:t>
                      </a:r>
                    </a:p>
                  </a:txBody>
                  <a:tcPr marL="73152" marR="73152" marT="27432" marB="27432" anchor="ctr">
                    <a:solidFill>
                      <a:srgbClr val="FFFFFF"/>
                    </a:solidFill>
                  </a:tcPr>
                </a:tc>
                <a:tc>
                  <a:txBody>
                    <a:bodyPr wrap="square"/>
                    <a:lstStyle/>
                    <a:p>
                      <a:pPr algn="l"/>
                      <a:r>
                        <a:rPr sz="1600" b="0" i="0">
                          <a:solidFill>
                            <a:srgbClr val="1F1F1F"/>
                          </a:solidFill>
                          <a:latin typeface="Calibri"/>
                        </a:rPr>
                        <a:t>&lt; 500</a:t>
                      </a:r>
                    </a:p>
                  </a:txBody>
                  <a:tcPr marL="73152" marR="73152" marT="27432" marB="27432" anchor="ctr">
                    <a:solidFill>
                      <a:srgbClr val="FFFFFF"/>
                    </a:solidFill>
                  </a:tcPr>
                </a:tc>
                <a:tc>
                  <a:txBody>
                    <a:bodyPr wrap="square"/>
                    <a:lstStyle/>
                    <a:p>
                      <a:pPr algn="l"/>
                      <a:r>
                        <a:rPr sz="1600" b="0" i="0">
                          <a:solidFill>
                            <a:srgbClr val="1F1F1F"/>
                          </a:solidFill>
                          <a:latin typeface="Calibri"/>
                        </a:rPr>
                        <a:t>10</a:t>
                      </a:r>
                    </a:p>
                  </a:txBody>
                  <a:tcPr marL="73152" marR="73152" marT="27432" marB="27432" anchor="ctr">
                    <a:solidFill>
                      <a:srgbClr val="FFFFFF"/>
                    </a:solidFill>
                  </a:tcPr>
                </a:tc>
                <a:tc>
                  <a:txBody>
                    <a:bodyPr wrap="square"/>
                    <a:lstStyle/>
                    <a:p>
                      <a:pPr algn="l"/>
                      <a:r>
                        <a:rPr sz="1600" b="0" i="0">
                          <a:solidFill>
                            <a:srgbClr val="1F1F1F"/>
                          </a:solidFill>
                          <a:latin typeface="Calibri"/>
                        </a:rPr>
                        <a:t>1002.4 hPa</a:t>
                      </a:r>
                    </a:p>
                  </a:txBody>
                  <a:tcPr marL="73152" marR="73152" marT="27432" marB="27432" anchor="ctr">
                    <a:solidFill>
                      <a:srgbClr val="FFFFFF"/>
                    </a:solidFill>
                  </a:tcPr>
                </a:tc>
              </a:tr>
              <a:tr h="566928">
                <a:tc>
                  <a:txBody>
                    <a:bodyPr wrap="square"/>
                    <a:lstStyle/>
                    <a:p>
                      <a:pPr algn="l"/>
                      <a:r>
                        <a:rPr sz="1600" b="0" i="0">
                          <a:solidFill>
                            <a:srgbClr val="1F1F1F"/>
                          </a:solidFill>
                          <a:latin typeface="Calibri"/>
                        </a:rPr>
                        <a:t>998</a:t>
                      </a:r>
                    </a:p>
                  </a:txBody>
                  <a:tcPr marL="73152" marR="73152" marT="27432" marB="27432" anchor="ctr">
                    <a:solidFill>
                      <a:srgbClr val="F7F7F5"/>
                    </a:solidFill>
                  </a:tcPr>
                </a:tc>
                <a:tc>
                  <a:txBody>
                    <a:bodyPr wrap="square"/>
                    <a:lstStyle/>
                    <a:p>
                      <a:pPr algn="l"/>
                      <a:r>
                        <a:rPr sz="1600" b="0" i="0">
                          <a:solidFill>
                            <a:srgbClr val="1F1F1F"/>
                          </a:solidFill>
                          <a:latin typeface="Calibri"/>
                        </a:rPr>
                        <a:t>99.8</a:t>
                      </a:r>
                    </a:p>
                  </a:txBody>
                  <a:tcPr marL="73152" marR="73152" marT="27432" marB="27432" anchor="ctr">
                    <a:solidFill>
                      <a:srgbClr val="F7F7F5"/>
                    </a:solidFill>
                  </a:tcPr>
                </a:tc>
                <a:tc>
                  <a:txBody>
                    <a:bodyPr wrap="square"/>
                    <a:lstStyle/>
                    <a:p>
                      <a:pPr algn="l"/>
                      <a:r>
                        <a:rPr sz="1600" b="0" i="0">
                          <a:solidFill>
                            <a:srgbClr val="1F1F1F"/>
                          </a:solidFill>
                          <a:latin typeface="Calibri"/>
                        </a:rPr>
                        <a:t>≥ 500</a:t>
                      </a:r>
                    </a:p>
                  </a:txBody>
                  <a:tcPr marL="73152" marR="73152" marT="27432" marB="27432" anchor="ctr">
                    <a:solidFill>
                      <a:srgbClr val="F7F7F5"/>
                    </a:solidFill>
                  </a:tcPr>
                </a:tc>
                <a:tc>
                  <a:txBody>
                    <a:bodyPr wrap="square"/>
                    <a:lstStyle/>
                    <a:p>
                      <a:pPr algn="l"/>
                      <a:r>
                        <a:rPr sz="1600" b="0" i="0">
                          <a:solidFill>
                            <a:srgbClr val="1F1F1F"/>
                          </a:solidFill>
                          <a:latin typeface="Calibri"/>
                        </a:rPr>
                        <a:t>9</a:t>
                      </a:r>
                    </a:p>
                  </a:txBody>
                  <a:tcPr marL="73152" marR="73152" marT="27432" marB="27432" anchor="ctr">
                    <a:solidFill>
                      <a:srgbClr val="F7F7F5"/>
                    </a:solidFill>
                  </a:tcPr>
                </a:tc>
                <a:tc>
                  <a:txBody>
                    <a:bodyPr wrap="square"/>
                    <a:lstStyle/>
                    <a:p>
                      <a:pPr algn="l"/>
                      <a:r>
                        <a:rPr sz="1600" b="0" i="0">
                          <a:solidFill>
                            <a:srgbClr val="1F1F1F"/>
                          </a:solidFill>
                          <a:latin typeface="Calibri"/>
                        </a:rPr>
                        <a:t>999.8 hPa</a:t>
                      </a:r>
                    </a:p>
                  </a:txBody>
                  <a:tcPr marL="73152" marR="73152" marT="27432" marB="27432" anchor="ctr">
                    <a:solidFill>
                      <a:srgbClr val="F7F7F5"/>
                    </a:solidFill>
                  </a:tcPr>
                </a:tc>
              </a:tr>
              <a:tr h="566928">
                <a:tc>
                  <a:txBody>
                    <a:bodyPr wrap="square"/>
                    <a:lstStyle/>
                    <a:p>
                      <a:pPr algn="l"/>
                      <a:r>
                        <a:rPr sz="1600" b="0" i="0">
                          <a:solidFill>
                            <a:srgbClr val="1F1F1F"/>
                          </a:solidFill>
                          <a:latin typeface="Calibri"/>
                        </a:rPr>
                        <a:t>117</a:t>
                      </a:r>
                    </a:p>
                  </a:txBody>
                  <a:tcPr marL="73152" marR="73152" marT="27432" marB="27432" anchor="ctr">
                    <a:solidFill>
                      <a:srgbClr val="FFFFFF"/>
                    </a:solidFill>
                  </a:tcPr>
                </a:tc>
                <a:tc>
                  <a:txBody>
                    <a:bodyPr wrap="square"/>
                    <a:lstStyle/>
                    <a:p>
                      <a:pPr algn="l"/>
                      <a:r>
                        <a:rPr sz="1600" b="0" i="0">
                          <a:solidFill>
                            <a:srgbClr val="1F1F1F"/>
                          </a:solidFill>
                          <a:latin typeface="Calibri"/>
                        </a:rPr>
                        <a:t>11.7</a:t>
                      </a:r>
                    </a:p>
                  </a:txBody>
                  <a:tcPr marL="73152" marR="73152" marT="27432" marB="27432" anchor="ctr">
                    <a:solidFill>
                      <a:srgbClr val="FFFFFF"/>
                    </a:solidFill>
                  </a:tcPr>
                </a:tc>
                <a:tc>
                  <a:txBody>
                    <a:bodyPr wrap="square"/>
                    <a:lstStyle/>
                    <a:p>
                      <a:pPr algn="l"/>
                      <a:r>
                        <a:rPr sz="1600" b="0" i="0">
                          <a:solidFill>
                            <a:srgbClr val="1F1F1F"/>
                          </a:solidFill>
                          <a:latin typeface="Calibri"/>
                        </a:rPr>
                        <a:t>&lt; 500</a:t>
                      </a:r>
                    </a:p>
                  </a:txBody>
                  <a:tcPr marL="73152" marR="73152" marT="27432" marB="27432" anchor="ctr">
                    <a:solidFill>
                      <a:srgbClr val="FFFFFF"/>
                    </a:solidFill>
                  </a:tcPr>
                </a:tc>
                <a:tc>
                  <a:txBody>
                    <a:bodyPr wrap="square"/>
                    <a:lstStyle/>
                    <a:p>
                      <a:pPr algn="l"/>
                      <a:r>
                        <a:rPr sz="1600" b="0" i="0">
                          <a:solidFill>
                            <a:srgbClr val="1F1F1F"/>
                          </a:solidFill>
                          <a:latin typeface="Calibri"/>
                        </a:rPr>
                        <a:t>10</a:t>
                      </a:r>
                    </a:p>
                  </a:txBody>
                  <a:tcPr marL="73152" marR="73152" marT="27432" marB="27432" anchor="ctr">
                    <a:solidFill>
                      <a:srgbClr val="FFFFFF"/>
                    </a:solidFill>
                  </a:tcPr>
                </a:tc>
                <a:tc>
                  <a:txBody>
                    <a:bodyPr wrap="square"/>
                    <a:lstStyle/>
                    <a:p>
                      <a:pPr algn="l"/>
                      <a:r>
                        <a:rPr sz="1600" b="0" i="0">
                          <a:solidFill>
                            <a:srgbClr val="1F1F1F"/>
                          </a:solidFill>
                          <a:latin typeface="Calibri"/>
                        </a:rPr>
                        <a:t>1011.7 hPa</a:t>
                      </a:r>
                    </a:p>
                  </a:txBody>
                  <a:tcPr marL="73152" marR="73152" marT="27432" marB="27432" anchor="ctr">
                    <a:solidFill>
                      <a:srgbClr val="FFFFFF"/>
                    </a:solidFill>
                  </a:tcPr>
                </a:tc>
              </a:tr>
              <a:tr h="566928">
                <a:tc>
                  <a:txBody>
                    <a:bodyPr wrap="square"/>
                    <a:lstStyle/>
                    <a:p>
                      <a:pPr algn="l"/>
                      <a:r>
                        <a:rPr sz="1600" b="0" i="0">
                          <a:solidFill>
                            <a:srgbClr val="1F1F1F"/>
                          </a:solidFill>
                          <a:latin typeface="Calibri"/>
                        </a:rPr>
                        <a:t>997</a:t>
                      </a:r>
                    </a:p>
                  </a:txBody>
                  <a:tcPr marL="73152" marR="73152" marT="27432" marB="27432" anchor="ctr">
                    <a:solidFill>
                      <a:srgbClr val="F7F7F5"/>
                    </a:solidFill>
                  </a:tcPr>
                </a:tc>
                <a:tc>
                  <a:txBody>
                    <a:bodyPr wrap="square"/>
                    <a:lstStyle/>
                    <a:p>
                      <a:pPr algn="l"/>
                      <a:r>
                        <a:rPr sz="1600" b="0" i="0">
                          <a:solidFill>
                            <a:srgbClr val="1F1F1F"/>
                          </a:solidFill>
                          <a:latin typeface="Calibri"/>
                        </a:rPr>
                        <a:t>99.7</a:t>
                      </a:r>
                    </a:p>
                  </a:txBody>
                  <a:tcPr marL="73152" marR="73152" marT="27432" marB="27432" anchor="ctr">
                    <a:solidFill>
                      <a:srgbClr val="F7F7F5"/>
                    </a:solidFill>
                  </a:tcPr>
                </a:tc>
                <a:tc>
                  <a:txBody>
                    <a:bodyPr wrap="square"/>
                    <a:lstStyle/>
                    <a:p>
                      <a:pPr algn="l"/>
                      <a:r>
                        <a:rPr sz="1600" b="0" i="0">
                          <a:solidFill>
                            <a:srgbClr val="1F1F1F"/>
                          </a:solidFill>
                          <a:latin typeface="Calibri"/>
                        </a:rPr>
                        <a:t>≥ 500</a:t>
                      </a:r>
                    </a:p>
                  </a:txBody>
                  <a:tcPr marL="73152" marR="73152" marT="27432" marB="27432" anchor="ctr">
                    <a:solidFill>
                      <a:srgbClr val="F7F7F5"/>
                    </a:solidFill>
                  </a:tcPr>
                </a:tc>
                <a:tc>
                  <a:txBody>
                    <a:bodyPr wrap="square"/>
                    <a:lstStyle/>
                    <a:p>
                      <a:pPr algn="l"/>
                      <a:r>
                        <a:rPr sz="1600" b="0" i="0">
                          <a:solidFill>
                            <a:srgbClr val="1F1F1F"/>
                          </a:solidFill>
                          <a:latin typeface="Calibri"/>
                        </a:rPr>
                        <a:t>9</a:t>
                      </a:r>
                    </a:p>
                  </a:txBody>
                  <a:tcPr marL="73152" marR="73152" marT="27432" marB="27432" anchor="ctr">
                    <a:solidFill>
                      <a:srgbClr val="F7F7F5"/>
                    </a:solidFill>
                  </a:tcPr>
                </a:tc>
                <a:tc>
                  <a:txBody>
                    <a:bodyPr wrap="square"/>
                    <a:lstStyle/>
                    <a:p>
                      <a:pPr algn="l"/>
                      <a:r>
                        <a:rPr sz="1600" b="0" i="0">
                          <a:solidFill>
                            <a:srgbClr val="1F1F1F"/>
                          </a:solidFill>
                          <a:latin typeface="Calibri"/>
                        </a:rPr>
                        <a:t>999.7 hPa</a:t>
                      </a:r>
                    </a:p>
                  </a:txBody>
                  <a:tcPr marL="73152" marR="73152" marT="27432" marB="27432" anchor="ctr">
                    <a:solidFill>
                      <a:srgbClr val="F7F7F5"/>
                    </a:solidFill>
                  </a:tcPr>
                </a:tc>
              </a:tr>
              <a:tr h="566928">
                <a:tc>
                  <a:txBody>
                    <a:bodyPr wrap="square"/>
                    <a:lstStyle/>
                    <a:p>
                      <a:pPr algn="l"/>
                      <a:r>
                        <a:rPr sz="1600" b="0" i="0">
                          <a:solidFill>
                            <a:srgbClr val="1F1F1F"/>
                          </a:solidFill>
                          <a:latin typeface="Calibri"/>
                        </a:rPr>
                        <a:t>147</a:t>
                      </a:r>
                    </a:p>
                  </a:txBody>
                  <a:tcPr marL="73152" marR="73152" marT="27432" marB="27432" anchor="ctr">
                    <a:solidFill>
                      <a:srgbClr val="FFFFFF"/>
                    </a:solidFill>
                  </a:tcPr>
                </a:tc>
                <a:tc>
                  <a:txBody>
                    <a:bodyPr wrap="square"/>
                    <a:lstStyle/>
                    <a:p>
                      <a:pPr algn="l"/>
                      <a:r>
                        <a:rPr sz="1600" b="0" i="0">
                          <a:solidFill>
                            <a:srgbClr val="1F1F1F"/>
                          </a:solidFill>
                          <a:latin typeface="Calibri"/>
                        </a:rPr>
                        <a:t>14.7</a:t>
                      </a:r>
                    </a:p>
                  </a:txBody>
                  <a:tcPr marL="73152" marR="73152" marT="27432" marB="27432" anchor="ctr">
                    <a:solidFill>
                      <a:srgbClr val="FFFFFF"/>
                    </a:solidFill>
                  </a:tcPr>
                </a:tc>
                <a:tc>
                  <a:txBody>
                    <a:bodyPr wrap="square"/>
                    <a:lstStyle/>
                    <a:p>
                      <a:pPr algn="l"/>
                      <a:r>
                        <a:rPr sz="1600" b="0" i="0">
                          <a:solidFill>
                            <a:srgbClr val="1F1F1F"/>
                          </a:solidFill>
                          <a:latin typeface="Calibri"/>
                        </a:rPr>
                        <a:t>&lt; 500</a:t>
                      </a:r>
                    </a:p>
                  </a:txBody>
                  <a:tcPr marL="73152" marR="73152" marT="27432" marB="27432" anchor="ctr">
                    <a:solidFill>
                      <a:srgbClr val="FFFFFF"/>
                    </a:solidFill>
                  </a:tcPr>
                </a:tc>
                <a:tc>
                  <a:txBody>
                    <a:bodyPr wrap="square"/>
                    <a:lstStyle/>
                    <a:p>
                      <a:pPr algn="l"/>
                      <a:r>
                        <a:rPr sz="1600" b="0" i="0">
                          <a:solidFill>
                            <a:srgbClr val="1F1F1F"/>
                          </a:solidFill>
                          <a:latin typeface="Calibri"/>
                        </a:rPr>
                        <a:t>10</a:t>
                      </a:r>
                    </a:p>
                  </a:txBody>
                  <a:tcPr marL="73152" marR="73152" marT="27432" marB="27432" anchor="ctr">
                    <a:solidFill>
                      <a:srgbClr val="FFFFFF"/>
                    </a:solidFill>
                  </a:tcPr>
                </a:tc>
                <a:tc>
                  <a:txBody>
                    <a:bodyPr wrap="square"/>
                    <a:lstStyle/>
                    <a:p>
                      <a:pPr algn="l"/>
                      <a:r>
                        <a:rPr sz="1600" b="0" i="0">
                          <a:solidFill>
                            <a:srgbClr val="1F1F1F"/>
                          </a:solidFill>
                          <a:latin typeface="Calibri"/>
                        </a:rPr>
                        <a:t>1014.7 hPa</a:t>
                      </a:r>
                    </a:p>
                  </a:txBody>
                  <a:tcPr marL="73152" marR="73152" marT="27432" marB="27432" anchor="ctr">
                    <a:solidFill>
                      <a:srgbClr val="FFFFFF"/>
                    </a:solidFill>
                  </a:tcPr>
                </a:tc>
              </a:tr>
            </a:tbl>
          </a:graphicData>
        </a:graphic>
      </p:graphicFrame>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Temperature, dew point and sky cover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112</a:t>
            </a:r>
          </a:p>
        </p:txBody>
      </p:sp>
      <p:sp>
        <p:nvSpPr>
          <p:cNvPr id="6" name="TextBox 5"/>
          <p:cNvSpPr txBox="1"/>
          <p:nvPr/>
        </p:nvSpPr>
        <p:spPr>
          <a:xfrm>
            <a:off x="411480" y="1051560"/>
            <a:ext cx="5120640" cy="5212080"/>
          </a:xfrm>
          <a:prstGeom prst="rect">
            <a:avLst/>
          </a:prstGeom>
          <a:noFill/>
        </p:spPr>
        <p:txBody>
          <a:bodyPr wrap="square" anchor="t" lIns="45720" rIns="45720">
            <a:spAutoFit/>
          </a:bodyPr>
          <a:lstStyle/>
          <a:p>
            <a:pPr algn="l">
              <a:spcAft>
                <a:spcPts val="600"/>
              </a:spcAft>
            </a:pPr>
            <a:r>
              <a:rPr sz="1800" b="1" i="0">
                <a:solidFill>
                  <a:srgbClr val="1F1F1F"/>
                </a:solidFill>
                <a:latin typeface="Calibri"/>
              </a:rPr>
              <a:t>°F → °C:</a:t>
            </a:r>
            <a:r>
              <a:rPr sz="1800" b="0" i="0">
                <a:solidFill>
                  <a:srgbClr val="1F1F1F"/>
                </a:solidFill>
                <a:latin typeface="Calibri"/>
              </a:rPr>
              <a:t>  T(°C) = (T(°F) − 32) × 5/9</a:t>
            </a:r>
          </a:p>
          <a:p>
            <a:pPr algn="l">
              <a:spcAft>
                <a:spcPts val="600"/>
              </a:spcAft>
            </a:pPr>
            <a:r>
              <a:rPr sz="1800" b="0" i="0">
                <a:solidFill>
                  <a:srgbClr val="1F1F1F"/>
                </a:solidFill>
                <a:latin typeface="Calibri"/>
              </a:rPr>
              <a:t>37 °F = 2.8 °C;  63 °F = 17.2 °C;  21 °F = −6.1 °C.</a:t>
            </a:r>
          </a:p>
          <a:p>
            <a:pPr algn="l">
              <a:spcAft>
                <a:spcPts val="600"/>
              </a:spcAft>
            </a:pPr>
            <a:r>
              <a:rPr sz="1800" b="0" i="0">
                <a:solidFill>
                  <a:srgbClr val="1F1F1F"/>
                </a:solidFill>
                <a:latin typeface="Calibri"/>
              </a:rPr>
              <a:t>The gap </a:t>
            </a:r>
            <a:r>
              <a:rPr sz="1800" b="1" i="0">
                <a:solidFill>
                  <a:srgbClr val="1F1F1F"/>
                </a:solidFill>
                <a:latin typeface="Calibri"/>
              </a:rPr>
              <a:t>T − T</a:t>
            </a:r>
            <a:r>
              <a:rPr sz="1800" b="1" i="0" baseline="-25000">
                <a:solidFill>
                  <a:srgbClr val="1F1F1F"/>
                </a:solidFill>
                <a:latin typeface="Calibri"/>
              </a:rPr>
              <a:t>d</a:t>
            </a:r>
            <a:r>
              <a:rPr sz="1800" b="0" i="0">
                <a:solidFill>
                  <a:srgbClr val="1F1F1F"/>
                </a:solidFill>
                <a:latin typeface="Calibri"/>
              </a:rPr>
              <a:t> shows how close the air is to saturation: 3 °F = nearly saturated; 20 °F = dry.</a:t>
            </a:r>
          </a:p>
          <a:p>
            <a:pPr algn="l">
              <a:spcAft>
                <a:spcPts val="600"/>
              </a:spcAft>
            </a:pPr>
            <a:r>
              <a:rPr sz="1800" b="1" i="0">
                <a:solidFill>
                  <a:srgbClr val="1F1F1F"/>
                </a:solidFill>
                <a:latin typeface="Calibri"/>
              </a:rPr>
              <a:t>Sky cover:</a:t>
            </a:r>
            <a:r>
              <a:rPr sz="1800" b="0" i="0">
                <a:solidFill>
                  <a:srgbClr val="1F1F1F"/>
                </a:solidFill>
                <a:latin typeface="Calibri"/>
              </a:rPr>
              <a:t> the circle fills clockwise from the top, in tenths: empty = clear, half = 5/10, full = overcast, × = obscured.</a:t>
            </a:r>
          </a:p>
        </p:txBody>
      </p:sp>
      <p:pic>
        <p:nvPicPr>
          <p:cNvPr id="7" name="Picture 6" descr="ch08_02.png"/>
          <p:cNvPicPr>
            <a:picLocks noChangeAspect="1"/>
          </p:cNvPicPr>
          <p:nvPr/>
        </p:nvPicPr>
        <p:blipFill>
          <a:blip r:embed="rId2"/>
          <a:stretch>
            <a:fillRect/>
          </a:stretch>
        </p:blipFill>
        <p:spPr>
          <a:xfrm>
            <a:off x="5669280" y="1856504"/>
            <a:ext cx="6126480" cy="2779230"/>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Wind barbs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113</a:t>
            </a:r>
          </a:p>
        </p:txBody>
      </p:sp>
      <p:sp>
        <p:nvSpPr>
          <p:cNvPr id="6" name="TextBox 5"/>
          <p:cNvSpPr txBox="1"/>
          <p:nvPr/>
        </p:nvSpPr>
        <p:spPr>
          <a:xfrm>
            <a:off x="411480" y="1051560"/>
            <a:ext cx="11338560" cy="201168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The </a:t>
            </a:r>
            <a:r>
              <a:rPr sz="1800" b="1" i="0">
                <a:solidFill>
                  <a:srgbClr val="1F1F1F"/>
                </a:solidFill>
                <a:latin typeface="Calibri"/>
              </a:rPr>
              <a:t>staff</a:t>
            </a:r>
            <a:r>
              <a:rPr sz="1800" b="0" i="0">
                <a:solidFill>
                  <a:srgbClr val="1F1F1F"/>
                </a:solidFill>
                <a:latin typeface="Calibri"/>
              </a:rPr>
              <a:t> points to where the wind comes </a:t>
            </a:r>
            <a:r>
              <a:rPr sz="1800" b="1" i="0">
                <a:solidFill>
                  <a:srgbClr val="1F1F1F"/>
                </a:solidFill>
                <a:latin typeface="Calibri"/>
              </a:rPr>
              <a:t>from</a:t>
            </a:r>
            <a:r>
              <a:rPr sz="1800" b="0" i="0">
                <a:solidFill>
                  <a:srgbClr val="1F1F1F"/>
                </a:solidFill>
                <a:latin typeface="Calibri"/>
              </a:rPr>
              <a:t> (like a weather vane). The barbs are at the free end:</a:t>
            </a:r>
          </a:p>
          <a:p>
            <a:pPr algn="l">
              <a:spcAft>
                <a:spcPts val="600"/>
              </a:spcAft>
            </a:pPr>
            <a:r>
              <a:rPr sz="1800" b="0" i="0">
                <a:solidFill>
                  <a:srgbClr val="1F1F1F"/>
                </a:solidFill>
                <a:latin typeface="Calibri"/>
              </a:rPr>
              <a:t>•  </a:t>
            </a:r>
            <a:r>
              <a:rPr sz="1800" b="1" i="0">
                <a:solidFill>
                  <a:srgbClr val="1F1F1F"/>
                </a:solidFill>
                <a:latin typeface="Calibri"/>
              </a:rPr>
              <a:t>half barb</a:t>
            </a:r>
            <a:r>
              <a:rPr sz="1800" b="0" i="0">
                <a:solidFill>
                  <a:srgbClr val="1F1F1F"/>
                </a:solidFill>
                <a:latin typeface="Calibri"/>
              </a:rPr>
              <a:t> 5 kt;  </a:t>
            </a:r>
            <a:r>
              <a:rPr sz="1800" b="1" i="0">
                <a:solidFill>
                  <a:srgbClr val="1F1F1F"/>
                </a:solidFill>
                <a:latin typeface="Calibri"/>
              </a:rPr>
              <a:t>full barb</a:t>
            </a:r>
            <a:r>
              <a:rPr sz="1800" b="0" i="0">
                <a:solidFill>
                  <a:srgbClr val="1F1F1F"/>
                </a:solidFill>
                <a:latin typeface="Calibri"/>
              </a:rPr>
              <a:t> 10 kt;  </a:t>
            </a:r>
            <a:r>
              <a:rPr sz="1800" b="1" i="0">
                <a:solidFill>
                  <a:srgbClr val="1F1F1F"/>
                </a:solidFill>
                <a:latin typeface="Calibri"/>
              </a:rPr>
              <a:t>pennant</a:t>
            </a:r>
            <a:r>
              <a:rPr sz="1800" b="0" i="0">
                <a:solidFill>
                  <a:srgbClr val="1F1F1F"/>
                </a:solidFill>
                <a:latin typeface="Calibri"/>
              </a:rPr>
              <a:t> 50 kt;  no barb 1–2 kt;  a ring and no staff = </a:t>
            </a:r>
            <a:r>
              <a:rPr sz="1800" b="1" i="0">
                <a:solidFill>
                  <a:srgbClr val="1F1F1F"/>
                </a:solidFill>
                <a:latin typeface="Calibri"/>
              </a:rPr>
              <a:t>calm</a:t>
            </a:r>
          </a:p>
          <a:p>
            <a:pPr algn="l">
              <a:spcAft>
                <a:spcPts val="600"/>
              </a:spcAft>
            </a:pPr>
            <a:r>
              <a:rPr sz="1800" b="1" i="0">
                <a:solidFill>
                  <a:srgbClr val="1F1F1F"/>
                </a:solidFill>
                <a:latin typeface="Calibri"/>
              </a:rPr>
              <a:t>To read one:</a:t>
            </a:r>
            <a:r>
              <a:rPr sz="1800" b="0" i="0">
                <a:solidFill>
                  <a:srgbClr val="1F1F1F"/>
                </a:solidFill>
                <a:latin typeface="Calibri"/>
              </a:rPr>
              <a:t> follow the staff from the circle; the wind comes from that direction; add the barbs (10 + 10 + 5 = 25 kt). 1 kt = 0.514 m/s.</a:t>
            </a:r>
          </a:p>
        </p:txBody>
      </p:sp>
      <p:pic>
        <p:nvPicPr>
          <p:cNvPr id="7" name="Picture 6" descr="ch08_03.png"/>
          <p:cNvPicPr>
            <a:picLocks noChangeAspect="1"/>
          </p:cNvPicPr>
          <p:nvPr/>
        </p:nvPicPr>
        <p:blipFill>
          <a:blip r:embed="rId3"/>
          <a:stretch>
            <a:fillRect/>
          </a:stretch>
        </p:blipFill>
        <p:spPr>
          <a:xfrm>
            <a:off x="3499545" y="3017520"/>
            <a:ext cx="5162428" cy="3200399"/>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Present weather and pressure tendency</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114</a:t>
            </a:r>
          </a:p>
        </p:txBody>
      </p:sp>
      <p:pic>
        <p:nvPicPr>
          <p:cNvPr id="6" name="Picture 5" descr="ch08_04.png"/>
          <p:cNvPicPr>
            <a:picLocks noChangeAspect="1"/>
          </p:cNvPicPr>
          <p:nvPr/>
        </p:nvPicPr>
        <p:blipFill>
          <a:blip r:embed="rId2"/>
          <a:stretch>
            <a:fillRect/>
          </a:stretch>
        </p:blipFill>
        <p:spPr>
          <a:xfrm>
            <a:off x="365760" y="1725979"/>
            <a:ext cx="5669280" cy="2583081"/>
          </a:xfrm>
          <a:prstGeom prst="rect">
            <a:avLst/>
          </a:prstGeom>
        </p:spPr>
      </p:pic>
      <p:pic>
        <p:nvPicPr>
          <p:cNvPr id="7" name="Picture 6" descr="ch08_05.png"/>
          <p:cNvPicPr>
            <a:picLocks noChangeAspect="1"/>
          </p:cNvPicPr>
          <p:nvPr/>
        </p:nvPicPr>
        <p:blipFill>
          <a:blip r:embed="rId3"/>
          <a:stretch>
            <a:fillRect/>
          </a:stretch>
        </p:blipFill>
        <p:spPr>
          <a:xfrm>
            <a:off x="6126480" y="1949457"/>
            <a:ext cx="5760720" cy="2136124"/>
          </a:xfrm>
          <a:prstGeom prst="rect">
            <a:avLst/>
          </a:prstGeom>
        </p:spPr>
      </p:pic>
      <p:sp>
        <p:nvSpPr>
          <p:cNvPr id="8" name="TextBox 7"/>
          <p:cNvSpPr txBox="1"/>
          <p:nvPr/>
        </p:nvSpPr>
        <p:spPr>
          <a:xfrm>
            <a:off x="457200" y="5120640"/>
            <a:ext cx="11247120" cy="118872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The number beside the tendency symbol is the 3-hour pressure change in tenths of a hPa: </a:t>
            </a:r>
            <a:r>
              <a:rPr sz="1800" b="1" i="0">
                <a:solidFill>
                  <a:srgbClr val="1F1F1F"/>
                </a:solidFill>
                <a:latin typeface="Calibri"/>
              </a:rPr>
              <a:t>+17 = up 1.7 hPa</a:t>
            </a:r>
            <a:r>
              <a:rPr sz="1800" b="0" i="0">
                <a:solidFill>
                  <a:srgbClr val="1F1F1F"/>
                </a:solidFill>
                <a:latin typeface="Calibri"/>
              </a:rPr>
              <a:t>, </a:t>
            </a:r>
            <a:r>
              <a:rPr sz="1800" b="1" i="0">
                <a:solidFill>
                  <a:srgbClr val="1F1F1F"/>
                </a:solidFill>
                <a:latin typeface="Calibri"/>
              </a:rPr>
              <a:t>−11 = down 1.1 hPa</a:t>
            </a:r>
            <a:r>
              <a:rPr sz="1800" b="0" i="0">
                <a:solidFill>
                  <a:srgbClr val="1F1F1F"/>
                </a:solidFill>
                <a:latin typeface="Calibri"/>
              </a:rPr>
              <a:t>. Rapid falls warn of storms; rises usually bring improving weather.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decode the four station models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115</a:t>
            </a:r>
          </a:p>
        </p:txBody>
      </p:sp>
      <p:sp>
        <p:nvSpPr>
          <p:cNvPr id="6" name="Rounded Rectangle 5"/>
          <p:cNvSpPr/>
          <p:nvPr/>
        </p:nvSpPr>
        <p:spPr>
          <a:xfrm>
            <a:off x="411480" y="1097280"/>
            <a:ext cx="11338560" cy="219456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200" b="1" i="0">
                <a:solidFill>
                  <a:srgbClr val="0072B2"/>
                </a:solidFill>
                <a:latin typeface="Calibri"/>
              </a:rPr>
              <a:t>The question</a:t>
            </a:r>
          </a:p>
          <a:p>
            <a:pPr algn="l">
              <a:spcAft>
                <a:spcPts val="300"/>
              </a:spcAft>
            </a:pPr>
            <a:r>
              <a:rPr sz="2200" b="0" i="0">
                <a:solidFill>
                  <a:srgbClr val="1F1F1F"/>
                </a:solidFill>
                <a:latin typeface="Calibri"/>
              </a:rPr>
              <a:t>Decode the information from each of the following station models: barometric pressure, temperature, dew-point temperature, sky coverage (in %), current weather, wind speed, wind direction, pressure change during the last 3 hours, pressure tendency.</a:t>
            </a:r>
          </a:p>
        </p:txBody>
      </p:sp>
      <p:sp>
        <p:nvSpPr>
          <p:cNvPr id="7" name="TextBox 6"/>
          <p:cNvSpPr txBox="1"/>
          <p:nvPr/>
        </p:nvSpPr>
        <p:spPr>
          <a:xfrm>
            <a:off x="457200" y="3566159"/>
            <a:ext cx="11247120" cy="2834640"/>
          </a:xfrm>
          <a:prstGeom prst="rect">
            <a:avLst/>
          </a:prstGeom>
          <a:noFill/>
        </p:spPr>
        <p:txBody>
          <a:bodyPr wrap="square" anchor="t" lIns="45720" rIns="45720">
            <a:spAutoFit/>
          </a:bodyPr>
          <a:lstStyle/>
          <a:p>
            <a:pPr algn="l">
              <a:spcAft>
                <a:spcPts val="600"/>
              </a:spcAft>
            </a:pPr>
            <a:r>
              <a:rPr sz="2100" b="0" i="0">
                <a:solidFill>
                  <a:srgbClr val="1F1F1F"/>
                </a:solidFill>
                <a:latin typeface="Calibri"/>
              </a:rPr>
              <a:t>Work down the list for each model, one field at a time: the next slides highlight each field in turn.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1: pressure, temperature, dew point</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116</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1</a:t>
            </a:r>
          </a:p>
          <a:p>
            <a:pPr algn="l">
              <a:spcAft>
                <a:spcPts val="300"/>
              </a:spcAft>
            </a:pPr>
            <a:r>
              <a:rPr sz="2000" b="1" i="0">
                <a:solidFill>
                  <a:srgbClr val="D55E00"/>
                </a:solidFill>
                <a:latin typeface="Calibri"/>
              </a:rPr>
              <a:t>Pressure</a:t>
            </a:r>
            <a:r>
              <a:rPr sz="2000" b="0" i="0">
                <a:solidFill>
                  <a:srgbClr val="1F1F1F"/>
                </a:solidFill>
                <a:latin typeface="Calibri"/>
              </a:rPr>
              <a:t> 024 → 02.4 → </a:t>
            </a:r>
            <a:r>
              <a:rPr sz="2000" b="1" i="0">
                <a:solidFill>
                  <a:srgbClr val="D55E00"/>
                </a:solidFill>
                <a:latin typeface="Calibri"/>
              </a:rPr>
              <a:t>1002.4 hPa</a:t>
            </a:r>
            <a:r>
              <a:rPr sz="2000" b="0" i="0">
                <a:solidFill>
                  <a:srgbClr val="1F1F1F"/>
                </a:solidFill>
                <a:latin typeface="Calibri"/>
              </a:rPr>
              <a:t>  (below 500: prefix 10)</a:t>
            </a:r>
          </a:p>
          <a:p>
            <a:pPr algn="l">
              <a:spcAft>
                <a:spcPts val="300"/>
              </a:spcAft>
            </a:pPr>
            <a:r>
              <a:rPr sz="2000" b="1" i="0">
                <a:solidFill>
                  <a:srgbClr val="B87A00"/>
                </a:solidFill>
                <a:latin typeface="Calibri"/>
              </a:rPr>
              <a:t>Temperature</a:t>
            </a:r>
            <a:r>
              <a:rPr sz="2000" b="0" i="0">
                <a:solidFill>
                  <a:srgbClr val="1F1F1F"/>
                </a:solidFill>
                <a:latin typeface="Calibri"/>
              </a:rPr>
              <a:t> </a:t>
            </a:r>
            <a:r>
              <a:rPr sz="2000" b="1" i="0">
                <a:solidFill>
                  <a:srgbClr val="1F1F1F"/>
                </a:solidFill>
                <a:latin typeface="Calibri"/>
              </a:rPr>
              <a:t>37 °F</a:t>
            </a:r>
            <a:r>
              <a:rPr sz="2000" b="0" i="0">
                <a:solidFill>
                  <a:srgbClr val="1F1F1F"/>
                </a:solidFill>
                <a:latin typeface="Calibri"/>
              </a:rPr>
              <a:t> (2.8 °C)</a:t>
            </a:r>
          </a:p>
          <a:p>
            <a:pPr algn="l">
              <a:spcAft>
                <a:spcPts val="300"/>
              </a:spcAft>
            </a:pPr>
            <a:r>
              <a:rPr sz="2000" b="1" i="0">
                <a:solidFill>
                  <a:srgbClr val="0072B2"/>
                </a:solidFill>
                <a:latin typeface="Calibri"/>
              </a:rPr>
              <a:t>Dew point</a:t>
            </a:r>
            <a:r>
              <a:rPr sz="2000" b="0" i="0">
                <a:solidFill>
                  <a:srgbClr val="1F1F1F"/>
                </a:solidFill>
                <a:latin typeface="Calibri"/>
              </a:rPr>
              <a:t> </a:t>
            </a:r>
            <a:r>
              <a:rPr sz="2000" b="1" i="0">
                <a:solidFill>
                  <a:srgbClr val="1F1F1F"/>
                </a:solidFill>
                <a:latin typeface="Calibri"/>
              </a:rPr>
              <a:t>21 °F</a:t>
            </a:r>
            <a:r>
              <a:rPr sz="2000" b="0" i="0">
                <a:solidFill>
                  <a:srgbClr val="1F1F1F"/>
                </a:solidFill>
                <a:latin typeface="Calibri"/>
              </a:rPr>
              <a:t> (−6.1 °C)</a:t>
            </a:r>
          </a:p>
          <a:p>
            <a:pPr algn="l">
              <a:spcAft>
                <a:spcPts val="300"/>
              </a:spcAft>
            </a:pPr>
            <a:r>
              <a:rPr sz="2000" b="0" i="0">
                <a:solidFill>
                  <a:srgbClr val="1F1F1F"/>
                </a:solidFill>
                <a:latin typeface="Calibri"/>
              </a:rPr>
              <a:t>The gap is 16 °F: dry air.</a:t>
            </a:r>
          </a:p>
          <a:p>
            <a:pPr algn="l">
              <a:spcAft>
                <a:spcPts val="300"/>
              </a:spcAft>
            </a:pPr>
          </a:p>
          <a:p>
            <a:pPr algn="l">
              <a:spcAft>
                <a:spcPts val="300"/>
              </a:spcAft>
            </a:pPr>
            <a:r>
              <a:rPr sz="2000" b="1" i="0">
                <a:solidFill>
                  <a:srgbClr val="D55E00"/>
                </a:solidFill>
                <a:latin typeface="Calibri"/>
              </a:rPr>
              <a:t>Correction:</a:t>
            </a:r>
            <a:r>
              <a:rPr sz="2000" b="0" i="0">
                <a:solidFill>
                  <a:srgbClr val="1F1F1F"/>
                </a:solidFill>
                <a:latin typeface="Calibri"/>
              </a:rPr>
              <a:t> the key says 28 °F; the model shows </a:t>
            </a:r>
            <a:r>
              <a:rPr sz="2000" b="1" i="0">
                <a:solidFill>
                  <a:srgbClr val="1F1F1F"/>
                </a:solidFill>
                <a:latin typeface="Calibri"/>
              </a:rPr>
              <a:t>21</a:t>
            </a:r>
            <a:r>
              <a:rPr sz="2000" b="0" i="0">
                <a:solidFill>
                  <a:srgbClr val="1F1F1F"/>
                </a:solidFill>
                <a:latin typeface="Calibri"/>
              </a:rPr>
              <a:t>.</a:t>
            </a:r>
          </a:p>
        </p:txBody>
      </p:sp>
      <p:pic>
        <p:nvPicPr>
          <p:cNvPr id="7" name="Picture 6" descr="sheet1_s1.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1: sky cover, wind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117</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1</a:t>
            </a:r>
          </a:p>
          <a:p>
            <a:pPr algn="l">
              <a:spcAft>
                <a:spcPts val="300"/>
              </a:spcAft>
            </a:pPr>
            <a:r>
              <a:rPr sz="2000" b="1" i="0">
                <a:solidFill>
                  <a:srgbClr val="007F5F"/>
                </a:solidFill>
                <a:latin typeface="Calibri"/>
              </a:rPr>
              <a:t>Sky cover</a:t>
            </a:r>
            <a:r>
              <a:rPr sz="2000" b="0" i="0">
                <a:solidFill>
                  <a:srgbClr val="1F1F1F"/>
                </a:solidFill>
                <a:latin typeface="Calibri"/>
              </a:rPr>
              <a:t>: empty circle = </a:t>
            </a:r>
            <a:r>
              <a:rPr sz="2000" b="1" i="0">
                <a:solidFill>
                  <a:srgbClr val="1F1F1F"/>
                </a:solidFill>
                <a:latin typeface="Calibri"/>
              </a:rPr>
              <a:t>0 %</a:t>
            </a:r>
            <a:r>
              <a:rPr sz="2000" b="0" i="0">
                <a:solidFill>
                  <a:srgbClr val="1F1F1F"/>
                </a:solidFill>
                <a:latin typeface="Calibri"/>
              </a:rPr>
              <a:t> (clear)</a:t>
            </a:r>
          </a:p>
          <a:p>
            <a:pPr algn="l">
              <a:spcAft>
                <a:spcPts val="300"/>
              </a:spcAft>
            </a:pPr>
            <a:r>
              <a:rPr sz="2000" b="1" i="0">
                <a:solidFill>
                  <a:srgbClr val="1F1F1F"/>
                </a:solidFill>
                <a:latin typeface="Calibri"/>
              </a:rPr>
              <a:t>Wind:</a:t>
            </a:r>
            <a:r>
              <a:rPr sz="2000" b="0" i="0">
                <a:solidFill>
                  <a:srgbClr val="1F1F1F"/>
                </a:solidFill>
                <a:latin typeface="Calibri"/>
              </a:rPr>
              <a:t> no staff, only a ring round the circle: </a:t>
            </a:r>
            <a:r>
              <a:rPr sz="2000" b="1" i="0">
                <a:solidFill>
                  <a:srgbClr val="1F1F1F"/>
                </a:solidFill>
                <a:latin typeface="Calibri"/>
              </a:rPr>
              <a:t>calm</a:t>
            </a:r>
          </a:p>
          <a:p>
            <a:pPr algn="l">
              <a:spcAft>
                <a:spcPts val="300"/>
              </a:spcAft>
            </a:pPr>
          </a:p>
          <a:p>
            <a:pPr algn="l">
              <a:spcAft>
                <a:spcPts val="300"/>
              </a:spcAft>
            </a:pPr>
            <a:r>
              <a:rPr sz="2000" b="1" i="0">
                <a:solidFill>
                  <a:srgbClr val="1F1F1F"/>
                </a:solidFill>
                <a:latin typeface="Calibri"/>
              </a:rPr>
              <a:t>Model 1: 1002.4 mb · 37 °F · dew point 21 °F · 0 % · calm</a:t>
            </a:r>
          </a:p>
          <a:p>
            <a:pPr algn="l">
              <a:spcAft>
                <a:spcPts val="300"/>
              </a:spcAft>
            </a:pPr>
            <a:r>
              <a:rPr sz="2000" b="0" i="0">
                <a:solidFill>
                  <a:srgbClr val="1F1F1F"/>
                </a:solidFill>
                <a:latin typeface="Calibri"/>
              </a:rPr>
              <a:t>RH ≈ 52 %</a:t>
            </a:r>
          </a:p>
        </p:txBody>
      </p:sp>
      <p:pic>
        <p:nvPicPr>
          <p:cNvPr id="7" name="Picture 6" descr="sheet1_s2.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2: pressure, temperature, dew point</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118</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2</a:t>
            </a:r>
          </a:p>
          <a:p>
            <a:pPr algn="l">
              <a:spcAft>
                <a:spcPts val="300"/>
              </a:spcAft>
            </a:pPr>
            <a:r>
              <a:rPr sz="2000" b="1" i="0">
                <a:solidFill>
                  <a:srgbClr val="D55E00"/>
                </a:solidFill>
                <a:latin typeface="Calibri"/>
              </a:rPr>
              <a:t>Pressure</a:t>
            </a:r>
            <a:r>
              <a:rPr sz="2000" b="0" i="0">
                <a:solidFill>
                  <a:srgbClr val="1F1F1F"/>
                </a:solidFill>
                <a:latin typeface="Calibri"/>
              </a:rPr>
              <a:t> 998 → 99.8 → </a:t>
            </a:r>
            <a:r>
              <a:rPr sz="2000" b="1" i="0">
                <a:solidFill>
                  <a:srgbClr val="D55E00"/>
                </a:solidFill>
                <a:latin typeface="Calibri"/>
              </a:rPr>
              <a:t>999.8 hPa</a:t>
            </a:r>
            <a:r>
              <a:rPr sz="2000" b="0" i="0">
                <a:solidFill>
                  <a:srgbClr val="1F1F1F"/>
                </a:solidFill>
                <a:latin typeface="Calibri"/>
              </a:rPr>
              <a:t>  (500 or more: prefix 9)</a:t>
            </a:r>
          </a:p>
          <a:p>
            <a:pPr algn="l">
              <a:spcAft>
                <a:spcPts val="300"/>
              </a:spcAft>
            </a:pPr>
            <a:r>
              <a:rPr sz="2000" b="1" i="0">
                <a:solidFill>
                  <a:srgbClr val="B87A00"/>
                </a:solidFill>
                <a:latin typeface="Calibri"/>
              </a:rPr>
              <a:t>Temperature</a:t>
            </a:r>
            <a:r>
              <a:rPr sz="2000" b="0" i="0">
                <a:solidFill>
                  <a:srgbClr val="1F1F1F"/>
                </a:solidFill>
                <a:latin typeface="Calibri"/>
              </a:rPr>
              <a:t> </a:t>
            </a:r>
            <a:r>
              <a:rPr sz="2000" b="1" i="0">
                <a:solidFill>
                  <a:srgbClr val="1F1F1F"/>
                </a:solidFill>
                <a:latin typeface="Calibri"/>
              </a:rPr>
              <a:t>63 °F</a:t>
            </a:r>
            <a:r>
              <a:rPr sz="2000" b="0" i="0">
                <a:solidFill>
                  <a:srgbClr val="1F1F1F"/>
                </a:solidFill>
                <a:latin typeface="Calibri"/>
              </a:rPr>
              <a:t> (17.2 °C)</a:t>
            </a:r>
          </a:p>
          <a:p>
            <a:pPr algn="l">
              <a:spcAft>
                <a:spcPts val="300"/>
              </a:spcAft>
            </a:pPr>
            <a:r>
              <a:rPr sz="2000" b="1" i="0">
                <a:solidFill>
                  <a:srgbClr val="0072B2"/>
                </a:solidFill>
                <a:latin typeface="Calibri"/>
              </a:rPr>
              <a:t>Dew point</a:t>
            </a:r>
            <a:r>
              <a:rPr sz="2000" b="0" i="0">
                <a:solidFill>
                  <a:srgbClr val="1F1F1F"/>
                </a:solidFill>
                <a:latin typeface="Calibri"/>
              </a:rPr>
              <a:t> </a:t>
            </a:r>
            <a:r>
              <a:rPr sz="2000" b="1" i="0">
                <a:solidFill>
                  <a:srgbClr val="1F1F1F"/>
                </a:solidFill>
                <a:latin typeface="Calibri"/>
              </a:rPr>
              <a:t>60 °F</a:t>
            </a:r>
            <a:r>
              <a:rPr sz="2000" b="0" i="0">
                <a:solidFill>
                  <a:srgbClr val="1F1F1F"/>
                </a:solidFill>
                <a:latin typeface="Calibri"/>
              </a:rPr>
              <a:t> (15.6 °C)</a:t>
            </a:r>
          </a:p>
          <a:p>
            <a:pPr algn="l">
              <a:spcAft>
                <a:spcPts val="300"/>
              </a:spcAft>
            </a:pPr>
            <a:r>
              <a:rPr sz="2000" b="0" i="0">
                <a:solidFill>
                  <a:srgbClr val="1F1F1F"/>
                </a:solidFill>
                <a:latin typeface="Calibri"/>
              </a:rPr>
              <a:t>Only 3 °F below the temperature: very humid air.</a:t>
            </a:r>
          </a:p>
        </p:txBody>
      </p:sp>
      <p:pic>
        <p:nvPicPr>
          <p:cNvPr id="7" name="Picture 6" descr="sheet2_s1.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2: sky cover and weather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119</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2</a:t>
            </a:r>
          </a:p>
          <a:p>
            <a:pPr algn="l">
              <a:spcAft>
                <a:spcPts val="300"/>
              </a:spcAft>
            </a:pPr>
            <a:r>
              <a:rPr sz="2000" b="1" i="0">
                <a:solidFill>
                  <a:srgbClr val="007F5F"/>
                </a:solidFill>
                <a:latin typeface="Calibri"/>
              </a:rPr>
              <a:t>Sky cover</a:t>
            </a:r>
            <a:r>
              <a:rPr sz="2000" b="0" i="0">
                <a:solidFill>
                  <a:srgbClr val="1F1F1F"/>
                </a:solidFill>
                <a:latin typeface="Calibri"/>
              </a:rPr>
              <a:t>: half-filled circle = </a:t>
            </a:r>
            <a:r>
              <a:rPr sz="2000" b="1" i="0">
                <a:solidFill>
                  <a:srgbClr val="1F1F1F"/>
                </a:solidFill>
                <a:latin typeface="Calibri"/>
              </a:rPr>
              <a:t>50 %</a:t>
            </a:r>
          </a:p>
          <a:p>
            <a:pPr algn="l">
              <a:spcAft>
                <a:spcPts val="300"/>
              </a:spcAft>
            </a:pPr>
            <a:r>
              <a:rPr sz="2000" b="1" i="0">
                <a:solidFill>
                  <a:srgbClr val="1B3A6B"/>
                </a:solidFill>
                <a:latin typeface="Calibri"/>
              </a:rPr>
              <a:t>Current weather</a:t>
            </a:r>
            <a:r>
              <a:rPr sz="2000" b="0" i="0">
                <a:solidFill>
                  <a:srgbClr val="1F1F1F"/>
                </a:solidFill>
                <a:latin typeface="Calibri"/>
              </a:rPr>
              <a:t>: the symbol R with a dot above = </a:t>
            </a:r>
            <a:r>
              <a:rPr sz="2000" b="1" i="0">
                <a:solidFill>
                  <a:srgbClr val="1F1F1F"/>
                </a:solidFill>
                <a:latin typeface="Calibri"/>
              </a:rPr>
              <a:t>thunder with intermittent rain</a:t>
            </a:r>
          </a:p>
          <a:p>
            <a:pPr algn="l">
              <a:spcAft>
                <a:spcPts val="300"/>
              </a:spcAft>
            </a:pPr>
            <a:r>
              <a:rPr sz="2000" b="0" i="0">
                <a:solidFill>
                  <a:srgbClr val="1F1F1F"/>
                </a:solidFill>
                <a:latin typeface="Calibri"/>
              </a:rPr>
              <a:t>No staff: calm</a:t>
            </a:r>
          </a:p>
          <a:p>
            <a:pPr algn="l">
              <a:spcAft>
                <a:spcPts val="300"/>
              </a:spcAft>
            </a:pPr>
          </a:p>
          <a:p>
            <a:pPr algn="l">
              <a:spcAft>
                <a:spcPts val="300"/>
              </a:spcAft>
            </a:pPr>
            <a:r>
              <a:rPr sz="2000" b="1" i="0">
                <a:solidFill>
                  <a:srgbClr val="1F1F1F"/>
                </a:solidFill>
                <a:latin typeface="Calibri"/>
              </a:rPr>
              <a:t>Model 2: 999.8 mb · 63 °F · dew point 60 °F · thunder with intermittent rain</a:t>
            </a:r>
          </a:p>
          <a:p>
            <a:pPr algn="l">
              <a:spcAft>
                <a:spcPts val="300"/>
              </a:spcAft>
            </a:pPr>
            <a:r>
              <a:rPr sz="2000" b="0" i="0">
                <a:solidFill>
                  <a:srgbClr val="1F1F1F"/>
                </a:solidFill>
                <a:latin typeface="Calibri"/>
              </a:rPr>
              <a:t>RH ≈ 90 %</a:t>
            </a:r>
          </a:p>
        </p:txBody>
      </p:sp>
      <p:pic>
        <p:nvPicPr>
          <p:cNvPr id="7" name="Picture 6" descr="sheet2_s2.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3: pressure, temperature, dew point</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120</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3</a:t>
            </a:r>
          </a:p>
          <a:p>
            <a:pPr algn="l">
              <a:spcAft>
                <a:spcPts val="300"/>
              </a:spcAft>
            </a:pPr>
            <a:r>
              <a:rPr sz="2000" b="1" i="0">
                <a:solidFill>
                  <a:srgbClr val="D55E00"/>
                </a:solidFill>
                <a:latin typeface="Calibri"/>
              </a:rPr>
              <a:t>Pressure</a:t>
            </a:r>
            <a:r>
              <a:rPr sz="2000" b="0" i="0">
                <a:solidFill>
                  <a:srgbClr val="1F1F1F"/>
                </a:solidFill>
                <a:latin typeface="Calibri"/>
              </a:rPr>
              <a:t> 117 → 11.7 → </a:t>
            </a:r>
            <a:r>
              <a:rPr sz="2000" b="1" i="0">
                <a:solidFill>
                  <a:srgbClr val="D55E00"/>
                </a:solidFill>
                <a:latin typeface="Calibri"/>
              </a:rPr>
              <a:t>1011.7 hPa</a:t>
            </a:r>
            <a:r>
              <a:rPr sz="2000" b="0" i="0">
                <a:solidFill>
                  <a:srgbClr val="1F1F1F"/>
                </a:solidFill>
                <a:latin typeface="Calibri"/>
              </a:rPr>
              <a:t>  (below 500: prefix 10)</a:t>
            </a:r>
          </a:p>
          <a:p>
            <a:pPr algn="l">
              <a:spcAft>
                <a:spcPts val="300"/>
              </a:spcAft>
            </a:pPr>
            <a:r>
              <a:rPr sz="2000" b="1" i="0">
                <a:solidFill>
                  <a:srgbClr val="B87A00"/>
                </a:solidFill>
                <a:latin typeface="Calibri"/>
              </a:rPr>
              <a:t>Temperature</a:t>
            </a:r>
            <a:r>
              <a:rPr sz="2000" b="0" i="0">
                <a:solidFill>
                  <a:srgbClr val="1F1F1F"/>
                </a:solidFill>
                <a:latin typeface="Calibri"/>
              </a:rPr>
              <a:t> </a:t>
            </a:r>
            <a:r>
              <a:rPr sz="2000" b="1" i="0">
                <a:solidFill>
                  <a:srgbClr val="1F1F1F"/>
                </a:solidFill>
                <a:latin typeface="Calibri"/>
              </a:rPr>
              <a:t>43 °F</a:t>
            </a:r>
            <a:r>
              <a:rPr sz="2000" b="0" i="0">
                <a:solidFill>
                  <a:srgbClr val="1F1F1F"/>
                </a:solidFill>
                <a:latin typeface="Calibri"/>
              </a:rPr>
              <a:t> (6.1 °C)</a:t>
            </a:r>
          </a:p>
          <a:p>
            <a:pPr algn="l">
              <a:spcAft>
                <a:spcPts val="300"/>
              </a:spcAft>
            </a:pPr>
            <a:r>
              <a:rPr sz="2000" b="1" i="0">
                <a:solidFill>
                  <a:srgbClr val="0072B2"/>
                </a:solidFill>
                <a:latin typeface="Calibri"/>
              </a:rPr>
              <a:t>Dew point</a:t>
            </a:r>
            <a:r>
              <a:rPr sz="2000" b="0" i="0">
                <a:solidFill>
                  <a:srgbClr val="1F1F1F"/>
                </a:solidFill>
                <a:latin typeface="Calibri"/>
              </a:rPr>
              <a:t> </a:t>
            </a:r>
            <a:r>
              <a:rPr sz="2000" b="1" i="0">
                <a:solidFill>
                  <a:srgbClr val="1F1F1F"/>
                </a:solidFill>
                <a:latin typeface="Calibri"/>
              </a:rPr>
              <a:t>20 °F</a:t>
            </a:r>
            <a:r>
              <a:rPr sz="2000" b="0" i="0">
                <a:solidFill>
                  <a:srgbClr val="1F1F1F"/>
                </a:solidFill>
                <a:latin typeface="Calibri"/>
              </a:rPr>
              <a:t> (−6.7 °C)</a:t>
            </a:r>
          </a:p>
        </p:txBody>
      </p:sp>
      <p:pic>
        <p:nvPicPr>
          <p:cNvPr id="7" name="Picture 6" descr="sheet3_s1.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3: sky cover and wind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121</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3</a:t>
            </a:r>
          </a:p>
          <a:p>
            <a:pPr algn="l">
              <a:spcAft>
                <a:spcPts val="300"/>
              </a:spcAft>
            </a:pPr>
            <a:r>
              <a:rPr sz="2000" b="1" i="0">
                <a:solidFill>
                  <a:srgbClr val="007F5F"/>
                </a:solidFill>
                <a:latin typeface="Calibri"/>
              </a:rPr>
              <a:t>Sky cover</a:t>
            </a:r>
            <a:r>
              <a:rPr sz="2000" b="0" i="0">
                <a:solidFill>
                  <a:srgbClr val="1F1F1F"/>
                </a:solidFill>
                <a:latin typeface="Calibri"/>
              </a:rPr>
              <a:t>: empty circle = </a:t>
            </a:r>
            <a:r>
              <a:rPr sz="2000" b="1" i="0">
                <a:solidFill>
                  <a:srgbClr val="1F1F1F"/>
                </a:solidFill>
                <a:latin typeface="Calibri"/>
              </a:rPr>
              <a:t>0 %</a:t>
            </a:r>
          </a:p>
          <a:p>
            <a:pPr algn="l">
              <a:spcAft>
                <a:spcPts val="300"/>
              </a:spcAft>
            </a:pPr>
            <a:r>
              <a:rPr sz="2000" b="1" i="0">
                <a:solidFill>
                  <a:srgbClr val="1F1F1F"/>
                </a:solidFill>
                <a:latin typeface="Calibri"/>
              </a:rPr>
              <a:t>Wind:</a:t>
            </a:r>
            <a:r>
              <a:rPr sz="2000" b="0" i="0">
                <a:solidFill>
                  <a:srgbClr val="1F1F1F"/>
                </a:solidFill>
                <a:latin typeface="Calibri"/>
              </a:rPr>
              <a:t> the staff points to the </a:t>
            </a:r>
            <a:r>
              <a:rPr sz="2000" b="1" i="0">
                <a:solidFill>
                  <a:srgbClr val="1F1F1F"/>
                </a:solidFill>
                <a:latin typeface="Calibri"/>
              </a:rPr>
              <a:t>lower left</a:t>
            </a:r>
            <a:r>
              <a:rPr sz="2000" b="0" i="0">
                <a:solidFill>
                  <a:srgbClr val="1F1F1F"/>
                </a:solidFill>
                <a:latin typeface="Calibri"/>
              </a:rPr>
              <a:t>, so the wind is from the </a:t>
            </a:r>
            <a:r>
              <a:rPr sz="2000" b="1" i="0">
                <a:solidFill>
                  <a:srgbClr val="1F1F1F"/>
                </a:solidFill>
                <a:latin typeface="Calibri"/>
              </a:rPr>
              <a:t>south-west</a:t>
            </a:r>
          </a:p>
          <a:p>
            <a:pPr algn="l">
              <a:spcAft>
                <a:spcPts val="300"/>
              </a:spcAft>
            </a:pPr>
            <a:r>
              <a:rPr sz="2000" b="0" i="0">
                <a:solidFill>
                  <a:srgbClr val="1F1F1F"/>
                </a:solidFill>
                <a:latin typeface="Calibri"/>
              </a:rPr>
              <a:t>Two full barbs and a half barb: 10 + 10 + 5 = </a:t>
            </a:r>
            <a:r>
              <a:rPr sz="2000" b="1" i="0">
                <a:solidFill>
                  <a:srgbClr val="1F1F1F"/>
                </a:solidFill>
                <a:latin typeface="Calibri"/>
              </a:rPr>
              <a:t>25 knots</a:t>
            </a:r>
          </a:p>
        </p:txBody>
      </p:sp>
      <p:pic>
        <p:nvPicPr>
          <p:cNvPr id="7" name="Picture 6" descr="sheet3_s2.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3: pressure change and tendency</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122</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3</a:t>
            </a:r>
          </a:p>
          <a:p>
            <a:pPr algn="l">
              <a:spcAft>
                <a:spcPts val="300"/>
              </a:spcAft>
            </a:pPr>
            <a:r>
              <a:rPr sz="2000" b="0" i="0">
                <a:solidFill>
                  <a:srgbClr val="1F1F1F"/>
                </a:solidFill>
                <a:latin typeface="Calibri"/>
              </a:rPr>
              <a:t>The number </a:t>
            </a:r>
            <a:r>
              <a:rPr sz="2000" b="1" i="0">
                <a:solidFill>
                  <a:srgbClr val="1F1F1F"/>
                </a:solidFill>
                <a:latin typeface="Calibri"/>
              </a:rPr>
              <a:t>+17</a:t>
            </a:r>
            <a:r>
              <a:rPr sz="2000" b="0" i="0">
                <a:solidFill>
                  <a:srgbClr val="1F1F1F"/>
                </a:solidFill>
                <a:latin typeface="Calibri"/>
              </a:rPr>
              <a:t> = </a:t>
            </a:r>
            <a:r>
              <a:rPr sz="2000" b="1" i="0">
                <a:solidFill>
                  <a:srgbClr val="1F1F1F"/>
                </a:solidFill>
                <a:latin typeface="Calibri"/>
              </a:rPr>
              <a:t>+1.7 mb</a:t>
            </a:r>
            <a:r>
              <a:rPr sz="2000" b="0" i="0">
                <a:solidFill>
                  <a:srgbClr val="1F1F1F"/>
                </a:solidFill>
                <a:latin typeface="Calibri"/>
              </a:rPr>
              <a:t> in 3 hours</a:t>
            </a:r>
          </a:p>
          <a:p>
            <a:pPr algn="l">
              <a:spcAft>
                <a:spcPts val="300"/>
              </a:spcAft>
            </a:pPr>
            <a:r>
              <a:rPr sz="2000" b="0" i="0">
                <a:solidFill>
                  <a:srgbClr val="1F1F1F"/>
                </a:solidFill>
                <a:latin typeface="Calibri"/>
              </a:rPr>
              <a:t>The symbol rises to the right: pressure is </a:t>
            </a:r>
            <a:r>
              <a:rPr sz="2000" b="1" i="0">
                <a:solidFill>
                  <a:srgbClr val="1F1F1F"/>
                </a:solidFill>
                <a:latin typeface="Calibri"/>
              </a:rPr>
              <a:t>rising</a:t>
            </a:r>
          </a:p>
          <a:p>
            <a:pPr algn="l">
              <a:spcAft>
                <a:spcPts val="300"/>
              </a:spcAft>
            </a:pPr>
          </a:p>
          <a:p>
            <a:pPr algn="l">
              <a:spcAft>
                <a:spcPts val="300"/>
              </a:spcAft>
            </a:pPr>
            <a:r>
              <a:rPr sz="2000" b="1" i="0">
                <a:solidFill>
                  <a:srgbClr val="1F1F1F"/>
                </a:solidFill>
                <a:latin typeface="Calibri"/>
              </a:rPr>
              <a:t>Model 3: 1011.7 mb · 43 °F · dew point 20 °F · 0 % · SW 25 kt · +1.7 mb, rising</a:t>
            </a:r>
          </a:p>
        </p:txBody>
      </p:sp>
      <p:pic>
        <p:nvPicPr>
          <p:cNvPr id="7" name="Picture 6" descr="sheet3_s3.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4: pressure, temperature, dew point</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123</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4</a:t>
            </a:r>
          </a:p>
          <a:p>
            <a:pPr algn="l">
              <a:spcAft>
                <a:spcPts val="300"/>
              </a:spcAft>
            </a:pPr>
            <a:r>
              <a:rPr sz="2000" b="1" i="0">
                <a:solidFill>
                  <a:srgbClr val="D55E00"/>
                </a:solidFill>
                <a:latin typeface="Calibri"/>
              </a:rPr>
              <a:t>Pressure</a:t>
            </a:r>
            <a:r>
              <a:rPr sz="2000" b="0" i="0">
                <a:solidFill>
                  <a:srgbClr val="1F1F1F"/>
                </a:solidFill>
                <a:latin typeface="Calibri"/>
              </a:rPr>
              <a:t> 997 → 99.7 → </a:t>
            </a:r>
            <a:r>
              <a:rPr sz="2000" b="1" i="0">
                <a:solidFill>
                  <a:srgbClr val="D55E00"/>
                </a:solidFill>
                <a:latin typeface="Calibri"/>
              </a:rPr>
              <a:t>999.7 hPa</a:t>
            </a:r>
            <a:r>
              <a:rPr sz="2000" b="0" i="0">
                <a:solidFill>
                  <a:srgbClr val="1F1F1F"/>
                </a:solidFill>
                <a:latin typeface="Calibri"/>
              </a:rPr>
              <a:t>  (500 or more: prefix 9)</a:t>
            </a:r>
          </a:p>
          <a:p>
            <a:pPr algn="l">
              <a:spcAft>
                <a:spcPts val="300"/>
              </a:spcAft>
            </a:pPr>
            <a:r>
              <a:rPr sz="2000" b="1" i="0">
                <a:solidFill>
                  <a:srgbClr val="B87A00"/>
                </a:solidFill>
                <a:latin typeface="Calibri"/>
              </a:rPr>
              <a:t>Temperature</a:t>
            </a:r>
            <a:r>
              <a:rPr sz="2000" b="0" i="0">
                <a:solidFill>
                  <a:srgbClr val="1F1F1F"/>
                </a:solidFill>
                <a:latin typeface="Calibri"/>
              </a:rPr>
              <a:t> </a:t>
            </a:r>
            <a:r>
              <a:rPr sz="2000" b="1" i="0">
                <a:solidFill>
                  <a:srgbClr val="1F1F1F"/>
                </a:solidFill>
                <a:latin typeface="Calibri"/>
              </a:rPr>
              <a:t>27 °F</a:t>
            </a:r>
            <a:r>
              <a:rPr sz="2000" b="0" i="0">
                <a:solidFill>
                  <a:srgbClr val="1F1F1F"/>
                </a:solidFill>
                <a:latin typeface="Calibri"/>
              </a:rPr>
              <a:t> (−2.8 °C)</a:t>
            </a:r>
          </a:p>
          <a:p>
            <a:pPr algn="l">
              <a:spcAft>
                <a:spcPts val="300"/>
              </a:spcAft>
            </a:pPr>
            <a:r>
              <a:rPr sz="2000" b="1" i="0">
                <a:solidFill>
                  <a:srgbClr val="0072B2"/>
                </a:solidFill>
                <a:latin typeface="Calibri"/>
              </a:rPr>
              <a:t>Dew point</a:t>
            </a:r>
            <a:r>
              <a:rPr sz="2000" b="0" i="0">
                <a:solidFill>
                  <a:srgbClr val="1F1F1F"/>
                </a:solidFill>
                <a:latin typeface="Calibri"/>
              </a:rPr>
              <a:t> </a:t>
            </a:r>
            <a:r>
              <a:rPr sz="2000" b="1" i="0">
                <a:solidFill>
                  <a:srgbClr val="1F1F1F"/>
                </a:solidFill>
                <a:latin typeface="Calibri"/>
              </a:rPr>
              <a:t>20 °F</a:t>
            </a:r>
            <a:r>
              <a:rPr sz="2000" b="0" i="0">
                <a:solidFill>
                  <a:srgbClr val="1F1F1F"/>
                </a:solidFill>
                <a:latin typeface="Calibri"/>
              </a:rPr>
              <a:t> (−6.7 °C)</a:t>
            </a:r>
          </a:p>
        </p:txBody>
      </p:sp>
      <p:pic>
        <p:nvPicPr>
          <p:cNvPr id="7" name="Picture 6" descr="sheet4_s1.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4: sky cover, weather and wind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124</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4</a:t>
            </a:r>
          </a:p>
          <a:p>
            <a:pPr algn="l">
              <a:spcAft>
                <a:spcPts val="300"/>
              </a:spcAft>
            </a:pPr>
            <a:r>
              <a:rPr sz="2000" b="1" i="0">
                <a:solidFill>
                  <a:srgbClr val="007F5F"/>
                </a:solidFill>
                <a:latin typeface="Calibri"/>
              </a:rPr>
              <a:t>Sky cover</a:t>
            </a:r>
            <a:r>
              <a:rPr sz="2000" b="0" i="0">
                <a:solidFill>
                  <a:srgbClr val="1F1F1F"/>
                </a:solidFill>
                <a:latin typeface="Calibri"/>
              </a:rPr>
              <a:t>: filled circle = </a:t>
            </a:r>
            <a:r>
              <a:rPr sz="2000" b="1" i="0">
                <a:solidFill>
                  <a:srgbClr val="1F1F1F"/>
                </a:solidFill>
                <a:latin typeface="Calibri"/>
              </a:rPr>
              <a:t>100 %</a:t>
            </a:r>
            <a:r>
              <a:rPr sz="2000" b="0" i="0">
                <a:solidFill>
                  <a:srgbClr val="1F1F1F"/>
                </a:solidFill>
                <a:latin typeface="Calibri"/>
              </a:rPr>
              <a:t> (overcast)</a:t>
            </a:r>
          </a:p>
          <a:p>
            <a:pPr algn="l">
              <a:spcAft>
                <a:spcPts val="300"/>
              </a:spcAft>
            </a:pPr>
            <a:r>
              <a:rPr sz="2000" b="1" i="0">
                <a:solidFill>
                  <a:srgbClr val="1B3A6B"/>
                </a:solidFill>
                <a:latin typeface="Calibri"/>
              </a:rPr>
              <a:t>Current weather</a:t>
            </a:r>
            <a:r>
              <a:rPr sz="2000" b="0" i="0">
                <a:solidFill>
                  <a:srgbClr val="1F1F1F"/>
                </a:solidFill>
                <a:latin typeface="Calibri"/>
              </a:rPr>
              <a:t>: two asterisks = </a:t>
            </a:r>
            <a:r>
              <a:rPr sz="2000" b="1" i="0">
                <a:solidFill>
                  <a:srgbClr val="1F1F1F"/>
                </a:solidFill>
                <a:latin typeface="Calibri"/>
              </a:rPr>
              <a:t>continuous snow</a:t>
            </a:r>
          </a:p>
          <a:p>
            <a:pPr algn="l">
              <a:spcAft>
                <a:spcPts val="300"/>
              </a:spcAft>
            </a:pPr>
            <a:r>
              <a:rPr sz="2000" b="1" i="0">
                <a:solidFill>
                  <a:srgbClr val="1F1F1F"/>
                </a:solidFill>
                <a:latin typeface="Calibri"/>
              </a:rPr>
              <a:t>Wind:</a:t>
            </a:r>
            <a:r>
              <a:rPr sz="2000" b="0" i="0">
                <a:solidFill>
                  <a:srgbClr val="1F1F1F"/>
                </a:solidFill>
                <a:latin typeface="Calibri"/>
              </a:rPr>
              <a:t> the staff points to the </a:t>
            </a:r>
            <a:r>
              <a:rPr sz="2000" b="1" i="0">
                <a:solidFill>
                  <a:srgbClr val="1F1F1F"/>
                </a:solidFill>
                <a:latin typeface="Calibri"/>
              </a:rPr>
              <a:t>upper left</a:t>
            </a:r>
            <a:r>
              <a:rPr sz="2000" b="0" i="0">
                <a:solidFill>
                  <a:srgbClr val="1F1F1F"/>
                </a:solidFill>
                <a:latin typeface="Calibri"/>
              </a:rPr>
              <a:t>: from the </a:t>
            </a:r>
            <a:r>
              <a:rPr sz="2000" b="1" i="0">
                <a:solidFill>
                  <a:srgbClr val="1F1F1F"/>
                </a:solidFill>
                <a:latin typeface="Calibri"/>
              </a:rPr>
              <a:t>north-west</a:t>
            </a:r>
            <a:r>
              <a:rPr sz="2000" b="0" i="0">
                <a:solidFill>
                  <a:srgbClr val="1F1F1F"/>
                </a:solidFill>
                <a:latin typeface="Calibri"/>
              </a:rPr>
              <a:t>; two full barbs and a half barb: </a:t>
            </a:r>
            <a:r>
              <a:rPr sz="2000" b="1" i="0">
                <a:solidFill>
                  <a:srgbClr val="1F1F1F"/>
                </a:solidFill>
                <a:latin typeface="Calibri"/>
              </a:rPr>
              <a:t>25 knots</a:t>
            </a:r>
          </a:p>
        </p:txBody>
      </p:sp>
      <p:pic>
        <p:nvPicPr>
          <p:cNvPr id="7" name="Picture 6" descr="sheet4_s2.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model 4: pressure change and tendency</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125</a:t>
            </a:r>
          </a:p>
        </p:txBody>
      </p:sp>
      <p:sp>
        <p:nvSpPr>
          <p:cNvPr id="6" name="Rounded Rectangle 5"/>
          <p:cNvSpPr/>
          <p:nvPr/>
        </p:nvSpPr>
        <p:spPr>
          <a:xfrm>
            <a:off x="365760" y="1097280"/>
            <a:ext cx="5486400" cy="512064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1B3A6B"/>
                </a:solidFill>
                <a:latin typeface="Calibri"/>
              </a:rPr>
              <a:t>Model 4</a:t>
            </a:r>
          </a:p>
          <a:p>
            <a:pPr algn="l">
              <a:spcAft>
                <a:spcPts val="300"/>
              </a:spcAft>
            </a:pPr>
            <a:r>
              <a:rPr sz="2000" b="0" i="0">
                <a:solidFill>
                  <a:srgbClr val="1F1F1F"/>
                </a:solidFill>
                <a:latin typeface="Calibri"/>
              </a:rPr>
              <a:t>The number </a:t>
            </a:r>
            <a:r>
              <a:rPr sz="2000" b="1" i="0">
                <a:solidFill>
                  <a:srgbClr val="1F1F1F"/>
                </a:solidFill>
                <a:latin typeface="Calibri"/>
              </a:rPr>
              <a:t>−11</a:t>
            </a:r>
            <a:r>
              <a:rPr sz="2000" b="0" i="0">
                <a:solidFill>
                  <a:srgbClr val="1F1F1F"/>
                </a:solidFill>
                <a:latin typeface="Calibri"/>
              </a:rPr>
              <a:t> = </a:t>
            </a:r>
            <a:r>
              <a:rPr sz="2000" b="1" i="0">
                <a:solidFill>
                  <a:srgbClr val="1F1F1F"/>
                </a:solidFill>
                <a:latin typeface="Calibri"/>
              </a:rPr>
              <a:t>−1.1 mb</a:t>
            </a:r>
            <a:r>
              <a:rPr sz="2000" b="0" i="0">
                <a:solidFill>
                  <a:srgbClr val="1F1F1F"/>
                </a:solidFill>
                <a:latin typeface="Calibri"/>
              </a:rPr>
              <a:t> in 3 hours</a:t>
            </a:r>
          </a:p>
          <a:p>
            <a:pPr algn="l">
              <a:spcAft>
                <a:spcPts val="300"/>
              </a:spcAft>
            </a:pPr>
            <a:r>
              <a:rPr sz="2000" b="0" i="0">
                <a:solidFill>
                  <a:srgbClr val="1F1F1F"/>
                </a:solidFill>
                <a:latin typeface="Calibri"/>
              </a:rPr>
              <a:t>The symbol falls to the right: pressure is </a:t>
            </a:r>
            <a:r>
              <a:rPr sz="2000" b="1" i="0">
                <a:solidFill>
                  <a:srgbClr val="1F1F1F"/>
                </a:solidFill>
                <a:latin typeface="Calibri"/>
              </a:rPr>
              <a:t>falling</a:t>
            </a:r>
          </a:p>
          <a:p>
            <a:pPr algn="l">
              <a:spcAft>
                <a:spcPts val="300"/>
              </a:spcAft>
            </a:pPr>
          </a:p>
          <a:p>
            <a:pPr algn="l">
              <a:spcAft>
                <a:spcPts val="300"/>
              </a:spcAft>
            </a:pPr>
            <a:r>
              <a:rPr sz="2000" b="1" i="0">
                <a:solidFill>
                  <a:srgbClr val="1F1F1F"/>
                </a:solidFill>
                <a:latin typeface="Calibri"/>
              </a:rPr>
              <a:t>Model 4: 999.7 mb · 27 °F · dew point 20 °F · 100 % · snow · NW 25 kt · −1.1 mb, falling</a:t>
            </a:r>
          </a:p>
        </p:txBody>
      </p:sp>
      <p:pic>
        <p:nvPicPr>
          <p:cNvPr id="7" name="Picture 6" descr="sheet4_s3.png"/>
          <p:cNvPicPr>
            <a:picLocks noChangeAspect="1"/>
          </p:cNvPicPr>
          <p:nvPr/>
        </p:nvPicPr>
        <p:blipFill>
          <a:blip r:embed="rId2"/>
          <a:stretch>
            <a:fillRect/>
          </a:stretch>
        </p:blipFill>
        <p:spPr>
          <a:xfrm>
            <a:off x="6035040" y="1323143"/>
            <a:ext cx="5760720" cy="4668912"/>
          </a:xfrm>
          <a:prstGeom prst="rect">
            <a:avLst/>
          </a:prstGeom>
        </p:spPr>
      </p:pic>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Q12: all four models decoded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126</a:t>
            </a:r>
          </a:p>
        </p:txBody>
      </p:sp>
      <p:graphicFrame>
        <p:nvGraphicFramePr>
          <p:cNvPr id="6" name="Table 5"/>
          <p:cNvGraphicFramePr>
            <a:graphicFrameLocks noGrp="1"/>
          </p:cNvGraphicFramePr>
          <p:nvPr/>
        </p:nvGraphicFramePr>
        <p:xfrm>
          <a:off x="411480" y="1097280"/>
          <a:ext cx="11338557" cy="4572000"/>
        </p:xfrm>
        <a:graphic>
          <a:graphicData uri="http://schemas.openxmlformats.org/drawingml/2006/table">
            <a:tbl>
              <a:tblPr firstRow="0" bandRow="0">
                <a:tableStyleId>{5940675A-B579-460E-94D1-54222C63F5DA}</a:tableStyleId>
              </a:tblPr>
              <a:tblGrid>
                <a:gridCol w="3182753"/>
                <a:gridCol w="1790298"/>
                <a:gridCol w="2387065"/>
                <a:gridCol w="1790298"/>
                <a:gridCol w="2188143"/>
              </a:tblGrid>
              <a:tr h="457200">
                <a:tc>
                  <a:txBody>
                    <a:bodyPr wrap="square"/>
                    <a:lstStyle/>
                    <a:p>
                      <a:pPr algn="l"/>
                    </a:p>
                  </a:txBody>
                  <a:tcPr marL="73152" marR="73152" marT="27432" marB="27432" anchor="ctr">
                    <a:solidFill>
                      <a:srgbClr val="1B3A6B"/>
                    </a:solidFill>
                  </a:tcPr>
                </a:tc>
                <a:tc>
                  <a:txBody>
                    <a:bodyPr wrap="square"/>
                    <a:lstStyle/>
                    <a:p>
                      <a:pPr algn="ctr"/>
                      <a:r>
                        <a:rPr sz="1700" b="1" i="0">
                          <a:solidFill>
                            <a:srgbClr val="FFFFFF"/>
                          </a:solidFill>
                          <a:latin typeface="Calibri"/>
                        </a:rPr>
                        <a:t>Model 1</a:t>
                      </a:r>
                    </a:p>
                  </a:txBody>
                  <a:tcPr marL="73152" marR="73152" marT="27432" marB="27432" anchor="ctr">
                    <a:solidFill>
                      <a:srgbClr val="1B3A6B"/>
                    </a:solidFill>
                  </a:tcPr>
                </a:tc>
                <a:tc>
                  <a:txBody>
                    <a:bodyPr wrap="square"/>
                    <a:lstStyle/>
                    <a:p>
                      <a:pPr algn="ctr"/>
                      <a:r>
                        <a:rPr sz="1700" b="1" i="0">
                          <a:solidFill>
                            <a:srgbClr val="FFFFFF"/>
                          </a:solidFill>
                          <a:latin typeface="Calibri"/>
                        </a:rPr>
                        <a:t>Model 2</a:t>
                      </a:r>
                    </a:p>
                  </a:txBody>
                  <a:tcPr marL="73152" marR="73152" marT="27432" marB="27432" anchor="ctr">
                    <a:solidFill>
                      <a:srgbClr val="1B3A6B"/>
                    </a:solidFill>
                  </a:tcPr>
                </a:tc>
                <a:tc>
                  <a:txBody>
                    <a:bodyPr wrap="square"/>
                    <a:lstStyle/>
                    <a:p>
                      <a:pPr algn="ctr"/>
                      <a:r>
                        <a:rPr sz="1700" b="1" i="0">
                          <a:solidFill>
                            <a:srgbClr val="FFFFFF"/>
                          </a:solidFill>
                          <a:latin typeface="Calibri"/>
                        </a:rPr>
                        <a:t>Model 3</a:t>
                      </a:r>
                    </a:p>
                  </a:txBody>
                  <a:tcPr marL="73152" marR="73152" marT="27432" marB="27432" anchor="ctr">
                    <a:solidFill>
                      <a:srgbClr val="1B3A6B"/>
                    </a:solidFill>
                  </a:tcPr>
                </a:tc>
                <a:tc>
                  <a:txBody>
                    <a:bodyPr wrap="square"/>
                    <a:lstStyle/>
                    <a:p>
                      <a:pPr algn="ctr"/>
                      <a:r>
                        <a:rPr sz="1700" b="1" i="0">
                          <a:solidFill>
                            <a:srgbClr val="FFFFFF"/>
                          </a:solidFill>
                          <a:latin typeface="Calibri"/>
                        </a:rPr>
                        <a:t>Model 4</a:t>
                      </a:r>
                    </a:p>
                  </a:txBody>
                  <a:tcPr marL="73152" marR="73152" marT="27432" marB="27432" anchor="ctr">
                    <a:solidFill>
                      <a:srgbClr val="1B3A6B"/>
                    </a:solidFill>
                  </a:tcPr>
                </a:tc>
              </a:tr>
              <a:tr h="457200">
                <a:tc>
                  <a:txBody>
                    <a:bodyPr wrap="square"/>
                    <a:lstStyle/>
                    <a:p>
                      <a:pPr algn="l"/>
                      <a:r>
                        <a:rPr sz="1700" b="1" i="0">
                          <a:solidFill>
                            <a:srgbClr val="1F1F1F"/>
                          </a:solidFill>
                          <a:latin typeface="Calibri"/>
                        </a:rPr>
                        <a:t>Barometric pressure (mb)</a:t>
                      </a:r>
                    </a:p>
                  </a:txBody>
                  <a:tcPr marL="73152" marR="73152" marT="27432" marB="27432" anchor="ctr">
                    <a:solidFill>
                      <a:srgbClr val="FFFFFF"/>
                    </a:solidFill>
                  </a:tcPr>
                </a:tc>
                <a:tc>
                  <a:txBody>
                    <a:bodyPr wrap="square"/>
                    <a:lstStyle/>
                    <a:p>
                      <a:pPr algn="ctr"/>
                      <a:r>
                        <a:rPr sz="1700" b="0" i="0">
                          <a:solidFill>
                            <a:srgbClr val="1F1F1F"/>
                          </a:solidFill>
                          <a:latin typeface="Calibri"/>
                        </a:rPr>
                        <a:t>1002.4</a:t>
                      </a:r>
                    </a:p>
                  </a:txBody>
                  <a:tcPr marL="73152" marR="73152" marT="27432" marB="27432" anchor="ctr">
                    <a:solidFill>
                      <a:srgbClr val="FFFFFF"/>
                    </a:solidFill>
                  </a:tcPr>
                </a:tc>
                <a:tc>
                  <a:txBody>
                    <a:bodyPr wrap="square"/>
                    <a:lstStyle/>
                    <a:p>
                      <a:pPr algn="ctr"/>
                      <a:r>
                        <a:rPr sz="1700" b="0" i="0">
                          <a:solidFill>
                            <a:srgbClr val="1F1F1F"/>
                          </a:solidFill>
                          <a:latin typeface="Calibri"/>
                        </a:rPr>
                        <a:t>999.8</a:t>
                      </a:r>
                    </a:p>
                  </a:txBody>
                  <a:tcPr marL="73152" marR="73152" marT="27432" marB="27432" anchor="ctr">
                    <a:solidFill>
                      <a:srgbClr val="FFFFFF"/>
                    </a:solidFill>
                  </a:tcPr>
                </a:tc>
                <a:tc>
                  <a:txBody>
                    <a:bodyPr wrap="square"/>
                    <a:lstStyle/>
                    <a:p>
                      <a:pPr algn="ctr"/>
                      <a:r>
                        <a:rPr sz="1700" b="0" i="0">
                          <a:solidFill>
                            <a:srgbClr val="1F1F1F"/>
                          </a:solidFill>
                          <a:latin typeface="Calibri"/>
                        </a:rPr>
                        <a:t>1011.7</a:t>
                      </a:r>
                    </a:p>
                  </a:txBody>
                  <a:tcPr marL="73152" marR="73152" marT="27432" marB="27432" anchor="ctr">
                    <a:solidFill>
                      <a:srgbClr val="FFFFFF"/>
                    </a:solidFill>
                  </a:tcPr>
                </a:tc>
                <a:tc>
                  <a:txBody>
                    <a:bodyPr wrap="square"/>
                    <a:lstStyle/>
                    <a:p>
                      <a:pPr algn="ctr"/>
                      <a:r>
                        <a:rPr sz="1700" b="0" i="0">
                          <a:solidFill>
                            <a:srgbClr val="1F1F1F"/>
                          </a:solidFill>
                          <a:latin typeface="Calibri"/>
                        </a:rPr>
                        <a:t>999.7</a:t>
                      </a:r>
                    </a:p>
                  </a:txBody>
                  <a:tcPr marL="73152" marR="73152" marT="27432" marB="27432" anchor="ctr">
                    <a:solidFill>
                      <a:srgbClr val="FFFFFF"/>
                    </a:solidFill>
                  </a:tcPr>
                </a:tc>
              </a:tr>
              <a:tr h="457200">
                <a:tc>
                  <a:txBody>
                    <a:bodyPr wrap="square"/>
                    <a:lstStyle/>
                    <a:p>
                      <a:pPr algn="l"/>
                      <a:r>
                        <a:rPr sz="1700" b="1" i="0">
                          <a:solidFill>
                            <a:srgbClr val="1F1F1F"/>
                          </a:solidFill>
                          <a:latin typeface="Calibri"/>
                        </a:rPr>
                        <a:t>Temperature (°F)</a:t>
                      </a:r>
                    </a:p>
                  </a:txBody>
                  <a:tcPr marL="73152" marR="73152" marT="27432" marB="27432" anchor="ctr">
                    <a:solidFill>
                      <a:srgbClr val="F7F7F5"/>
                    </a:solidFill>
                  </a:tcPr>
                </a:tc>
                <a:tc>
                  <a:txBody>
                    <a:bodyPr wrap="square"/>
                    <a:lstStyle/>
                    <a:p>
                      <a:pPr algn="ctr"/>
                      <a:r>
                        <a:rPr sz="1700" b="0" i="0">
                          <a:solidFill>
                            <a:srgbClr val="1F1F1F"/>
                          </a:solidFill>
                          <a:latin typeface="Calibri"/>
                        </a:rPr>
                        <a:t>37</a:t>
                      </a:r>
                    </a:p>
                  </a:txBody>
                  <a:tcPr marL="73152" marR="73152" marT="27432" marB="27432" anchor="ctr">
                    <a:solidFill>
                      <a:srgbClr val="F7F7F5"/>
                    </a:solidFill>
                  </a:tcPr>
                </a:tc>
                <a:tc>
                  <a:txBody>
                    <a:bodyPr wrap="square"/>
                    <a:lstStyle/>
                    <a:p>
                      <a:pPr algn="ctr"/>
                      <a:r>
                        <a:rPr sz="1700" b="0" i="0">
                          <a:solidFill>
                            <a:srgbClr val="1F1F1F"/>
                          </a:solidFill>
                          <a:latin typeface="Calibri"/>
                        </a:rPr>
                        <a:t>63</a:t>
                      </a:r>
                    </a:p>
                  </a:txBody>
                  <a:tcPr marL="73152" marR="73152" marT="27432" marB="27432" anchor="ctr">
                    <a:solidFill>
                      <a:srgbClr val="F7F7F5"/>
                    </a:solidFill>
                  </a:tcPr>
                </a:tc>
                <a:tc>
                  <a:txBody>
                    <a:bodyPr wrap="square"/>
                    <a:lstStyle/>
                    <a:p>
                      <a:pPr algn="ctr"/>
                      <a:r>
                        <a:rPr sz="1700" b="0" i="0">
                          <a:solidFill>
                            <a:srgbClr val="1F1F1F"/>
                          </a:solidFill>
                          <a:latin typeface="Calibri"/>
                        </a:rPr>
                        <a:t>43</a:t>
                      </a:r>
                    </a:p>
                  </a:txBody>
                  <a:tcPr marL="73152" marR="73152" marT="27432" marB="27432" anchor="ctr">
                    <a:solidFill>
                      <a:srgbClr val="F7F7F5"/>
                    </a:solidFill>
                  </a:tcPr>
                </a:tc>
                <a:tc>
                  <a:txBody>
                    <a:bodyPr wrap="square"/>
                    <a:lstStyle/>
                    <a:p>
                      <a:pPr algn="ctr"/>
                      <a:r>
                        <a:rPr sz="1700" b="0" i="0">
                          <a:solidFill>
                            <a:srgbClr val="1F1F1F"/>
                          </a:solidFill>
                          <a:latin typeface="Calibri"/>
                        </a:rPr>
                        <a:t>27</a:t>
                      </a:r>
                    </a:p>
                  </a:txBody>
                  <a:tcPr marL="73152" marR="73152" marT="27432" marB="27432" anchor="ctr">
                    <a:solidFill>
                      <a:srgbClr val="F7F7F5"/>
                    </a:solidFill>
                  </a:tcPr>
                </a:tc>
              </a:tr>
              <a:tr h="457200">
                <a:tc>
                  <a:txBody>
                    <a:bodyPr wrap="square"/>
                    <a:lstStyle/>
                    <a:p>
                      <a:pPr algn="l"/>
                      <a:r>
                        <a:rPr sz="1700" b="1" i="0">
                          <a:solidFill>
                            <a:srgbClr val="1F1F1F"/>
                          </a:solidFill>
                          <a:latin typeface="Calibri"/>
                        </a:rPr>
                        <a:t>Dew-point temperature (°F)</a:t>
                      </a:r>
                    </a:p>
                  </a:txBody>
                  <a:tcPr marL="73152" marR="73152" marT="27432" marB="27432" anchor="ctr">
                    <a:solidFill>
                      <a:srgbClr val="FFFFFF"/>
                    </a:solidFill>
                  </a:tcPr>
                </a:tc>
                <a:tc>
                  <a:txBody>
                    <a:bodyPr wrap="square"/>
                    <a:lstStyle/>
                    <a:p>
                      <a:pPr algn="ctr"/>
                      <a:r>
                        <a:rPr sz="1700" b="1" i="0">
                          <a:solidFill>
                            <a:srgbClr val="1F1F1F"/>
                          </a:solidFill>
                          <a:latin typeface="Calibri"/>
                        </a:rPr>
                        <a:t>21</a:t>
                      </a:r>
                    </a:p>
                  </a:txBody>
                  <a:tcPr marL="73152" marR="73152" marT="27432" marB="27432" anchor="ctr">
                    <a:solidFill>
                      <a:srgbClr val="FFFFFF"/>
                    </a:solidFill>
                  </a:tcPr>
                </a:tc>
                <a:tc>
                  <a:txBody>
                    <a:bodyPr wrap="square"/>
                    <a:lstStyle/>
                    <a:p>
                      <a:pPr algn="ctr"/>
                      <a:r>
                        <a:rPr sz="1700" b="0" i="0">
                          <a:solidFill>
                            <a:srgbClr val="1F1F1F"/>
                          </a:solidFill>
                          <a:latin typeface="Calibri"/>
                        </a:rPr>
                        <a:t>60</a:t>
                      </a:r>
                    </a:p>
                  </a:txBody>
                  <a:tcPr marL="73152" marR="73152" marT="27432" marB="27432" anchor="ctr">
                    <a:solidFill>
                      <a:srgbClr val="FFFFFF"/>
                    </a:solidFill>
                  </a:tcPr>
                </a:tc>
                <a:tc>
                  <a:txBody>
                    <a:bodyPr wrap="square"/>
                    <a:lstStyle/>
                    <a:p>
                      <a:pPr algn="ctr"/>
                      <a:r>
                        <a:rPr sz="1700" b="0" i="0">
                          <a:solidFill>
                            <a:srgbClr val="1F1F1F"/>
                          </a:solidFill>
                          <a:latin typeface="Calibri"/>
                        </a:rPr>
                        <a:t>20</a:t>
                      </a:r>
                    </a:p>
                  </a:txBody>
                  <a:tcPr marL="73152" marR="73152" marT="27432" marB="27432" anchor="ctr">
                    <a:solidFill>
                      <a:srgbClr val="FFFFFF"/>
                    </a:solidFill>
                  </a:tcPr>
                </a:tc>
                <a:tc>
                  <a:txBody>
                    <a:bodyPr wrap="square"/>
                    <a:lstStyle/>
                    <a:p>
                      <a:pPr algn="ctr"/>
                      <a:r>
                        <a:rPr sz="1700" b="0" i="0">
                          <a:solidFill>
                            <a:srgbClr val="1F1F1F"/>
                          </a:solidFill>
                          <a:latin typeface="Calibri"/>
                        </a:rPr>
                        <a:t>20</a:t>
                      </a:r>
                    </a:p>
                  </a:txBody>
                  <a:tcPr marL="73152" marR="73152" marT="27432" marB="27432" anchor="ctr">
                    <a:solidFill>
                      <a:srgbClr val="FFFFFF"/>
                    </a:solidFill>
                  </a:tcPr>
                </a:tc>
              </a:tr>
              <a:tr h="457200">
                <a:tc>
                  <a:txBody>
                    <a:bodyPr wrap="square"/>
                    <a:lstStyle/>
                    <a:p>
                      <a:pPr algn="l"/>
                      <a:r>
                        <a:rPr sz="1700" b="1" i="0">
                          <a:solidFill>
                            <a:srgbClr val="1F1F1F"/>
                          </a:solidFill>
                          <a:latin typeface="Calibri"/>
                        </a:rPr>
                        <a:t>Sky coverage (%)</a:t>
                      </a:r>
                    </a:p>
                  </a:txBody>
                  <a:tcPr marL="73152" marR="73152" marT="27432" marB="27432" anchor="ctr">
                    <a:solidFill>
                      <a:srgbClr val="F7F7F5"/>
                    </a:solidFill>
                  </a:tcPr>
                </a:tc>
                <a:tc>
                  <a:txBody>
                    <a:bodyPr wrap="square"/>
                    <a:lstStyle/>
                    <a:p>
                      <a:pPr algn="ctr"/>
                      <a:r>
                        <a:rPr sz="1700" b="0" i="0">
                          <a:solidFill>
                            <a:srgbClr val="1F1F1F"/>
                          </a:solidFill>
                          <a:latin typeface="Calibri"/>
                        </a:rPr>
                        <a:t>0</a:t>
                      </a:r>
                    </a:p>
                  </a:txBody>
                  <a:tcPr marL="73152" marR="73152" marT="27432" marB="27432" anchor="ctr">
                    <a:solidFill>
                      <a:srgbClr val="F7F7F5"/>
                    </a:solidFill>
                  </a:tcPr>
                </a:tc>
                <a:tc>
                  <a:txBody>
                    <a:bodyPr wrap="square"/>
                    <a:lstStyle/>
                    <a:p>
                      <a:pPr algn="ctr"/>
                      <a:r>
                        <a:rPr sz="1700" b="0" i="0">
                          <a:solidFill>
                            <a:srgbClr val="1F1F1F"/>
                          </a:solidFill>
                          <a:latin typeface="Calibri"/>
                        </a:rPr>
                        <a:t>50</a:t>
                      </a:r>
                    </a:p>
                  </a:txBody>
                  <a:tcPr marL="73152" marR="73152" marT="27432" marB="27432" anchor="ctr">
                    <a:solidFill>
                      <a:srgbClr val="F7F7F5"/>
                    </a:solidFill>
                  </a:tcPr>
                </a:tc>
                <a:tc>
                  <a:txBody>
                    <a:bodyPr wrap="square"/>
                    <a:lstStyle/>
                    <a:p>
                      <a:pPr algn="ctr"/>
                      <a:r>
                        <a:rPr sz="1700" b="0" i="0">
                          <a:solidFill>
                            <a:srgbClr val="1F1F1F"/>
                          </a:solidFill>
                          <a:latin typeface="Calibri"/>
                        </a:rPr>
                        <a:t>0</a:t>
                      </a:r>
                    </a:p>
                  </a:txBody>
                  <a:tcPr marL="73152" marR="73152" marT="27432" marB="27432" anchor="ctr">
                    <a:solidFill>
                      <a:srgbClr val="F7F7F5"/>
                    </a:solidFill>
                  </a:tcPr>
                </a:tc>
                <a:tc>
                  <a:txBody>
                    <a:bodyPr wrap="square"/>
                    <a:lstStyle/>
                    <a:p>
                      <a:pPr algn="ctr"/>
                      <a:r>
                        <a:rPr sz="1700" b="0" i="0">
                          <a:solidFill>
                            <a:srgbClr val="1F1F1F"/>
                          </a:solidFill>
                          <a:latin typeface="Calibri"/>
                        </a:rPr>
                        <a:t>100</a:t>
                      </a:r>
                    </a:p>
                  </a:txBody>
                  <a:tcPr marL="73152" marR="73152" marT="27432" marB="27432" anchor="ctr">
                    <a:solidFill>
                      <a:srgbClr val="F7F7F5"/>
                    </a:solidFill>
                  </a:tcPr>
                </a:tc>
              </a:tr>
              <a:tr h="457200">
                <a:tc>
                  <a:txBody>
                    <a:bodyPr wrap="square"/>
                    <a:lstStyle/>
                    <a:p>
                      <a:pPr algn="l"/>
                      <a:r>
                        <a:rPr sz="1700" b="1" i="0">
                          <a:solidFill>
                            <a:srgbClr val="1F1F1F"/>
                          </a:solidFill>
                          <a:latin typeface="Calibri"/>
                        </a:rPr>
                        <a:t>Current weather</a:t>
                      </a:r>
                    </a:p>
                  </a:txBody>
                  <a:tcPr marL="73152" marR="73152" marT="27432" marB="27432" anchor="ctr">
                    <a:solidFill>
                      <a:srgbClr val="FFFFFF"/>
                    </a:solidFill>
                  </a:tcPr>
                </a:tc>
                <a:tc>
                  <a:txBody>
                    <a:bodyPr wrap="square"/>
                    <a:lstStyle/>
                    <a:p>
                      <a:pPr algn="ctr"/>
                      <a:r>
                        <a:rPr sz="1700" b="0" i="0">
                          <a:solidFill>
                            <a:srgbClr val="1F1F1F"/>
                          </a:solidFill>
                          <a:latin typeface="Calibri"/>
                        </a:rPr>
                        <a:t>–</a:t>
                      </a:r>
                    </a:p>
                  </a:txBody>
                  <a:tcPr marL="73152" marR="73152" marT="27432" marB="27432" anchor="ctr">
                    <a:solidFill>
                      <a:srgbClr val="FFFFFF"/>
                    </a:solidFill>
                  </a:tcPr>
                </a:tc>
                <a:tc>
                  <a:txBody>
                    <a:bodyPr wrap="square"/>
                    <a:lstStyle/>
                    <a:p>
                      <a:pPr algn="ctr"/>
                      <a:r>
                        <a:rPr sz="1700" b="0" i="0">
                          <a:solidFill>
                            <a:srgbClr val="1F1F1F"/>
                          </a:solidFill>
                          <a:latin typeface="Calibri"/>
                        </a:rPr>
                        <a:t>thunder, interm. rain</a:t>
                      </a:r>
                    </a:p>
                  </a:txBody>
                  <a:tcPr marL="73152" marR="73152" marT="27432" marB="27432" anchor="ctr">
                    <a:solidFill>
                      <a:srgbClr val="FFFFFF"/>
                    </a:solidFill>
                  </a:tcPr>
                </a:tc>
                <a:tc>
                  <a:txBody>
                    <a:bodyPr wrap="square"/>
                    <a:lstStyle/>
                    <a:p>
                      <a:pPr algn="ctr"/>
                      <a:r>
                        <a:rPr sz="1700" b="0" i="0">
                          <a:solidFill>
                            <a:srgbClr val="1F1F1F"/>
                          </a:solidFill>
                          <a:latin typeface="Calibri"/>
                        </a:rPr>
                        <a:t>–</a:t>
                      </a:r>
                    </a:p>
                  </a:txBody>
                  <a:tcPr marL="73152" marR="73152" marT="27432" marB="27432" anchor="ctr">
                    <a:solidFill>
                      <a:srgbClr val="FFFFFF"/>
                    </a:solidFill>
                  </a:tcPr>
                </a:tc>
                <a:tc>
                  <a:txBody>
                    <a:bodyPr wrap="square"/>
                    <a:lstStyle/>
                    <a:p>
                      <a:pPr algn="ctr"/>
                      <a:r>
                        <a:rPr sz="1700" b="0" i="0">
                          <a:solidFill>
                            <a:srgbClr val="1F1F1F"/>
                          </a:solidFill>
                          <a:latin typeface="Calibri"/>
                        </a:rPr>
                        <a:t>continuous snow</a:t>
                      </a:r>
                    </a:p>
                  </a:txBody>
                  <a:tcPr marL="73152" marR="73152" marT="27432" marB="27432" anchor="ctr">
                    <a:solidFill>
                      <a:srgbClr val="FFFFFF"/>
                    </a:solidFill>
                  </a:tcPr>
                </a:tc>
              </a:tr>
              <a:tr h="457200">
                <a:tc>
                  <a:txBody>
                    <a:bodyPr wrap="square"/>
                    <a:lstStyle/>
                    <a:p>
                      <a:pPr algn="l"/>
                      <a:r>
                        <a:rPr sz="1700" b="1" i="0">
                          <a:solidFill>
                            <a:srgbClr val="1F1F1F"/>
                          </a:solidFill>
                          <a:latin typeface="Calibri"/>
                        </a:rPr>
                        <a:t>Wind speed (knots)</a:t>
                      </a:r>
                    </a:p>
                  </a:txBody>
                  <a:tcPr marL="73152" marR="73152" marT="27432" marB="27432" anchor="ctr">
                    <a:solidFill>
                      <a:srgbClr val="F7F7F5"/>
                    </a:solidFill>
                  </a:tcPr>
                </a:tc>
                <a:tc>
                  <a:txBody>
                    <a:bodyPr wrap="square"/>
                    <a:lstStyle/>
                    <a:p>
                      <a:pPr algn="ctr"/>
                      <a:r>
                        <a:rPr sz="1700" b="0" i="0">
                          <a:solidFill>
                            <a:srgbClr val="1F1F1F"/>
                          </a:solidFill>
                          <a:latin typeface="Calibri"/>
                        </a:rPr>
                        <a:t>calm</a:t>
                      </a:r>
                    </a:p>
                  </a:txBody>
                  <a:tcPr marL="73152" marR="73152" marT="27432" marB="27432" anchor="ctr">
                    <a:solidFill>
                      <a:srgbClr val="F7F7F5"/>
                    </a:solidFill>
                  </a:tcPr>
                </a:tc>
                <a:tc>
                  <a:txBody>
                    <a:bodyPr wrap="square"/>
                    <a:lstStyle/>
                    <a:p>
                      <a:pPr algn="ctr"/>
                      <a:r>
                        <a:rPr sz="1700" b="0" i="0">
                          <a:solidFill>
                            <a:srgbClr val="1F1F1F"/>
                          </a:solidFill>
                          <a:latin typeface="Calibri"/>
                        </a:rPr>
                        <a:t>calm</a:t>
                      </a:r>
                    </a:p>
                  </a:txBody>
                  <a:tcPr marL="73152" marR="73152" marT="27432" marB="27432" anchor="ctr">
                    <a:solidFill>
                      <a:srgbClr val="F7F7F5"/>
                    </a:solidFill>
                  </a:tcPr>
                </a:tc>
                <a:tc>
                  <a:txBody>
                    <a:bodyPr wrap="square"/>
                    <a:lstStyle/>
                    <a:p>
                      <a:pPr algn="ctr"/>
                      <a:r>
                        <a:rPr sz="1700" b="0" i="0">
                          <a:solidFill>
                            <a:srgbClr val="1F1F1F"/>
                          </a:solidFill>
                          <a:latin typeface="Calibri"/>
                        </a:rPr>
                        <a:t>25</a:t>
                      </a:r>
                    </a:p>
                  </a:txBody>
                  <a:tcPr marL="73152" marR="73152" marT="27432" marB="27432" anchor="ctr">
                    <a:solidFill>
                      <a:srgbClr val="F7F7F5"/>
                    </a:solidFill>
                  </a:tcPr>
                </a:tc>
                <a:tc>
                  <a:txBody>
                    <a:bodyPr wrap="square"/>
                    <a:lstStyle/>
                    <a:p>
                      <a:pPr algn="ctr"/>
                      <a:r>
                        <a:rPr sz="1700" b="0" i="0">
                          <a:solidFill>
                            <a:srgbClr val="1F1F1F"/>
                          </a:solidFill>
                          <a:latin typeface="Calibri"/>
                        </a:rPr>
                        <a:t>25</a:t>
                      </a:r>
                    </a:p>
                  </a:txBody>
                  <a:tcPr marL="73152" marR="73152" marT="27432" marB="27432" anchor="ctr">
                    <a:solidFill>
                      <a:srgbClr val="F7F7F5"/>
                    </a:solidFill>
                  </a:tcPr>
                </a:tc>
              </a:tr>
              <a:tr h="457200">
                <a:tc>
                  <a:txBody>
                    <a:bodyPr wrap="square"/>
                    <a:lstStyle/>
                    <a:p>
                      <a:pPr algn="l"/>
                      <a:r>
                        <a:rPr sz="1700" b="1" i="0">
                          <a:solidFill>
                            <a:srgbClr val="1F1F1F"/>
                          </a:solidFill>
                          <a:latin typeface="Calibri"/>
                        </a:rPr>
                        <a:t>Wind direction (from)</a:t>
                      </a:r>
                    </a:p>
                  </a:txBody>
                  <a:tcPr marL="73152" marR="73152" marT="27432" marB="27432" anchor="ctr">
                    <a:solidFill>
                      <a:srgbClr val="FFFFFF"/>
                    </a:solidFill>
                  </a:tcPr>
                </a:tc>
                <a:tc>
                  <a:txBody>
                    <a:bodyPr wrap="square"/>
                    <a:lstStyle/>
                    <a:p>
                      <a:pPr algn="ctr"/>
                      <a:r>
                        <a:rPr sz="1700" b="0" i="0">
                          <a:solidFill>
                            <a:srgbClr val="1F1F1F"/>
                          </a:solidFill>
                          <a:latin typeface="Calibri"/>
                        </a:rPr>
                        <a:t>–</a:t>
                      </a:r>
                    </a:p>
                  </a:txBody>
                  <a:tcPr marL="73152" marR="73152" marT="27432" marB="27432" anchor="ctr">
                    <a:solidFill>
                      <a:srgbClr val="FFFFFF"/>
                    </a:solidFill>
                  </a:tcPr>
                </a:tc>
                <a:tc>
                  <a:txBody>
                    <a:bodyPr wrap="square"/>
                    <a:lstStyle/>
                    <a:p>
                      <a:pPr algn="ctr"/>
                      <a:r>
                        <a:rPr sz="1700" b="0" i="0">
                          <a:solidFill>
                            <a:srgbClr val="1F1F1F"/>
                          </a:solidFill>
                          <a:latin typeface="Calibri"/>
                        </a:rPr>
                        <a:t>–</a:t>
                      </a:r>
                    </a:p>
                  </a:txBody>
                  <a:tcPr marL="73152" marR="73152" marT="27432" marB="27432" anchor="ctr">
                    <a:solidFill>
                      <a:srgbClr val="FFFFFF"/>
                    </a:solidFill>
                  </a:tcPr>
                </a:tc>
                <a:tc>
                  <a:txBody>
                    <a:bodyPr wrap="square"/>
                    <a:lstStyle/>
                    <a:p>
                      <a:pPr algn="ctr"/>
                      <a:r>
                        <a:rPr sz="1700" b="0" i="0">
                          <a:solidFill>
                            <a:srgbClr val="1F1F1F"/>
                          </a:solidFill>
                          <a:latin typeface="Calibri"/>
                        </a:rPr>
                        <a:t>south-west</a:t>
                      </a:r>
                    </a:p>
                  </a:txBody>
                  <a:tcPr marL="73152" marR="73152" marT="27432" marB="27432" anchor="ctr">
                    <a:solidFill>
                      <a:srgbClr val="FFFFFF"/>
                    </a:solidFill>
                  </a:tcPr>
                </a:tc>
                <a:tc>
                  <a:txBody>
                    <a:bodyPr wrap="square"/>
                    <a:lstStyle/>
                    <a:p>
                      <a:pPr algn="ctr"/>
                      <a:r>
                        <a:rPr sz="1700" b="0" i="0">
                          <a:solidFill>
                            <a:srgbClr val="1F1F1F"/>
                          </a:solidFill>
                          <a:latin typeface="Calibri"/>
                        </a:rPr>
                        <a:t>north-west</a:t>
                      </a:r>
                    </a:p>
                  </a:txBody>
                  <a:tcPr marL="73152" marR="73152" marT="27432" marB="27432" anchor="ctr">
                    <a:solidFill>
                      <a:srgbClr val="FFFFFF"/>
                    </a:solidFill>
                  </a:tcPr>
                </a:tc>
              </a:tr>
              <a:tr h="457200">
                <a:tc>
                  <a:txBody>
                    <a:bodyPr wrap="square"/>
                    <a:lstStyle/>
                    <a:p>
                      <a:pPr algn="l"/>
                      <a:r>
                        <a:rPr sz="1700" b="1" i="0">
                          <a:solidFill>
                            <a:srgbClr val="1F1F1F"/>
                          </a:solidFill>
                          <a:latin typeface="Calibri"/>
                        </a:rPr>
                        <a:t>Pressure change in 3 h (mb)</a:t>
                      </a:r>
                    </a:p>
                  </a:txBody>
                  <a:tcPr marL="73152" marR="73152" marT="27432" marB="27432" anchor="ctr">
                    <a:solidFill>
                      <a:srgbClr val="F7F7F5"/>
                    </a:solidFill>
                  </a:tcPr>
                </a:tc>
                <a:tc>
                  <a:txBody>
                    <a:bodyPr wrap="square"/>
                    <a:lstStyle/>
                    <a:p>
                      <a:pPr algn="ctr"/>
                      <a:r>
                        <a:rPr sz="1700" b="0" i="0">
                          <a:solidFill>
                            <a:srgbClr val="1F1F1F"/>
                          </a:solidFill>
                          <a:latin typeface="Calibri"/>
                        </a:rPr>
                        <a:t>–</a:t>
                      </a:r>
                    </a:p>
                  </a:txBody>
                  <a:tcPr marL="73152" marR="73152" marT="27432" marB="27432" anchor="ctr">
                    <a:solidFill>
                      <a:srgbClr val="F7F7F5"/>
                    </a:solidFill>
                  </a:tcPr>
                </a:tc>
                <a:tc>
                  <a:txBody>
                    <a:bodyPr wrap="square"/>
                    <a:lstStyle/>
                    <a:p>
                      <a:pPr algn="ctr"/>
                      <a:r>
                        <a:rPr sz="1700" b="0" i="0">
                          <a:solidFill>
                            <a:srgbClr val="1F1F1F"/>
                          </a:solidFill>
                          <a:latin typeface="Calibri"/>
                        </a:rPr>
                        <a:t>–</a:t>
                      </a:r>
                    </a:p>
                  </a:txBody>
                  <a:tcPr marL="73152" marR="73152" marT="27432" marB="27432" anchor="ctr">
                    <a:solidFill>
                      <a:srgbClr val="F7F7F5"/>
                    </a:solidFill>
                  </a:tcPr>
                </a:tc>
                <a:tc>
                  <a:txBody>
                    <a:bodyPr wrap="square"/>
                    <a:lstStyle/>
                    <a:p>
                      <a:pPr algn="ctr"/>
                      <a:r>
                        <a:rPr sz="1700" b="0" i="0">
                          <a:solidFill>
                            <a:srgbClr val="1F1F1F"/>
                          </a:solidFill>
                          <a:latin typeface="Calibri"/>
                        </a:rPr>
                        <a:t>+1.7</a:t>
                      </a:r>
                    </a:p>
                  </a:txBody>
                  <a:tcPr marL="73152" marR="73152" marT="27432" marB="27432" anchor="ctr">
                    <a:solidFill>
                      <a:srgbClr val="F7F7F5"/>
                    </a:solidFill>
                  </a:tcPr>
                </a:tc>
                <a:tc>
                  <a:txBody>
                    <a:bodyPr wrap="square"/>
                    <a:lstStyle/>
                    <a:p>
                      <a:pPr algn="ctr"/>
                      <a:r>
                        <a:rPr sz="1700" b="0" i="0">
                          <a:solidFill>
                            <a:srgbClr val="1F1F1F"/>
                          </a:solidFill>
                          <a:latin typeface="Calibri"/>
                        </a:rPr>
                        <a:t>−1.1</a:t>
                      </a:r>
                    </a:p>
                  </a:txBody>
                  <a:tcPr marL="73152" marR="73152" marT="27432" marB="27432" anchor="ctr">
                    <a:solidFill>
                      <a:srgbClr val="F7F7F5"/>
                    </a:solidFill>
                  </a:tcPr>
                </a:tc>
              </a:tr>
              <a:tr h="457200">
                <a:tc>
                  <a:txBody>
                    <a:bodyPr wrap="square"/>
                    <a:lstStyle/>
                    <a:p>
                      <a:pPr algn="l"/>
                      <a:r>
                        <a:rPr sz="1700" b="1" i="0">
                          <a:solidFill>
                            <a:srgbClr val="1F1F1F"/>
                          </a:solidFill>
                          <a:latin typeface="Calibri"/>
                        </a:rPr>
                        <a:t>Tendency</a:t>
                      </a:r>
                    </a:p>
                  </a:txBody>
                  <a:tcPr marL="73152" marR="73152" marT="27432" marB="27432" anchor="ctr">
                    <a:solidFill>
                      <a:srgbClr val="FFFFFF"/>
                    </a:solidFill>
                  </a:tcPr>
                </a:tc>
                <a:tc>
                  <a:txBody>
                    <a:bodyPr wrap="square"/>
                    <a:lstStyle/>
                    <a:p>
                      <a:pPr algn="ctr"/>
                      <a:r>
                        <a:rPr sz="1700" b="0" i="0">
                          <a:solidFill>
                            <a:srgbClr val="1F1F1F"/>
                          </a:solidFill>
                          <a:latin typeface="Calibri"/>
                        </a:rPr>
                        <a:t>–</a:t>
                      </a:r>
                    </a:p>
                  </a:txBody>
                  <a:tcPr marL="73152" marR="73152" marT="27432" marB="27432" anchor="ctr">
                    <a:solidFill>
                      <a:srgbClr val="FFFFFF"/>
                    </a:solidFill>
                  </a:tcPr>
                </a:tc>
                <a:tc>
                  <a:txBody>
                    <a:bodyPr wrap="square"/>
                    <a:lstStyle/>
                    <a:p>
                      <a:pPr algn="ctr"/>
                      <a:r>
                        <a:rPr sz="1700" b="0" i="0">
                          <a:solidFill>
                            <a:srgbClr val="1F1F1F"/>
                          </a:solidFill>
                          <a:latin typeface="Calibri"/>
                        </a:rPr>
                        <a:t>–</a:t>
                      </a:r>
                    </a:p>
                  </a:txBody>
                  <a:tcPr marL="73152" marR="73152" marT="27432" marB="27432" anchor="ctr">
                    <a:solidFill>
                      <a:srgbClr val="FFFFFF"/>
                    </a:solidFill>
                  </a:tcPr>
                </a:tc>
                <a:tc>
                  <a:txBody>
                    <a:bodyPr wrap="square"/>
                    <a:lstStyle/>
                    <a:p>
                      <a:pPr algn="ctr"/>
                      <a:r>
                        <a:rPr sz="1700" b="0" i="0">
                          <a:solidFill>
                            <a:srgbClr val="1F1F1F"/>
                          </a:solidFill>
                          <a:latin typeface="Calibri"/>
                        </a:rPr>
                        <a:t>rising</a:t>
                      </a:r>
                    </a:p>
                  </a:txBody>
                  <a:tcPr marL="73152" marR="73152" marT="27432" marB="27432" anchor="ctr">
                    <a:solidFill>
                      <a:srgbClr val="FFFFFF"/>
                    </a:solidFill>
                  </a:tcPr>
                </a:tc>
                <a:tc>
                  <a:txBody>
                    <a:bodyPr wrap="square"/>
                    <a:lstStyle/>
                    <a:p>
                      <a:pPr algn="ctr"/>
                      <a:r>
                        <a:rPr sz="1700" b="0" i="0">
                          <a:solidFill>
                            <a:srgbClr val="1F1F1F"/>
                          </a:solidFill>
                          <a:latin typeface="Calibri"/>
                        </a:rPr>
                        <a:t>falling</a:t>
                      </a:r>
                    </a:p>
                  </a:txBody>
                  <a:tcPr marL="73152" marR="73152" marT="27432" marB="27432" anchor="ctr">
                    <a:solidFill>
                      <a:srgbClr val="FFFFFF"/>
                    </a:solidFill>
                  </a:tcPr>
                </a:tc>
              </a:tr>
            </a:tbl>
          </a:graphicData>
        </a:graphic>
      </p:graphicFrame>
      <p:sp>
        <p:nvSpPr>
          <p:cNvPr id="7" name="TextBox 6"/>
          <p:cNvSpPr txBox="1"/>
          <p:nvPr/>
        </p:nvSpPr>
        <p:spPr>
          <a:xfrm>
            <a:off x="457200" y="5760720"/>
            <a:ext cx="11247120" cy="548640"/>
          </a:xfrm>
          <a:prstGeom prst="rect">
            <a:avLst/>
          </a:prstGeom>
          <a:noFill/>
        </p:spPr>
        <p:txBody>
          <a:bodyPr wrap="square" anchor="t" lIns="45720" rIns="45720">
            <a:spAutoFit/>
          </a:bodyPr>
          <a:lstStyle/>
          <a:p>
            <a:pPr algn="l">
              <a:spcAft>
                <a:spcPts val="600"/>
              </a:spcAft>
            </a:pPr>
            <a:r>
              <a:rPr sz="1400" b="0" i="0">
                <a:solidFill>
                  <a:srgbClr val="6B6B6B"/>
                </a:solidFill>
                <a:latin typeface="Calibri"/>
              </a:rPr>
              <a:t>Stories: 1 = cold, dry, clear night · 2 = warm, humid, thundery · 3 = clear, windy, pressure rising · 4 = overcast, snowing, pressure falling (a depression arrives).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G: try it yourself</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127</a:t>
            </a:r>
          </a:p>
        </p:txBody>
      </p:sp>
      <p:sp>
        <p:nvSpPr>
          <p:cNvPr id="6" name="TextBox 5"/>
          <p:cNvSpPr txBox="1"/>
          <p:nvPr/>
        </p:nvSpPr>
        <p:spPr>
          <a:xfrm>
            <a:off x="411480" y="1051560"/>
            <a:ext cx="11338560" cy="822960"/>
          </a:xfrm>
          <a:prstGeom prst="rect">
            <a:avLst/>
          </a:prstGeom>
          <a:noFill/>
        </p:spPr>
        <p:txBody>
          <a:bodyPr wrap="square" anchor="t" lIns="45720" rIns="45720">
            <a:spAutoFit/>
          </a:bodyPr>
          <a:lstStyle/>
          <a:p>
            <a:pPr algn="l">
              <a:spcAft>
                <a:spcPts val="600"/>
              </a:spcAft>
            </a:pPr>
            <a:r>
              <a:rPr sz="2100" b="0" i="0">
                <a:solidFill>
                  <a:srgbClr val="1F1F1F"/>
                </a:solidFill>
                <a:latin typeface="Calibri"/>
              </a:rPr>
              <a:t>Decode each model: pressure, temperature and dew point in °F and °C, relative humidity, sky cover, weather, wind, pressure change and tendency.</a:t>
            </a:r>
          </a:p>
        </p:txBody>
      </p:sp>
      <p:pic>
        <p:nvPicPr>
          <p:cNvPr id="7" name="Picture 6" descr="practice1.png"/>
          <p:cNvPicPr>
            <a:picLocks noChangeAspect="1"/>
          </p:cNvPicPr>
          <p:nvPr/>
        </p:nvPicPr>
        <p:blipFill>
          <a:blip r:embed="rId3"/>
          <a:stretch>
            <a:fillRect/>
          </a:stretch>
        </p:blipFill>
        <p:spPr>
          <a:xfrm>
            <a:off x="274320" y="2412670"/>
            <a:ext cx="3749039" cy="3038498"/>
          </a:xfrm>
          <a:prstGeom prst="rect">
            <a:avLst/>
          </a:prstGeom>
        </p:spPr>
      </p:pic>
      <p:sp>
        <p:nvSpPr>
          <p:cNvPr id="8" name="TextBox 7"/>
          <p:cNvSpPr txBox="1"/>
          <p:nvPr/>
        </p:nvSpPr>
        <p:spPr>
          <a:xfrm>
            <a:off x="274320" y="5852160"/>
            <a:ext cx="3749039" cy="457200"/>
          </a:xfrm>
          <a:prstGeom prst="rect">
            <a:avLst/>
          </a:prstGeom>
          <a:noFill/>
        </p:spPr>
        <p:txBody>
          <a:bodyPr wrap="square" anchor="t" lIns="45720" rIns="45720">
            <a:spAutoFit/>
          </a:bodyPr>
          <a:lstStyle/>
          <a:p>
            <a:pPr algn="ctr">
              <a:spcAft>
                <a:spcPts val="600"/>
              </a:spcAft>
            </a:pPr>
            <a:r>
              <a:rPr sz="2000" b="1" i="0">
                <a:solidFill>
                  <a:srgbClr val="1F1F1F"/>
                </a:solidFill>
                <a:latin typeface="Calibri"/>
              </a:rPr>
              <a:t>G1</a:t>
            </a:r>
          </a:p>
        </p:txBody>
      </p:sp>
      <p:pic>
        <p:nvPicPr>
          <p:cNvPr id="9" name="Picture 8" descr="practice2.png"/>
          <p:cNvPicPr>
            <a:picLocks noChangeAspect="1"/>
          </p:cNvPicPr>
          <p:nvPr/>
        </p:nvPicPr>
        <p:blipFill>
          <a:blip r:embed="rId4"/>
          <a:stretch>
            <a:fillRect/>
          </a:stretch>
        </p:blipFill>
        <p:spPr>
          <a:xfrm>
            <a:off x="4206240" y="2412670"/>
            <a:ext cx="3749039" cy="3038498"/>
          </a:xfrm>
          <a:prstGeom prst="rect">
            <a:avLst/>
          </a:prstGeom>
        </p:spPr>
      </p:pic>
      <p:sp>
        <p:nvSpPr>
          <p:cNvPr id="10" name="TextBox 9"/>
          <p:cNvSpPr txBox="1"/>
          <p:nvPr/>
        </p:nvSpPr>
        <p:spPr>
          <a:xfrm>
            <a:off x="4206240" y="5852160"/>
            <a:ext cx="3749039" cy="457200"/>
          </a:xfrm>
          <a:prstGeom prst="rect">
            <a:avLst/>
          </a:prstGeom>
          <a:noFill/>
        </p:spPr>
        <p:txBody>
          <a:bodyPr wrap="square" anchor="t" lIns="45720" rIns="45720">
            <a:spAutoFit/>
          </a:bodyPr>
          <a:lstStyle/>
          <a:p>
            <a:pPr algn="ctr">
              <a:spcAft>
                <a:spcPts val="600"/>
              </a:spcAft>
            </a:pPr>
            <a:r>
              <a:rPr sz="2000" b="1" i="0">
                <a:solidFill>
                  <a:srgbClr val="1F1F1F"/>
                </a:solidFill>
                <a:latin typeface="Calibri"/>
              </a:rPr>
              <a:t>G2</a:t>
            </a:r>
          </a:p>
        </p:txBody>
      </p:sp>
      <p:pic>
        <p:nvPicPr>
          <p:cNvPr id="11" name="Picture 10" descr="practice3.png"/>
          <p:cNvPicPr>
            <a:picLocks noChangeAspect="1"/>
          </p:cNvPicPr>
          <p:nvPr/>
        </p:nvPicPr>
        <p:blipFill>
          <a:blip r:embed="rId5"/>
          <a:stretch>
            <a:fillRect/>
          </a:stretch>
        </p:blipFill>
        <p:spPr>
          <a:xfrm>
            <a:off x="8138160" y="2412670"/>
            <a:ext cx="3749039" cy="3038498"/>
          </a:xfrm>
          <a:prstGeom prst="rect">
            <a:avLst/>
          </a:prstGeom>
        </p:spPr>
      </p:pic>
      <p:sp>
        <p:nvSpPr>
          <p:cNvPr id="12" name="TextBox 11"/>
          <p:cNvSpPr txBox="1"/>
          <p:nvPr/>
        </p:nvSpPr>
        <p:spPr>
          <a:xfrm>
            <a:off x="8138160" y="5852160"/>
            <a:ext cx="3749039" cy="457200"/>
          </a:xfrm>
          <a:prstGeom prst="rect">
            <a:avLst/>
          </a:prstGeom>
          <a:noFill/>
        </p:spPr>
        <p:txBody>
          <a:bodyPr wrap="square" anchor="t" lIns="45720" rIns="45720">
            <a:spAutoFit/>
          </a:bodyPr>
          <a:lstStyle/>
          <a:p>
            <a:pPr algn="ctr">
              <a:spcAft>
                <a:spcPts val="600"/>
              </a:spcAft>
            </a:pPr>
            <a:r>
              <a:rPr sz="2000" b="1" i="0">
                <a:solidFill>
                  <a:srgbClr val="1F1F1F"/>
                </a:solidFill>
                <a:latin typeface="Calibri"/>
              </a:rPr>
              <a:t>G3</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G: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Station models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128</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200" b="1" i="0">
                <a:solidFill>
                  <a:srgbClr val="007F5F"/>
                </a:solidFill>
                <a:latin typeface="Calibri"/>
              </a:rPr>
              <a:t>Answers</a:t>
            </a:r>
          </a:p>
          <a:p>
            <a:pPr algn="l">
              <a:spcAft>
                <a:spcPts val="1200"/>
              </a:spcAft>
            </a:pPr>
            <a:r>
              <a:rPr sz="2200" b="1" i="0">
                <a:solidFill>
                  <a:srgbClr val="1F1F1F"/>
                </a:solidFill>
                <a:latin typeface="Calibri"/>
              </a:rPr>
              <a:t>G1.</a:t>
            </a:r>
            <a:r>
              <a:rPr sz="2200" b="0" i="0">
                <a:solidFill>
                  <a:srgbClr val="1F1F1F"/>
                </a:solidFill>
                <a:latin typeface="Calibri"/>
              </a:rPr>
              <a:t>  150 → 15.0 → </a:t>
            </a:r>
            <a:r>
              <a:rPr sz="2200" b="1" i="0">
                <a:solidFill>
                  <a:srgbClr val="007F5F"/>
                </a:solidFill>
                <a:latin typeface="Calibri"/>
              </a:rPr>
              <a:t>1015.0 hPa</a:t>
            </a:r>
            <a:r>
              <a:rPr sz="2200" b="0" i="0">
                <a:solidFill>
                  <a:srgbClr val="1F1F1F"/>
                </a:solidFill>
                <a:latin typeface="Calibri"/>
              </a:rPr>
              <a:t>; 72 °F (22.2 °C), dew point 65 °F (18.3 °C), RH ≈ 79 %; sky ≈ 25 %; wind </a:t>
            </a:r>
            <a:r>
              <a:rPr sz="2200" b="1" i="0">
                <a:solidFill>
                  <a:srgbClr val="1F1F1F"/>
                </a:solidFill>
                <a:latin typeface="Calibri"/>
              </a:rPr>
              <a:t>from the south</a:t>
            </a:r>
            <a:r>
              <a:rPr sz="2200" b="0" i="0">
                <a:solidFill>
                  <a:srgbClr val="1F1F1F"/>
                </a:solidFill>
                <a:latin typeface="Calibri"/>
              </a:rPr>
              <a:t>, 15 kt; +21 = up 2.1 hPa, rising then steady.</a:t>
            </a:r>
          </a:p>
          <a:p>
            <a:pPr algn="l">
              <a:spcAft>
                <a:spcPts val="1200"/>
              </a:spcAft>
            </a:pPr>
            <a:r>
              <a:rPr sz="2200" b="1" i="0">
                <a:solidFill>
                  <a:srgbClr val="1F1F1F"/>
                </a:solidFill>
                <a:latin typeface="Calibri"/>
              </a:rPr>
              <a:t>G2.</a:t>
            </a:r>
            <a:r>
              <a:rPr sz="2200" b="0" i="0">
                <a:solidFill>
                  <a:srgbClr val="1F1F1F"/>
                </a:solidFill>
                <a:latin typeface="Calibri"/>
              </a:rPr>
              <a:t>  975 (≥ 500) → 97.5 → </a:t>
            </a:r>
            <a:r>
              <a:rPr sz="2200" b="1" i="0">
                <a:solidFill>
                  <a:srgbClr val="007F5F"/>
                </a:solidFill>
                <a:latin typeface="Calibri"/>
              </a:rPr>
              <a:t>997.5 hPa</a:t>
            </a:r>
            <a:r>
              <a:rPr sz="2200" b="0" i="0">
                <a:solidFill>
                  <a:srgbClr val="1F1F1F"/>
                </a:solidFill>
                <a:latin typeface="Calibri"/>
              </a:rPr>
              <a:t>; 48 °F (8.9 °C), dew point 47 °F, RH ≈ 96 %; overcast; continuous rain; wind </a:t>
            </a:r>
            <a:r>
              <a:rPr sz="2200" b="1" i="0">
                <a:solidFill>
                  <a:srgbClr val="1F1F1F"/>
                </a:solidFill>
                <a:latin typeface="Calibri"/>
              </a:rPr>
              <a:t>from the north-east</a:t>
            </a:r>
            <a:r>
              <a:rPr sz="2200" b="0" i="0">
                <a:solidFill>
                  <a:srgbClr val="1F1F1F"/>
                </a:solidFill>
                <a:latin typeface="Calibri"/>
              </a:rPr>
              <a:t>, 35 kt; −32 = down 3.2 hPa, falling steadily.</a:t>
            </a:r>
          </a:p>
          <a:p>
            <a:pPr algn="l">
              <a:spcAft>
                <a:spcPts val="1200"/>
              </a:spcAft>
            </a:pPr>
            <a:r>
              <a:rPr sz="2200" b="1" i="0">
                <a:solidFill>
                  <a:srgbClr val="1F1F1F"/>
                </a:solidFill>
                <a:latin typeface="Calibri"/>
              </a:rPr>
              <a:t>G3.</a:t>
            </a:r>
            <a:r>
              <a:rPr sz="2200" b="0" i="0">
                <a:solidFill>
                  <a:srgbClr val="1F1F1F"/>
                </a:solidFill>
                <a:latin typeface="Calibri"/>
              </a:rPr>
              <a:t>  084 (&lt; 500) → 08.4 → </a:t>
            </a:r>
            <a:r>
              <a:rPr sz="2200" b="1" i="0">
                <a:solidFill>
                  <a:srgbClr val="007F5F"/>
                </a:solidFill>
                <a:latin typeface="Calibri"/>
              </a:rPr>
              <a:t>1008.4 hPa</a:t>
            </a:r>
            <a:r>
              <a:rPr sz="2200" b="0" i="0">
                <a:solidFill>
                  <a:srgbClr val="1F1F1F"/>
                </a:solidFill>
                <a:latin typeface="Calibri"/>
              </a:rPr>
              <a:t>; 5 °F (−15 °C), dew point 3 °F, RH ≈ 91 %; sky 6/10; continuous drizzle; wind </a:t>
            </a:r>
            <a:r>
              <a:rPr sz="2200" b="1" i="0">
                <a:solidFill>
                  <a:srgbClr val="1F1F1F"/>
                </a:solidFill>
                <a:latin typeface="Calibri"/>
              </a:rPr>
              <a:t>from the west</a:t>
            </a:r>
            <a:r>
              <a:rPr sz="2200" b="0" i="0">
                <a:solidFill>
                  <a:srgbClr val="1F1F1F"/>
                </a:solidFill>
                <a:latin typeface="Calibri"/>
              </a:rPr>
              <a:t>, 10 kt; −4 = down 0.4 hPa.</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Streamlines: lines parallel to the wind</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Streamlines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129</a:t>
            </a:r>
          </a:p>
        </p:txBody>
      </p:sp>
      <p:sp>
        <p:nvSpPr>
          <p:cNvPr id="6" name="TextBox 5"/>
          <p:cNvSpPr txBox="1"/>
          <p:nvPr/>
        </p:nvSpPr>
        <p:spPr>
          <a:xfrm>
            <a:off x="411480" y="1051560"/>
            <a:ext cx="4937760" cy="52120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A </a:t>
            </a:r>
            <a:r>
              <a:rPr sz="1900" b="1" i="0">
                <a:solidFill>
                  <a:srgbClr val="1F1F1F"/>
                </a:solidFill>
                <a:latin typeface="Calibri"/>
              </a:rPr>
              <a:t>streamline</a:t>
            </a:r>
            <a:r>
              <a:rPr sz="1900" b="0" i="0">
                <a:solidFill>
                  <a:srgbClr val="1F1F1F"/>
                </a:solidFill>
                <a:latin typeface="Calibri"/>
              </a:rPr>
              <a:t> is a line that is everywhere </a:t>
            </a:r>
            <a:r>
              <a:rPr sz="1900" b="1" i="0">
                <a:solidFill>
                  <a:srgbClr val="1F1F1F"/>
                </a:solidFill>
                <a:latin typeface="Calibri"/>
              </a:rPr>
              <a:t>parallel to the wind</a:t>
            </a:r>
            <a:r>
              <a:rPr sz="1900" b="0" i="0">
                <a:solidFill>
                  <a:srgbClr val="1F1F1F"/>
                </a:solidFill>
                <a:latin typeface="Calibri"/>
              </a:rPr>
              <a:t>.</a:t>
            </a:r>
          </a:p>
          <a:p>
            <a:pPr algn="l">
              <a:spcAft>
                <a:spcPts val="600"/>
              </a:spcAft>
            </a:pPr>
            <a:r>
              <a:rPr sz="1900" b="0" i="0">
                <a:solidFill>
                  <a:srgbClr val="1F1F1F"/>
                </a:solidFill>
                <a:latin typeface="Calibri"/>
              </a:rPr>
              <a:t>•  begins at an </a:t>
            </a:r>
            <a:r>
              <a:rPr sz="1900" b="1" i="0">
                <a:solidFill>
                  <a:srgbClr val="1F1F1F"/>
                </a:solidFill>
                <a:latin typeface="Calibri"/>
              </a:rPr>
              <a:t>upwind</a:t>
            </a:r>
            <a:r>
              <a:rPr sz="1900" b="0" i="0">
                <a:solidFill>
                  <a:srgbClr val="1F1F1F"/>
                </a:solidFill>
                <a:latin typeface="Calibri"/>
              </a:rPr>
              <a:t> station</a:t>
            </a:r>
          </a:p>
          <a:p>
            <a:pPr algn="l">
              <a:spcAft>
                <a:spcPts val="600"/>
              </a:spcAft>
            </a:pPr>
            <a:r>
              <a:rPr sz="1900" b="0" i="0">
                <a:solidFill>
                  <a:srgbClr val="1F1F1F"/>
                </a:solidFill>
                <a:latin typeface="Calibri"/>
              </a:rPr>
              <a:t>•  carries an </a:t>
            </a:r>
            <a:r>
              <a:rPr sz="1900" b="1" i="0">
                <a:solidFill>
                  <a:srgbClr val="1F1F1F"/>
                </a:solidFill>
                <a:latin typeface="Calibri"/>
              </a:rPr>
              <a:t>arrow head</a:t>
            </a:r>
            <a:r>
              <a:rPr sz="1900" b="0" i="0">
                <a:solidFill>
                  <a:srgbClr val="1F1F1F"/>
                </a:solidFill>
                <a:latin typeface="Calibri"/>
              </a:rPr>
              <a:t> downwind</a:t>
            </a:r>
          </a:p>
          <a:p>
            <a:pPr algn="l">
              <a:spcAft>
                <a:spcPts val="600"/>
              </a:spcAft>
            </a:pPr>
            <a:r>
              <a:rPr sz="1900" b="0" i="0">
                <a:solidFill>
                  <a:srgbClr val="1F1F1F"/>
                </a:solidFill>
                <a:latin typeface="Calibri"/>
              </a:rPr>
              <a:t>•  </a:t>
            </a:r>
            <a:r>
              <a:rPr sz="1900" b="1" i="0">
                <a:solidFill>
                  <a:srgbClr val="1F1F1F"/>
                </a:solidFill>
                <a:latin typeface="Calibri"/>
              </a:rPr>
              <a:t>never crosses</a:t>
            </a:r>
            <a:r>
              <a:rPr sz="1900" b="0" i="0">
                <a:solidFill>
                  <a:srgbClr val="1F1F1F"/>
                </a:solidFill>
                <a:latin typeface="Calibri"/>
              </a:rPr>
              <a:t> another streamline</a:t>
            </a:r>
          </a:p>
          <a:p>
            <a:pPr algn="l">
              <a:spcAft>
                <a:spcPts val="600"/>
              </a:spcAft>
            </a:pPr>
            <a:r>
              <a:rPr sz="1900" b="1" i="0">
                <a:solidFill>
                  <a:srgbClr val="1F1F1F"/>
                </a:solidFill>
                <a:latin typeface="Calibri"/>
              </a:rPr>
              <a:t>Reading a barb:</a:t>
            </a:r>
            <a:r>
              <a:rPr sz="1900" b="0" i="0">
                <a:solidFill>
                  <a:srgbClr val="1F1F1F"/>
                </a:solidFill>
                <a:latin typeface="Calibri"/>
              </a:rPr>
              <a:t> the staff points to where the wind comes </a:t>
            </a:r>
            <a:r>
              <a:rPr sz="1900" b="1" i="0">
                <a:solidFill>
                  <a:srgbClr val="1F1F1F"/>
                </a:solidFill>
                <a:latin typeface="Calibri"/>
              </a:rPr>
              <a:t>from</a:t>
            </a:r>
            <a:r>
              <a:rPr sz="1900" b="0" i="0">
                <a:solidFill>
                  <a:srgbClr val="1F1F1F"/>
                </a:solidFill>
                <a:latin typeface="Calibri"/>
              </a:rPr>
              <a:t>; the air moves </a:t>
            </a:r>
            <a:r>
              <a:rPr sz="1900" b="1" i="0">
                <a:solidFill>
                  <a:srgbClr val="1F1F1F"/>
                </a:solidFill>
                <a:latin typeface="Calibri"/>
              </a:rPr>
              <a:t>away</a:t>
            </a:r>
            <a:r>
              <a:rPr sz="1900" b="0" i="0">
                <a:solidFill>
                  <a:srgbClr val="1F1F1F"/>
                </a:solidFill>
                <a:latin typeface="Calibri"/>
              </a:rPr>
              <a:t> from the staff. Staff to the lower left = south-west wind = air heading </a:t>
            </a:r>
            <a:r>
              <a:rPr sz="1900" b="1" i="0">
                <a:solidFill>
                  <a:srgbClr val="1F1F1F"/>
                </a:solidFill>
                <a:latin typeface="Calibri"/>
              </a:rPr>
              <a:t>north-east</a:t>
            </a:r>
            <a:r>
              <a:rPr sz="1900" b="0" i="0">
                <a:solidFill>
                  <a:srgbClr val="1F1F1F"/>
                </a:solidFill>
                <a:latin typeface="Calibri"/>
              </a:rPr>
              <a:t>.</a:t>
            </a:r>
          </a:p>
        </p:txBody>
      </p:sp>
      <p:pic>
        <p:nvPicPr>
          <p:cNvPr id="7" name="Picture 6" descr="ch09_01.png"/>
          <p:cNvPicPr>
            <a:picLocks noChangeAspect="1"/>
          </p:cNvPicPr>
          <p:nvPr/>
        </p:nvPicPr>
        <p:blipFill>
          <a:blip r:embed="rId3"/>
          <a:stretch>
            <a:fillRect/>
          </a:stretch>
        </p:blipFill>
        <p:spPr>
          <a:xfrm>
            <a:off x="6037420" y="1188720"/>
            <a:ext cx="5207319" cy="4754880"/>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Q13: draw the streamlines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Streamlines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130</a:t>
            </a:r>
          </a:p>
        </p:txBody>
      </p:sp>
      <p:sp>
        <p:nvSpPr>
          <p:cNvPr id="6" name="Rounded Rectangle 5"/>
          <p:cNvSpPr/>
          <p:nvPr/>
        </p:nvSpPr>
        <p:spPr>
          <a:xfrm>
            <a:off x="411480" y="1097280"/>
            <a:ext cx="5760720" cy="3749039"/>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000" b="1" i="0">
                <a:solidFill>
                  <a:srgbClr val="0072B2"/>
                </a:solidFill>
                <a:latin typeface="Calibri"/>
              </a:rPr>
              <a:t>The question</a:t>
            </a:r>
          </a:p>
          <a:p>
            <a:pPr algn="l">
              <a:spcAft>
                <a:spcPts val="300"/>
              </a:spcAft>
            </a:pPr>
            <a:r>
              <a:rPr sz="2000" b="0" i="0">
                <a:solidFill>
                  <a:srgbClr val="1F1F1F"/>
                </a:solidFill>
                <a:latin typeface="Calibri"/>
              </a:rPr>
              <a:t>We can show wind flow patterns using streamlines, drawn parallel to the wind barbs used in the station model. Streamlines begin at an upwind location and are drawn as long lines with an arrow where the wind shifts abruptly (Figure 8). Complete the analysis below by drawing 5 to 6 streamlines to illustrate the general wind flow.</a:t>
            </a:r>
          </a:p>
        </p:txBody>
      </p:sp>
      <p:pic>
        <p:nvPicPr>
          <p:cNvPr id="7" name="Picture 6" descr="map_barbs.png"/>
          <p:cNvPicPr>
            <a:picLocks noChangeAspect="1"/>
          </p:cNvPicPr>
          <p:nvPr/>
        </p:nvPicPr>
        <p:blipFill>
          <a:blip r:embed="rId2"/>
          <a:stretch>
            <a:fillRect/>
          </a:stretch>
        </p:blipFill>
        <p:spPr>
          <a:xfrm>
            <a:off x="6400800" y="1571459"/>
            <a:ext cx="5394960" cy="4172280"/>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Q13: step 1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Streamlines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131</a:t>
            </a:r>
          </a:p>
        </p:txBody>
      </p:sp>
      <p:sp>
        <p:nvSpPr>
          <p:cNvPr id="6" name="Rounded Rectangle 5"/>
          <p:cNvSpPr/>
          <p:nvPr/>
        </p:nvSpPr>
        <p:spPr>
          <a:xfrm>
            <a:off x="365760" y="1051560"/>
            <a:ext cx="4297680" cy="1744980"/>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Look first.</a:t>
            </a:r>
            <a:r>
              <a:rPr sz="1700" b="0" i="0">
                <a:solidFill>
                  <a:srgbClr val="1F1F1F"/>
                </a:solidFill>
                <a:latin typeface="Calibri"/>
              </a:rPr>
              <a:t> Dakotas to Texas: wind from the </a:t>
            </a:r>
            <a:r>
              <a:rPr sz="1700" b="1" i="0">
                <a:solidFill>
                  <a:srgbClr val="1F1F1F"/>
                </a:solidFill>
                <a:latin typeface="Calibri"/>
              </a:rPr>
              <a:t>north-west</a:t>
            </a:r>
            <a:r>
              <a:rPr sz="1700" b="0" i="0">
                <a:solidFill>
                  <a:srgbClr val="1F1F1F"/>
                </a:solidFill>
                <a:latin typeface="Calibri"/>
              </a:rPr>
              <a:t>. South (Arkansas to Alabama): from the </a:t>
            </a:r>
            <a:r>
              <a:rPr sz="1700" b="1" i="0">
                <a:solidFill>
                  <a:srgbClr val="1F1F1F"/>
                </a:solidFill>
                <a:latin typeface="Calibri"/>
              </a:rPr>
              <a:t>south/south-west</a:t>
            </a:r>
            <a:r>
              <a:rPr sz="1700" b="0" i="0">
                <a:solidFill>
                  <a:srgbClr val="1F1F1F"/>
                </a:solidFill>
                <a:latin typeface="Calibri"/>
              </a:rPr>
              <a:t>. North (Michigan, Wisconsin, Ohio): from the </a:t>
            </a:r>
            <a:r>
              <a:rPr sz="1700" b="1" i="0">
                <a:solidFill>
                  <a:srgbClr val="1F1F1F"/>
                </a:solidFill>
                <a:latin typeface="Calibri"/>
              </a:rPr>
              <a:t>east/north-east</a:t>
            </a:r>
            <a:r>
              <a:rPr sz="1700" b="0" i="0">
                <a:solidFill>
                  <a:srgbClr val="1F1F1F"/>
                </a:solidFill>
                <a:latin typeface="Calibri"/>
              </a:rPr>
              <a:t>.</a:t>
            </a:r>
          </a:p>
        </p:txBody>
      </p:sp>
      <p:sp>
        <p:nvSpPr>
          <p:cNvPr id="7" name="Oval 6"/>
          <p:cNvSpPr/>
          <p:nvPr/>
        </p:nvSpPr>
        <p:spPr>
          <a:xfrm>
            <a:off x="457200" y="1750314"/>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map_barbs.png"/>
          <p:cNvPicPr>
            <a:picLocks noChangeAspect="1"/>
          </p:cNvPicPr>
          <p:nvPr/>
        </p:nvPicPr>
        <p:blipFill>
          <a:blip r:embed="rId3"/>
          <a:stretch>
            <a:fillRect/>
          </a:stretch>
        </p:blipFill>
        <p:spPr>
          <a:xfrm>
            <a:off x="4982553" y="1005840"/>
            <a:ext cx="6798588" cy="5257800"/>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Q13: step 2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Streamlines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132</a:t>
            </a:r>
          </a:p>
        </p:txBody>
      </p:sp>
      <p:sp>
        <p:nvSpPr>
          <p:cNvPr id="6" name="Rounded Rectangle 5"/>
          <p:cNvSpPr/>
          <p:nvPr/>
        </p:nvSpPr>
        <p:spPr>
          <a:xfrm>
            <a:off x="365760" y="1051560"/>
            <a:ext cx="4297680" cy="1744980"/>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Look first.</a:t>
            </a:r>
            <a:r>
              <a:rPr sz="1700" b="0" i="0">
                <a:solidFill>
                  <a:srgbClr val="6B6B6B"/>
                </a:solidFill>
                <a:latin typeface="Calibri"/>
              </a:rPr>
              <a:t> Dakotas to Texas: wind from the </a:t>
            </a:r>
            <a:r>
              <a:rPr sz="1700" b="1" i="0">
                <a:solidFill>
                  <a:srgbClr val="6B6B6B"/>
                </a:solidFill>
                <a:latin typeface="Calibri"/>
              </a:rPr>
              <a:t>north-west</a:t>
            </a:r>
            <a:r>
              <a:rPr sz="1700" b="0" i="0">
                <a:solidFill>
                  <a:srgbClr val="6B6B6B"/>
                </a:solidFill>
                <a:latin typeface="Calibri"/>
              </a:rPr>
              <a:t>. South (Arkansas to Alabama): from the </a:t>
            </a:r>
            <a:r>
              <a:rPr sz="1700" b="1" i="0">
                <a:solidFill>
                  <a:srgbClr val="6B6B6B"/>
                </a:solidFill>
                <a:latin typeface="Calibri"/>
              </a:rPr>
              <a:t>south/south-west</a:t>
            </a:r>
            <a:r>
              <a:rPr sz="1700" b="0" i="0">
                <a:solidFill>
                  <a:srgbClr val="6B6B6B"/>
                </a:solidFill>
                <a:latin typeface="Calibri"/>
              </a:rPr>
              <a:t>. North (Michigan, Wisconsin, Ohio): from the </a:t>
            </a:r>
            <a:r>
              <a:rPr sz="1700" b="1" i="0">
                <a:solidFill>
                  <a:srgbClr val="6B6B6B"/>
                </a:solidFill>
                <a:latin typeface="Calibri"/>
              </a:rPr>
              <a:t>east/north-east</a:t>
            </a:r>
            <a:r>
              <a:rPr sz="1700" b="0" i="0">
                <a:solidFill>
                  <a:srgbClr val="6B6B6B"/>
                </a:solidFill>
                <a:latin typeface="Calibri"/>
              </a:rPr>
              <a:t>.</a:t>
            </a:r>
          </a:p>
        </p:txBody>
      </p:sp>
      <p:sp>
        <p:nvSpPr>
          <p:cNvPr id="7" name="Oval 6"/>
          <p:cNvSpPr/>
          <p:nvPr/>
        </p:nvSpPr>
        <p:spPr>
          <a:xfrm>
            <a:off x="457200" y="1750314"/>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887980"/>
            <a:ext cx="4297680" cy="1481582"/>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The two examples already on the sheet</a:t>
            </a:r>
            <a:r>
              <a:rPr sz="1700" b="0" i="0">
                <a:solidFill>
                  <a:srgbClr val="1F1F1F"/>
                </a:solidFill>
                <a:latin typeface="Calibri"/>
              </a:rPr>
              <a:t> (grey): north-west flow across Kansas into Oklahoma, and southerly flow from north Texas curving north and north-east.</a:t>
            </a:r>
          </a:p>
        </p:txBody>
      </p:sp>
      <p:sp>
        <p:nvSpPr>
          <p:cNvPr id="9" name="Oval 8"/>
          <p:cNvSpPr/>
          <p:nvPr/>
        </p:nvSpPr>
        <p:spPr>
          <a:xfrm>
            <a:off x="457200" y="3455035"/>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map_examples.png"/>
          <p:cNvPicPr>
            <a:picLocks noChangeAspect="1"/>
          </p:cNvPicPr>
          <p:nvPr/>
        </p:nvPicPr>
        <p:blipFill>
          <a:blip r:embed="rId3"/>
          <a:stretch>
            <a:fillRect/>
          </a:stretch>
        </p:blipFill>
        <p:spPr>
          <a:xfrm>
            <a:off x="4982553" y="1005840"/>
            <a:ext cx="6798588" cy="5257800"/>
          </a:xfrm>
          <a:prstGeom prst="rect">
            <a:avLst/>
          </a:prstGeom>
        </p:spPr>
      </p:pic>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Q13: step 3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Streamlines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133</a:t>
            </a:r>
          </a:p>
        </p:txBody>
      </p:sp>
      <p:sp>
        <p:nvSpPr>
          <p:cNvPr id="6" name="Rounded Rectangle 5"/>
          <p:cNvSpPr/>
          <p:nvPr/>
        </p:nvSpPr>
        <p:spPr>
          <a:xfrm>
            <a:off x="365760" y="1051560"/>
            <a:ext cx="4297680" cy="1744980"/>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Look first.</a:t>
            </a:r>
            <a:r>
              <a:rPr sz="1700" b="0" i="0">
                <a:solidFill>
                  <a:srgbClr val="6B6B6B"/>
                </a:solidFill>
                <a:latin typeface="Calibri"/>
              </a:rPr>
              <a:t> Dakotas to Texas: wind from the </a:t>
            </a:r>
            <a:r>
              <a:rPr sz="1700" b="1" i="0">
                <a:solidFill>
                  <a:srgbClr val="6B6B6B"/>
                </a:solidFill>
                <a:latin typeface="Calibri"/>
              </a:rPr>
              <a:t>north-west</a:t>
            </a:r>
            <a:r>
              <a:rPr sz="1700" b="0" i="0">
                <a:solidFill>
                  <a:srgbClr val="6B6B6B"/>
                </a:solidFill>
                <a:latin typeface="Calibri"/>
              </a:rPr>
              <a:t>. South (Arkansas to Alabama): from the </a:t>
            </a:r>
            <a:r>
              <a:rPr sz="1700" b="1" i="0">
                <a:solidFill>
                  <a:srgbClr val="6B6B6B"/>
                </a:solidFill>
                <a:latin typeface="Calibri"/>
              </a:rPr>
              <a:t>south/south-west</a:t>
            </a:r>
            <a:r>
              <a:rPr sz="1700" b="0" i="0">
                <a:solidFill>
                  <a:srgbClr val="6B6B6B"/>
                </a:solidFill>
                <a:latin typeface="Calibri"/>
              </a:rPr>
              <a:t>. North (Michigan, Wisconsin, Ohio): from the </a:t>
            </a:r>
            <a:r>
              <a:rPr sz="1700" b="1" i="0">
                <a:solidFill>
                  <a:srgbClr val="6B6B6B"/>
                </a:solidFill>
                <a:latin typeface="Calibri"/>
              </a:rPr>
              <a:t>east/north-east</a:t>
            </a:r>
            <a:r>
              <a:rPr sz="1700" b="0" i="0">
                <a:solidFill>
                  <a:srgbClr val="6B6B6B"/>
                </a:solidFill>
                <a:latin typeface="Calibri"/>
              </a:rPr>
              <a:t>.</a:t>
            </a:r>
          </a:p>
        </p:txBody>
      </p:sp>
      <p:sp>
        <p:nvSpPr>
          <p:cNvPr id="7" name="Oval 6"/>
          <p:cNvSpPr/>
          <p:nvPr/>
        </p:nvSpPr>
        <p:spPr>
          <a:xfrm>
            <a:off x="457200" y="1750314"/>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887980"/>
            <a:ext cx="4297680" cy="1481582"/>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The two examples already on the sheet</a:t>
            </a:r>
            <a:r>
              <a:rPr sz="1700" b="0" i="0">
                <a:solidFill>
                  <a:srgbClr val="6B6B6B"/>
                </a:solidFill>
                <a:latin typeface="Calibri"/>
              </a:rPr>
              <a:t> (grey): north-west flow across Kansas into Oklahoma, and southerly flow from north Texas curving north and north-east.</a:t>
            </a:r>
          </a:p>
        </p:txBody>
      </p:sp>
      <p:sp>
        <p:nvSpPr>
          <p:cNvPr id="9" name="Oval 8"/>
          <p:cNvSpPr/>
          <p:nvPr/>
        </p:nvSpPr>
        <p:spPr>
          <a:xfrm>
            <a:off x="457200" y="3455035"/>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4461002"/>
            <a:ext cx="4297680" cy="1481582"/>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Start new lines upwind</a:t>
            </a:r>
            <a:r>
              <a:rPr sz="1700" b="0" i="0">
                <a:solidFill>
                  <a:srgbClr val="1F1F1F"/>
                </a:solidFill>
                <a:latin typeface="Calibri"/>
              </a:rPr>
              <a:t> (Dakotas, Kansas, Texas, Mississippi, Indiana, Michigan). Follow each barb </a:t>
            </a:r>
            <a:r>
              <a:rPr sz="1700" b="1" i="0">
                <a:solidFill>
                  <a:srgbClr val="1F1F1F"/>
                </a:solidFill>
                <a:latin typeface="Calibri"/>
              </a:rPr>
              <a:t>away from its staff</a:t>
            </a:r>
            <a:r>
              <a:rPr sz="1700" b="0" i="0">
                <a:solidFill>
                  <a:srgbClr val="1F1F1F"/>
                </a:solidFill>
                <a:latin typeface="Calibri"/>
              </a:rPr>
              <a:t> and bend smoothly from station to station.</a:t>
            </a:r>
          </a:p>
        </p:txBody>
      </p:sp>
      <p:sp>
        <p:nvSpPr>
          <p:cNvPr id="11" name="Oval 10"/>
          <p:cNvSpPr/>
          <p:nvPr/>
        </p:nvSpPr>
        <p:spPr>
          <a:xfrm>
            <a:off x="457200" y="5028056"/>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map_streams.png"/>
          <p:cNvPicPr>
            <a:picLocks noChangeAspect="1"/>
          </p:cNvPicPr>
          <p:nvPr/>
        </p:nvPicPr>
        <p:blipFill>
          <a:blip r:embed="rId3"/>
          <a:stretch>
            <a:fillRect/>
          </a:stretch>
        </p:blipFill>
        <p:spPr>
          <a:xfrm>
            <a:off x="4982553" y="1005840"/>
            <a:ext cx="6798588" cy="5257800"/>
          </a:xfrm>
          <a:prstGeom prst="rect">
            <a:avLst/>
          </a:prstGeom>
        </p:spPr>
      </p:pic>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Q13: step 4 of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Streamlines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134</a:t>
            </a:r>
          </a:p>
        </p:txBody>
      </p:sp>
      <p:sp>
        <p:nvSpPr>
          <p:cNvPr id="6" name="Rounded Rectangle 5"/>
          <p:cNvSpPr/>
          <p:nvPr/>
        </p:nvSpPr>
        <p:spPr>
          <a:xfrm>
            <a:off x="365760" y="1051560"/>
            <a:ext cx="4297680" cy="1249171"/>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400" b="1" i="0">
                <a:solidFill>
                  <a:srgbClr val="6B6B6B"/>
                </a:solidFill>
                <a:latin typeface="Calibri"/>
              </a:rPr>
              <a:t>Look first.</a:t>
            </a:r>
            <a:r>
              <a:rPr sz="1400" b="0" i="0">
                <a:solidFill>
                  <a:srgbClr val="6B6B6B"/>
                </a:solidFill>
                <a:latin typeface="Calibri"/>
              </a:rPr>
              <a:t> Dakotas to Texas: wind from the </a:t>
            </a:r>
            <a:r>
              <a:rPr sz="1400" b="1" i="0">
                <a:solidFill>
                  <a:srgbClr val="6B6B6B"/>
                </a:solidFill>
                <a:latin typeface="Calibri"/>
              </a:rPr>
              <a:t>north-west</a:t>
            </a:r>
            <a:r>
              <a:rPr sz="1400" b="0" i="0">
                <a:solidFill>
                  <a:srgbClr val="6B6B6B"/>
                </a:solidFill>
                <a:latin typeface="Calibri"/>
              </a:rPr>
              <a:t>. South (Arkansas to Alabama): from the </a:t>
            </a:r>
            <a:r>
              <a:rPr sz="1400" b="1" i="0">
                <a:solidFill>
                  <a:srgbClr val="6B6B6B"/>
                </a:solidFill>
                <a:latin typeface="Calibri"/>
              </a:rPr>
              <a:t>south/south-west</a:t>
            </a:r>
            <a:r>
              <a:rPr sz="1400" b="0" i="0">
                <a:solidFill>
                  <a:srgbClr val="6B6B6B"/>
                </a:solidFill>
                <a:latin typeface="Calibri"/>
              </a:rPr>
              <a:t>. North (Michigan, Wisconsin, Ohio): from the </a:t>
            </a:r>
            <a:r>
              <a:rPr sz="1400" b="1" i="0">
                <a:solidFill>
                  <a:srgbClr val="6B6B6B"/>
                </a:solidFill>
                <a:latin typeface="Calibri"/>
              </a:rPr>
              <a:t>east/north-east</a:t>
            </a:r>
            <a:r>
              <a:rPr sz="1400" b="0" i="0">
                <a:solidFill>
                  <a:srgbClr val="6B6B6B"/>
                </a:solidFill>
                <a:latin typeface="Calibri"/>
              </a:rPr>
              <a:t>.</a:t>
            </a:r>
          </a:p>
        </p:txBody>
      </p:sp>
      <p:sp>
        <p:nvSpPr>
          <p:cNvPr id="7" name="Oval 6"/>
          <p:cNvSpPr/>
          <p:nvPr/>
        </p:nvSpPr>
        <p:spPr>
          <a:xfrm>
            <a:off x="457200" y="1502409"/>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392171"/>
            <a:ext cx="4297680" cy="103225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400" b="1" i="0">
                <a:solidFill>
                  <a:srgbClr val="6B6B6B"/>
                </a:solidFill>
                <a:latin typeface="Calibri"/>
              </a:rPr>
              <a:t>The two examples already on the sheet</a:t>
            </a:r>
            <a:r>
              <a:rPr sz="1400" b="0" i="0">
                <a:solidFill>
                  <a:srgbClr val="6B6B6B"/>
                </a:solidFill>
                <a:latin typeface="Calibri"/>
              </a:rPr>
              <a:t> (grey): north-west flow across Kansas into Oklahoma, and southerly flow from north Texas curving north and north-east.</a:t>
            </a:r>
          </a:p>
        </p:txBody>
      </p:sp>
      <p:sp>
        <p:nvSpPr>
          <p:cNvPr id="9" name="Oval 8"/>
          <p:cNvSpPr/>
          <p:nvPr/>
        </p:nvSpPr>
        <p:spPr>
          <a:xfrm>
            <a:off x="457200" y="2734563"/>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515868"/>
            <a:ext cx="4297680" cy="103225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400" b="1" i="0">
                <a:solidFill>
                  <a:srgbClr val="6B6B6B"/>
                </a:solidFill>
                <a:latin typeface="Calibri"/>
              </a:rPr>
              <a:t>Start new lines upwind</a:t>
            </a:r>
            <a:r>
              <a:rPr sz="1400" b="0" i="0">
                <a:solidFill>
                  <a:srgbClr val="6B6B6B"/>
                </a:solidFill>
                <a:latin typeface="Calibri"/>
              </a:rPr>
              <a:t> (Dakotas, Kansas, Texas, Mississippi, Indiana, Michigan). Follow each barb </a:t>
            </a:r>
            <a:r>
              <a:rPr sz="1400" b="1" i="0">
                <a:solidFill>
                  <a:srgbClr val="6B6B6B"/>
                </a:solidFill>
                <a:latin typeface="Calibri"/>
              </a:rPr>
              <a:t>away from its staff</a:t>
            </a:r>
            <a:r>
              <a:rPr sz="1400" b="0" i="0">
                <a:solidFill>
                  <a:srgbClr val="6B6B6B"/>
                </a:solidFill>
                <a:latin typeface="Calibri"/>
              </a:rPr>
              <a:t> and bend smoothly from station to station.</a:t>
            </a:r>
          </a:p>
        </p:txBody>
      </p:sp>
      <p:sp>
        <p:nvSpPr>
          <p:cNvPr id="11" name="Oval 10"/>
          <p:cNvSpPr/>
          <p:nvPr/>
        </p:nvSpPr>
        <p:spPr>
          <a:xfrm>
            <a:off x="457200" y="3858259"/>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639564"/>
            <a:ext cx="4297680" cy="103225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400" b="1" i="0">
                <a:solidFill>
                  <a:srgbClr val="1F1F1F"/>
                </a:solidFill>
                <a:latin typeface="Calibri"/>
              </a:rPr>
              <a:t>Arrow heads</a:t>
            </a:r>
            <a:r>
              <a:rPr sz="1400" b="0" i="0">
                <a:solidFill>
                  <a:srgbClr val="1F1F1F"/>
                </a:solidFill>
                <a:latin typeface="Calibri"/>
              </a:rPr>
              <a:t> at the downwind ends. All six lines </a:t>
            </a:r>
            <a:r>
              <a:rPr sz="1400" b="1" i="0">
                <a:solidFill>
                  <a:srgbClr val="1F1F1F"/>
                </a:solidFill>
                <a:latin typeface="Calibri"/>
              </a:rPr>
              <a:t>curve anticlockwise and inwards</a:t>
            </a:r>
            <a:r>
              <a:rPr sz="1400" b="0" i="0">
                <a:solidFill>
                  <a:srgbClr val="1F1F1F"/>
                </a:solidFill>
                <a:latin typeface="Calibri"/>
              </a:rPr>
              <a:t> towards one centre over Iowa and northern Illinois.</a:t>
            </a:r>
          </a:p>
        </p:txBody>
      </p:sp>
      <p:sp>
        <p:nvSpPr>
          <p:cNvPr id="13" name="Oval 12"/>
          <p:cNvSpPr/>
          <p:nvPr/>
        </p:nvSpPr>
        <p:spPr>
          <a:xfrm>
            <a:off x="457200" y="4981956"/>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pic>
        <p:nvPicPr>
          <p:cNvPr id="14" name="Picture 13" descr="map_streams.png"/>
          <p:cNvPicPr>
            <a:picLocks noChangeAspect="1"/>
          </p:cNvPicPr>
          <p:nvPr/>
        </p:nvPicPr>
        <p:blipFill>
          <a:blip r:embed="rId3"/>
          <a:stretch>
            <a:fillRect/>
          </a:stretch>
        </p:blipFill>
        <p:spPr>
          <a:xfrm>
            <a:off x="4982553" y="1005840"/>
            <a:ext cx="6798588" cy="5257800"/>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Q13: what the streamlines show</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Streamlines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135</a:t>
            </a:r>
          </a:p>
        </p:txBody>
      </p:sp>
      <p:sp>
        <p:nvSpPr>
          <p:cNvPr id="6" name="Rounded Rectangle 5"/>
          <p:cNvSpPr/>
          <p:nvPr/>
        </p:nvSpPr>
        <p:spPr>
          <a:xfrm>
            <a:off x="411480" y="1097280"/>
            <a:ext cx="5669280" cy="31089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900" b="1" i="0">
                <a:solidFill>
                  <a:srgbClr val="007F5F"/>
                </a:solidFill>
                <a:latin typeface="Calibri"/>
              </a:rPr>
              <a:t>Answer</a:t>
            </a:r>
          </a:p>
          <a:p>
            <a:pPr algn="l">
              <a:spcAft>
                <a:spcPts val="300"/>
              </a:spcAft>
            </a:pPr>
            <a:r>
              <a:rPr sz="1900" b="0" i="0">
                <a:solidFill>
                  <a:srgbClr val="1F1F1F"/>
                </a:solidFill>
                <a:latin typeface="Calibri"/>
              </a:rPr>
              <a:t>Five or six smooth lines, each starting upwind and ending in an arrow.</a:t>
            </a:r>
          </a:p>
          <a:p>
            <a:pPr algn="l">
              <a:spcAft>
                <a:spcPts val="300"/>
              </a:spcAft>
            </a:pPr>
            <a:r>
              <a:rPr sz="1900" b="0" i="0">
                <a:solidFill>
                  <a:srgbClr val="1F1F1F"/>
                </a:solidFill>
                <a:latin typeface="Calibri"/>
              </a:rPr>
              <a:t>North-westerly flow in the west, southerly in the south, easterly in the north: an </a:t>
            </a:r>
            <a:r>
              <a:rPr sz="1900" b="1" i="0">
                <a:solidFill>
                  <a:srgbClr val="007F5F"/>
                </a:solidFill>
                <a:latin typeface="Calibri"/>
              </a:rPr>
              <a:t>anticlockwise swirl</a:t>
            </a:r>
            <a:r>
              <a:rPr sz="1900" b="0" i="0">
                <a:solidFill>
                  <a:srgbClr val="1F1F1F"/>
                </a:solidFill>
                <a:latin typeface="Calibri"/>
              </a:rPr>
              <a:t> curving inwards.</a:t>
            </a:r>
          </a:p>
          <a:p>
            <a:pPr algn="l">
              <a:spcAft>
                <a:spcPts val="300"/>
              </a:spcAft>
            </a:pPr>
            <a:r>
              <a:rPr sz="1900" b="0" i="0">
                <a:solidFill>
                  <a:srgbClr val="1F1F1F"/>
                </a:solidFill>
                <a:latin typeface="Calibri"/>
              </a:rPr>
              <a:t>The centre is a </a:t>
            </a:r>
            <a:r>
              <a:rPr sz="1900" b="1" i="0">
                <a:solidFill>
                  <a:srgbClr val="1F1F1F"/>
                </a:solidFill>
                <a:latin typeface="Calibri"/>
              </a:rPr>
              <a:t>low</a:t>
            </a:r>
            <a:r>
              <a:rPr sz="1900" b="0" i="0">
                <a:solidFill>
                  <a:srgbClr val="1F1F1F"/>
                </a:solidFill>
                <a:latin typeface="Calibri"/>
              </a:rPr>
              <a:t>; the lowest pressures (1002.4 and 1002.6 hPa) are at its centre.</a:t>
            </a:r>
          </a:p>
        </p:txBody>
      </p:sp>
      <p:sp>
        <p:nvSpPr>
          <p:cNvPr id="7" name="Rounded Rectangle 6"/>
          <p:cNvSpPr/>
          <p:nvPr/>
        </p:nvSpPr>
        <p:spPr>
          <a:xfrm>
            <a:off x="411480" y="4389120"/>
            <a:ext cx="5669280" cy="2377440"/>
          </a:xfrm>
          <a:prstGeom prst="roundRect">
            <a:avLst>
              <a:gd name="adj" fmla="val 6000"/>
            </a:avLst>
          </a:prstGeom>
          <a:solidFill>
            <a:srgbClr val="FFF1DA"/>
          </a:solidFill>
          <a:ln w="22225">
            <a:solidFill>
              <a:srgbClr val="B87A00"/>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8A5A00"/>
                </a:solidFill>
                <a:latin typeface="Calibri"/>
              </a:rPr>
              <a:t>Common mistakes</a:t>
            </a:r>
          </a:p>
          <a:p>
            <a:pPr algn="l">
              <a:spcAft>
                <a:spcPts val="300"/>
              </a:spcAft>
            </a:pPr>
            <a:r>
              <a:rPr sz="1800" b="0" i="0">
                <a:solidFill>
                  <a:srgbClr val="1F1F1F"/>
                </a:solidFill>
                <a:latin typeface="Calibri"/>
              </a:rPr>
              <a:t>Arrow along the staff instead of away from it</a:t>
            </a:r>
          </a:p>
          <a:p>
            <a:pPr algn="l">
              <a:spcAft>
                <a:spcPts val="300"/>
              </a:spcAft>
            </a:pPr>
            <a:r>
              <a:rPr sz="1800" b="0" i="0">
                <a:solidFill>
                  <a:srgbClr val="1F1F1F"/>
                </a:solidFill>
                <a:latin typeface="Calibri"/>
              </a:rPr>
              <a:t>Straight segments instead of smooth curves</a:t>
            </a:r>
          </a:p>
          <a:p>
            <a:pPr algn="l">
              <a:spcAft>
                <a:spcPts val="300"/>
              </a:spcAft>
            </a:pPr>
            <a:r>
              <a:rPr sz="1800" b="0" i="0">
                <a:solidFill>
                  <a:srgbClr val="1F1F1F"/>
                </a:solidFill>
                <a:latin typeface="Calibri"/>
              </a:rPr>
              <a:t>Streamlines that cross</a:t>
            </a:r>
          </a:p>
        </p:txBody>
      </p:sp>
      <p:pic>
        <p:nvPicPr>
          <p:cNvPr id="8" name="Picture 7" descr="map_streams.png"/>
          <p:cNvPicPr>
            <a:picLocks noChangeAspect="1"/>
          </p:cNvPicPr>
          <p:nvPr/>
        </p:nvPicPr>
        <p:blipFill>
          <a:blip r:embed="rId2"/>
          <a:stretch>
            <a:fillRect/>
          </a:stretch>
        </p:blipFill>
        <p:spPr>
          <a:xfrm>
            <a:off x="6355080" y="1524432"/>
            <a:ext cx="5516575" cy="4266334"/>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H: try it yourself</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Streamlines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136</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6B6B6B"/>
                </a:solidFill>
                <a:latin typeface="Calibri"/>
              </a:rPr>
              <a:t>Practice Set H</a:t>
            </a:r>
          </a:p>
          <a:p>
            <a:pPr algn="l">
              <a:spcAft>
                <a:spcPts val="1200"/>
              </a:spcAft>
            </a:pPr>
            <a:r>
              <a:rPr sz="2400" b="1" i="0">
                <a:solidFill>
                  <a:srgbClr val="1F1F1F"/>
                </a:solidFill>
                <a:latin typeface="Calibri"/>
              </a:rPr>
              <a:t>H1.</a:t>
            </a:r>
            <a:r>
              <a:rPr sz="2400" b="0" i="0">
                <a:solidFill>
                  <a:srgbClr val="1F1F1F"/>
                </a:solidFill>
                <a:latin typeface="Calibri"/>
              </a:rPr>
              <a:t>  Staff pointing east with one full barb and a half barb: from where, how strong, and which way does the streamline run?</a:t>
            </a:r>
          </a:p>
          <a:p>
            <a:pPr algn="l">
              <a:spcAft>
                <a:spcPts val="1200"/>
              </a:spcAft>
            </a:pPr>
            <a:r>
              <a:rPr sz="2400" b="1" i="0">
                <a:solidFill>
                  <a:srgbClr val="1F1F1F"/>
                </a:solidFill>
                <a:latin typeface="Calibri"/>
              </a:rPr>
              <a:t>H2.</a:t>
            </a:r>
            <a:r>
              <a:rPr sz="2400" b="0" i="0">
                <a:solidFill>
                  <a:srgbClr val="1F1F1F"/>
                </a:solidFill>
                <a:latin typeface="Calibri"/>
              </a:rPr>
              <a:t>  Staff pointing north with two full barbs: wind and streamline direction?</a:t>
            </a:r>
          </a:p>
          <a:p>
            <a:pPr algn="l">
              <a:spcAft>
                <a:spcPts val="1200"/>
              </a:spcAft>
            </a:pPr>
            <a:r>
              <a:rPr sz="2400" b="1" i="0">
                <a:solidFill>
                  <a:srgbClr val="1F1F1F"/>
                </a:solidFill>
                <a:latin typeface="Calibri"/>
              </a:rPr>
              <a:t>H3.</a:t>
            </a:r>
            <a:r>
              <a:rPr sz="2400" b="0" i="0">
                <a:solidFill>
                  <a:srgbClr val="1F1F1F"/>
                </a:solidFill>
                <a:latin typeface="Calibri"/>
              </a:rPr>
              <a:t>  Near a low: NE wind to the north, SE wind to the east, SW wind to the south. Clockwise or anticlockwise?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H: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Streamlines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137</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007F5F"/>
                </a:solidFill>
                <a:latin typeface="Calibri"/>
              </a:rPr>
              <a:t>Answers</a:t>
            </a:r>
          </a:p>
          <a:p>
            <a:pPr algn="l">
              <a:spcAft>
                <a:spcPts val="1200"/>
              </a:spcAft>
            </a:pPr>
            <a:r>
              <a:rPr sz="2400" b="1" i="0">
                <a:solidFill>
                  <a:srgbClr val="1F1F1F"/>
                </a:solidFill>
                <a:latin typeface="Calibri"/>
              </a:rPr>
              <a:t>H1.</a:t>
            </a:r>
            <a:r>
              <a:rPr sz="2400" b="0" i="0">
                <a:solidFill>
                  <a:srgbClr val="1F1F1F"/>
                </a:solidFill>
                <a:latin typeface="Calibri"/>
              </a:rPr>
              <a:t>  From the </a:t>
            </a:r>
            <a:r>
              <a:rPr sz="2400" b="1" i="0">
                <a:solidFill>
                  <a:srgbClr val="007F5F"/>
                </a:solidFill>
                <a:latin typeface="Calibri"/>
              </a:rPr>
              <a:t>east</a:t>
            </a:r>
            <a:r>
              <a:rPr sz="2400" b="0" i="0">
                <a:solidFill>
                  <a:srgbClr val="1F1F1F"/>
                </a:solidFill>
                <a:latin typeface="Calibri"/>
              </a:rPr>
              <a:t>, 15 kt; the streamline runs </a:t>
            </a:r>
            <a:r>
              <a:rPr sz="2400" b="1" i="0">
                <a:solidFill>
                  <a:srgbClr val="007F5F"/>
                </a:solidFill>
                <a:latin typeface="Calibri"/>
              </a:rPr>
              <a:t>towards the west</a:t>
            </a:r>
            <a:r>
              <a:rPr sz="2400" b="0" i="0">
                <a:solidFill>
                  <a:srgbClr val="1F1F1F"/>
                </a:solidFill>
                <a:latin typeface="Calibri"/>
              </a:rPr>
              <a:t>.</a:t>
            </a:r>
          </a:p>
          <a:p>
            <a:pPr algn="l">
              <a:spcAft>
                <a:spcPts val="1200"/>
              </a:spcAft>
            </a:pPr>
            <a:r>
              <a:rPr sz="2400" b="1" i="0">
                <a:solidFill>
                  <a:srgbClr val="1F1F1F"/>
                </a:solidFill>
                <a:latin typeface="Calibri"/>
              </a:rPr>
              <a:t>H2.</a:t>
            </a:r>
            <a:r>
              <a:rPr sz="2400" b="0" i="0">
                <a:solidFill>
                  <a:srgbClr val="1F1F1F"/>
                </a:solidFill>
                <a:latin typeface="Calibri"/>
              </a:rPr>
              <a:t>  From the </a:t>
            </a:r>
            <a:r>
              <a:rPr sz="2400" b="1" i="0">
                <a:solidFill>
                  <a:srgbClr val="007F5F"/>
                </a:solidFill>
                <a:latin typeface="Calibri"/>
              </a:rPr>
              <a:t>north</a:t>
            </a:r>
            <a:r>
              <a:rPr sz="2400" b="0" i="0">
                <a:solidFill>
                  <a:srgbClr val="1F1F1F"/>
                </a:solidFill>
                <a:latin typeface="Calibri"/>
              </a:rPr>
              <a:t>, 20 kt; the streamline runs </a:t>
            </a:r>
            <a:r>
              <a:rPr sz="2400" b="1" i="0">
                <a:solidFill>
                  <a:srgbClr val="007F5F"/>
                </a:solidFill>
                <a:latin typeface="Calibri"/>
              </a:rPr>
              <a:t>towards the south</a:t>
            </a:r>
            <a:r>
              <a:rPr sz="2400" b="0" i="0">
                <a:solidFill>
                  <a:srgbClr val="1F1F1F"/>
                </a:solidFill>
                <a:latin typeface="Calibri"/>
              </a:rPr>
              <a:t>.</a:t>
            </a:r>
          </a:p>
          <a:p>
            <a:pPr algn="l">
              <a:spcAft>
                <a:spcPts val="1200"/>
              </a:spcAft>
            </a:pPr>
            <a:r>
              <a:rPr sz="2400" b="1" i="0">
                <a:solidFill>
                  <a:srgbClr val="1F1F1F"/>
                </a:solidFill>
                <a:latin typeface="Calibri"/>
              </a:rPr>
              <a:t>H3.</a:t>
            </a:r>
            <a:r>
              <a:rPr sz="2400" b="0" i="0">
                <a:solidFill>
                  <a:srgbClr val="1F1F1F"/>
                </a:solidFill>
                <a:latin typeface="Calibri"/>
              </a:rPr>
              <a:t>  NE wind blows to the SW, SE to the NW, SW to the NE: the air circles </a:t>
            </a:r>
            <a:r>
              <a:rPr sz="2400" b="1" i="0">
                <a:solidFill>
                  <a:srgbClr val="007F5F"/>
                </a:solidFill>
                <a:latin typeface="Calibri"/>
              </a:rPr>
              <a:t>anticlockwise</a:t>
            </a:r>
            <a:r>
              <a:rPr sz="2400" b="0" i="0">
                <a:solidFill>
                  <a:srgbClr val="1F1F1F"/>
                </a:solidFill>
                <a:latin typeface="Calibri"/>
              </a:rPr>
              <a:t>, as round a Northern Hemisphere low.</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Air masses and fronts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138</a:t>
            </a:r>
          </a:p>
        </p:txBody>
      </p:sp>
      <p:sp>
        <p:nvSpPr>
          <p:cNvPr id="6" name="TextBox 5"/>
          <p:cNvSpPr txBox="1"/>
          <p:nvPr/>
        </p:nvSpPr>
        <p:spPr>
          <a:xfrm>
            <a:off x="411480" y="1051560"/>
            <a:ext cx="4754880" cy="521208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An </a:t>
            </a:r>
            <a:r>
              <a:rPr sz="1800" b="1" i="0">
                <a:solidFill>
                  <a:srgbClr val="1F1F1F"/>
                </a:solidFill>
                <a:latin typeface="Calibri"/>
              </a:rPr>
              <a:t>air mass</a:t>
            </a:r>
            <a:r>
              <a:rPr sz="1800" b="0" i="0">
                <a:solidFill>
                  <a:srgbClr val="1F1F1F"/>
                </a:solidFill>
                <a:latin typeface="Calibri"/>
              </a:rPr>
              <a:t> is a huge body of air with nearly uniform temperature and humidity.</a:t>
            </a:r>
          </a:p>
          <a:p>
            <a:pPr algn="l">
              <a:spcAft>
                <a:spcPts val="600"/>
              </a:spcAft>
            </a:pPr>
            <a:r>
              <a:rPr sz="1800" b="0" i="0">
                <a:solidFill>
                  <a:srgbClr val="1F1F1F"/>
                </a:solidFill>
                <a:latin typeface="Calibri"/>
              </a:rPr>
              <a:t>A </a:t>
            </a:r>
            <a:r>
              <a:rPr sz="1800" b="1" i="0">
                <a:solidFill>
                  <a:srgbClr val="1F1F1F"/>
                </a:solidFill>
                <a:latin typeface="Calibri"/>
              </a:rPr>
              <a:t>front</a:t>
            </a:r>
            <a:r>
              <a:rPr sz="1800" b="0" i="0">
                <a:solidFill>
                  <a:srgbClr val="1F1F1F"/>
                </a:solidFill>
                <a:latin typeface="Calibri"/>
              </a:rPr>
              <a:t> is the boundary between two unlike air masses. Look for a sharp change in:</a:t>
            </a:r>
          </a:p>
          <a:p>
            <a:pPr algn="l">
              <a:spcAft>
                <a:spcPts val="600"/>
              </a:spcAft>
            </a:pPr>
            <a:r>
              <a:rPr sz="1800" b="0" i="0">
                <a:solidFill>
                  <a:srgbClr val="1F1F1F"/>
                </a:solidFill>
                <a:latin typeface="Calibri"/>
              </a:rPr>
              <a:t>•  </a:t>
            </a:r>
            <a:r>
              <a:rPr sz="1800" b="1" i="0">
                <a:solidFill>
                  <a:srgbClr val="1F1F1F"/>
                </a:solidFill>
                <a:latin typeface="Calibri"/>
              </a:rPr>
              <a:t>temperature</a:t>
            </a:r>
          </a:p>
          <a:p>
            <a:pPr algn="l">
              <a:spcAft>
                <a:spcPts val="600"/>
              </a:spcAft>
            </a:pPr>
            <a:r>
              <a:rPr sz="1800" b="0" i="0">
                <a:solidFill>
                  <a:srgbClr val="1F1F1F"/>
                </a:solidFill>
                <a:latin typeface="Calibri"/>
              </a:rPr>
              <a:t>•  </a:t>
            </a:r>
            <a:r>
              <a:rPr sz="1800" b="1" i="0">
                <a:solidFill>
                  <a:srgbClr val="1F1F1F"/>
                </a:solidFill>
                <a:latin typeface="Calibri"/>
              </a:rPr>
              <a:t>moisture</a:t>
            </a:r>
            <a:r>
              <a:rPr sz="1800" b="0" i="0">
                <a:solidFill>
                  <a:srgbClr val="1F1F1F"/>
                </a:solidFill>
                <a:latin typeface="Calibri"/>
              </a:rPr>
              <a:t> (dew point)</a:t>
            </a:r>
          </a:p>
          <a:p>
            <a:pPr algn="l">
              <a:spcAft>
                <a:spcPts val="600"/>
              </a:spcAft>
            </a:pPr>
            <a:r>
              <a:rPr sz="1800" b="0" i="0">
                <a:solidFill>
                  <a:srgbClr val="1F1F1F"/>
                </a:solidFill>
                <a:latin typeface="Calibri"/>
              </a:rPr>
              <a:t>•  </a:t>
            </a:r>
            <a:r>
              <a:rPr sz="1800" b="1" i="0">
                <a:solidFill>
                  <a:srgbClr val="1F1F1F"/>
                </a:solidFill>
                <a:latin typeface="Calibri"/>
              </a:rPr>
              <a:t>wind direction</a:t>
            </a:r>
            <a:r>
              <a:rPr sz="1800" b="0" i="0">
                <a:solidFill>
                  <a:srgbClr val="1F1F1F"/>
                </a:solidFill>
                <a:latin typeface="Calibri"/>
              </a:rPr>
              <a:t> (it turns clockwise as a front passes)</a:t>
            </a:r>
          </a:p>
          <a:p>
            <a:pPr algn="l">
              <a:spcAft>
                <a:spcPts val="600"/>
              </a:spcAft>
            </a:pPr>
            <a:r>
              <a:rPr sz="1800" b="1" i="0">
                <a:solidFill>
                  <a:srgbClr val="0072B2"/>
                </a:solidFill>
                <a:latin typeface="Calibri"/>
              </a:rPr>
              <a:t>Cold front</a:t>
            </a:r>
            <a:r>
              <a:rPr sz="1800" b="0" i="0">
                <a:solidFill>
                  <a:srgbClr val="1F1F1F"/>
                </a:solidFill>
                <a:latin typeface="Calibri"/>
              </a:rPr>
              <a:t>: blue line, triangles.  </a:t>
            </a:r>
            <a:r>
              <a:rPr sz="1800" b="1" i="0">
                <a:solidFill>
                  <a:srgbClr val="D55E00"/>
                </a:solidFill>
                <a:latin typeface="Calibri"/>
              </a:rPr>
              <a:t>Warm front</a:t>
            </a:r>
            <a:r>
              <a:rPr sz="1800" b="0" i="0">
                <a:solidFill>
                  <a:srgbClr val="1F1F1F"/>
                </a:solidFill>
                <a:latin typeface="Calibri"/>
              </a:rPr>
              <a:t>: red line, semicircles. The symbols point the way the front moves.</a:t>
            </a:r>
          </a:p>
        </p:txBody>
      </p:sp>
      <p:pic>
        <p:nvPicPr>
          <p:cNvPr id="7" name="Picture 6" descr="ch10_01.png"/>
          <p:cNvPicPr>
            <a:picLocks noChangeAspect="1"/>
          </p:cNvPicPr>
          <p:nvPr/>
        </p:nvPicPr>
        <p:blipFill>
          <a:blip r:embed="rId3"/>
          <a:stretch>
            <a:fillRect/>
          </a:stretch>
        </p:blipFill>
        <p:spPr>
          <a:xfrm>
            <a:off x="5303520" y="2436003"/>
            <a:ext cx="6492240" cy="1894553"/>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Q14 (Figure 9): a low with two fronts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139</a:t>
            </a:r>
          </a:p>
        </p:txBody>
      </p:sp>
      <p:sp>
        <p:nvSpPr>
          <p:cNvPr id="6" name="TextBox 5"/>
          <p:cNvSpPr txBox="1"/>
          <p:nvPr/>
        </p:nvSpPr>
        <p:spPr>
          <a:xfrm>
            <a:off x="411480" y="1051560"/>
            <a:ext cx="4389120" cy="52120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Figure 9 shows a low (L), a </a:t>
            </a:r>
            <a:r>
              <a:rPr sz="1900" b="1" i="0">
                <a:solidFill>
                  <a:srgbClr val="1F1F1F"/>
                </a:solidFill>
                <a:latin typeface="Calibri"/>
              </a:rPr>
              <a:t>warm front</a:t>
            </a:r>
            <a:r>
              <a:rPr sz="1900" b="0" i="0">
                <a:solidFill>
                  <a:srgbClr val="1F1F1F"/>
                </a:solidFill>
                <a:latin typeface="Calibri"/>
              </a:rPr>
              <a:t> curving east and a </a:t>
            </a:r>
            <a:r>
              <a:rPr sz="1900" b="1" i="0">
                <a:solidFill>
                  <a:srgbClr val="1F1F1F"/>
                </a:solidFill>
                <a:latin typeface="Calibri"/>
              </a:rPr>
              <a:t>cold front</a:t>
            </a:r>
            <a:r>
              <a:rPr sz="1900" b="0" i="0">
                <a:solidFill>
                  <a:srgbClr val="1F1F1F"/>
                </a:solidFill>
                <a:latin typeface="Calibri"/>
              </a:rPr>
              <a:t> trailing south-west, with four stations:</a:t>
            </a:r>
          </a:p>
          <a:p>
            <a:pPr algn="l">
              <a:spcAft>
                <a:spcPts val="600"/>
              </a:spcAft>
            </a:pPr>
            <a:r>
              <a:rPr sz="1900" b="0" i="0">
                <a:solidFill>
                  <a:srgbClr val="1F1F1F"/>
                </a:solidFill>
                <a:latin typeface="Calibri"/>
              </a:rPr>
              <a:t>•  </a:t>
            </a:r>
            <a:r>
              <a:rPr sz="1900" b="1" i="0">
                <a:solidFill>
                  <a:srgbClr val="1F1F1F"/>
                </a:solidFill>
                <a:latin typeface="Calibri"/>
              </a:rPr>
              <a:t>A</a:t>
            </a:r>
            <a:r>
              <a:rPr sz="1900" b="0" i="0">
                <a:solidFill>
                  <a:srgbClr val="1F1F1F"/>
                </a:solidFill>
                <a:latin typeface="Calibri"/>
              </a:rPr>
              <a:t>: north of the warm front</a:t>
            </a:r>
          </a:p>
          <a:p>
            <a:pPr algn="l">
              <a:spcAft>
                <a:spcPts val="600"/>
              </a:spcAft>
            </a:pPr>
            <a:r>
              <a:rPr sz="1900" b="0" i="0">
                <a:solidFill>
                  <a:srgbClr val="1F1F1F"/>
                </a:solidFill>
                <a:latin typeface="Calibri"/>
              </a:rPr>
              <a:t>•  </a:t>
            </a:r>
            <a:r>
              <a:rPr sz="1900" b="1" i="0">
                <a:solidFill>
                  <a:srgbClr val="1F1F1F"/>
                </a:solidFill>
                <a:latin typeface="Calibri"/>
              </a:rPr>
              <a:t>B, C</a:t>
            </a:r>
            <a:r>
              <a:rPr sz="1900" b="0" i="0">
                <a:solidFill>
                  <a:srgbClr val="1F1F1F"/>
                </a:solidFill>
                <a:latin typeface="Calibri"/>
              </a:rPr>
              <a:t>: in the </a:t>
            </a:r>
            <a:r>
              <a:rPr sz="1900" b="1" i="0">
                <a:solidFill>
                  <a:srgbClr val="1F1F1F"/>
                </a:solidFill>
                <a:latin typeface="Calibri"/>
              </a:rPr>
              <a:t>warm sector</a:t>
            </a:r>
          </a:p>
          <a:p>
            <a:pPr algn="l">
              <a:spcAft>
                <a:spcPts val="600"/>
              </a:spcAft>
            </a:pPr>
            <a:r>
              <a:rPr sz="1900" b="0" i="0">
                <a:solidFill>
                  <a:srgbClr val="1F1F1F"/>
                </a:solidFill>
                <a:latin typeface="Calibri"/>
              </a:rPr>
              <a:t>•  </a:t>
            </a:r>
            <a:r>
              <a:rPr sz="1900" b="1" i="0">
                <a:solidFill>
                  <a:srgbClr val="1F1F1F"/>
                </a:solidFill>
                <a:latin typeface="Calibri"/>
              </a:rPr>
              <a:t>D</a:t>
            </a:r>
            <a:r>
              <a:rPr sz="1900" b="0" i="0">
                <a:solidFill>
                  <a:srgbClr val="1F1F1F"/>
                </a:solidFill>
                <a:latin typeface="Calibri"/>
              </a:rPr>
              <a:t>: behind the cold front</a:t>
            </a:r>
          </a:p>
        </p:txBody>
      </p:sp>
      <p:graphicFrame>
        <p:nvGraphicFramePr>
          <p:cNvPr id="7" name="Table 6"/>
          <p:cNvGraphicFramePr>
            <a:graphicFrameLocks noGrp="1"/>
          </p:cNvGraphicFramePr>
          <p:nvPr/>
        </p:nvGraphicFramePr>
        <p:xfrm>
          <a:off x="411480" y="3749039"/>
          <a:ext cx="4480558" cy="2286000"/>
        </p:xfrm>
        <a:graphic>
          <a:graphicData uri="http://schemas.openxmlformats.org/drawingml/2006/table">
            <a:tbl>
              <a:tblPr firstRow="0" bandRow="0">
                <a:tableStyleId>{5940675A-B579-460E-94D1-54222C63F5DA}</a:tableStyleId>
              </a:tblPr>
              <a:tblGrid>
                <a:gridCol w="627278"/>
                <a:gridCol w="806500"/>
                <a:gridCol w="896112"/>
                <a:gridCol w="806500"/>
                <a:gridCol w="1344168"/>
              </a:tblGrid>
              <a:tr h="457200">
                <a:tc>
                  <a:txBody>
                    <a:bodyPr wrap="square"/>
                    <a:lstStyle/>
                    <a:p>
                      <a:pPr algn="l"/>
                      <a:r>
                        <a:rPr sz="1500" b="1" i="0">
                          <a:solidFill>
                            <a:srgbClr val="FFFFFF"/>
                          </a:solidFill>
                          <a:latin typeface="Calibri"/>
                        </a:rPr>
                        <a:t>Stn</a:t>
                      </a:r>
                    </a:p>
                  </a:txBody>
                  <a:tcPr marL="73152" marR="73152" marT="27432" marB="27432" anchor="ctr">
                    <a:solidFill>
                      <a:srgbClr val="1B3A6B"/>
                    </a:solidFill>
                  </a:tcPr>
                </a:tc>
                <a:tc>
                  <a:txBody>
                    <a:bodyPr wrap="square"/>
                    <a:lstStyle/>
                    <a:p>
                      <a:pPr algn="l"/>
                      <a:r>
                        <a:rPr sz="1500" b="1" i="0">
                          <a:solidFill>
                            <a:srgbClr val="FFFFFF"/>
                          </a:solidFill>
                          <a:latin typeface="Calibri"/>
                        </a:rPr>
                        <a:t>T (°F)</a:t>
                      </a:r>
                    </a:p>
                  </a:txBody>
                  <a:tcPr marL="73152" marR="73152" marT="27432" marB="27432" anchor="ctr">
                    <a:solidFill>
                      <a:srgbClr val="1B3A6B"/>
                    </a:solidFill>
                  </a:tcPr>
                </a:tc>
                <a:tc>
                  <a:txBody>
                    <a:bodyPr wrap="square"/>
                    <a:lstStyle/>
                    <a:p>
                      <a:pPr algn="l"/>
                      <a:r>
                        <a:rPr sz="1500" b="1" i="0">
                          <a:solidFill>
                            <a:srgbClr val="FFFFFF"/>
                          </a:solidFill>
                          <a:latin typeface="Calibri"/>
                        </a:rPr>
                        <a:t>T</a:t>
                      </a:r>
                      <a:r>
                        <a:rPr sz="1500" b="1" i="0" baseline="-25000">
                          <a:solidFill>
                            <a:srgbClr val="FFFFFF"/>
                          </a:solidFill>
                          <a:latin typeface="Calibri"/>
                        </a:rPr>
                        <a:t>d</a:t>
                      </a:r>
                      <a:r>
                        <a:rPr sz="1500" b="1" i="0">
                          <a:solidFill>
                            <a:srgbClr val="FFFFFF"/>
                          </a:solidFill>
                          <a:latin typeface="Calibri"/>
                        </a:rPr>
                        <a:t> (°F)</a:t>
                      </a:r>
                    </a:p>
                  </a:txBody>
                  <a:tcPr marL="73152" marR="73152" marT="27432" marB="27432" anchor="ctr">
                    <a:solidFill>
                      <a:srgbClr val="1B3A6B"/>
                    </a:solidFill>
                  </a:tcPr>
                </a:tc>
                <a:tc>
                  <a:txBody>
                    <a:bodyPr wrap="square"/>
                    <a:lstStyle/>
                    <a:p>
                      <a:pPr algn="l"/>
                      <a:r>
                        <a:rPr sz="1500" b="1" i="0">
                          <a:solidFill>
                            <a:srgbClr val="FFFFFF"/>
                          </a:solidFill>
                          <a:latin typeface="Calibri"/>
                        </a:rPr>
                        <a:t>RH</a:t>
                      </a:r>
                    </a:p>
                  </a:txBody>
                  <a:tcPr marL="73152" marR="73152" marT="27432" marB="27432" anchor="ctr">
                    <a:solidFill>
                      <a:srgbClr val="1B3A6B"/>
                    </a:solidFill>
                  </a:tcPr>
                </a:tc>
                <a:tc>
                  <a:txBody>
                    <a:bodyPr wrap="square"/>
                    <a:lstStyle/>
                    <a:p>
                      <a:pPr algn="l"/>
                      <a:r>
                        <a:rPr sz="1500" b="1" i="0">
                          <a:solidFill>
                            <a:srgbClr val="FFFFFF"/>
                          </a:solidFill>
                          <a:latin typeface="Calibri"/>
                        </a:rPr>
                        <a:t>Wind from</a:t>
                      </a:r>
                    </a:p>
                  </a:txBody>
                  <a:tcPr marL="73152" marR="73152" marT="27432" marB="27432" anchor="ctr">
                    <a:solidFill>
                      <a:srgbClr val="1B3A6B"/>
                    </a:solidFill>
                  </a:tcPr>
                </a:tc>
              </a:tr>
              <a:tr h="457200">
                <a:tc>
                  <a:txBody>
                    <a:bodyPr wrap="square"/>
                    <a:lstStyle/>
                    <a:p>
                      <a:pPr algn="l"/>
                      <a:r>
                        <a:rPr sz="1500" b="0" i="0">
                          <a:solidFill>
                            <a:srgbClr val="1F1F1F"/>
                          </a:solidFill>
                          <a:latin typeface="Calibri"/>
                        </a:rPr>
                        <a:t>A</a:t>
                      </a:r>
                    </a:p>
                  </a:txBody>
                  <a:tcPr marL="73152" marR="73152" marT="27432" marB="27432" anchor="ctr">
                    <a:solidFill>
                      <a:srgbClr val="FFFFFF"/>
                    </a:solidFill>
                  </a:tcPr>
                </a:tc>
                <a:tc>
                  <a:txBody>
                    <a:bodyPr wrap="square"/>
                    <a:lstStyle/>
                    <a:p>
                      <a:pPr algn="l"/>
                      <a:r>
                        <a:rPr sz="1500" b="0" i="0">
                          <a:solidFill>
                            <a:srgbClr val="1F1F1F"/>
                          </a:solidFill>
                          <a:latin typeface="Calibri"/>
                        </a:rPr>
                        <a:t>56</a:t>
                      </a:r>
                    </a:p>
                  </a:txBody>
                  <a:tcPr marL="73152" marR="73152" marT="27432" marB="27432" anchor="ctr">
                    <a:solidFill>
                      <a:srgbClr val="FFFFFF"/>
                    </a:solidFill>
                  </a:tcPr>
                </a:tc>
                <a:tc>
                  <a:txBody>
                    <a:bodyPr wrap="square"/>
                    <a:lstStyle/>
                    <a:p>
                      <a:pPr algn="l"/>
                      <a:r>
                        <a:rPr sz="1500" b="0" i="0">
                          <a:solidFill>
                            <a:srgbClr val="1F1F1F"/>
                          </a:solidFill>
                          <a:latin typeface="Calibri"/>
                        </a:rPr>
                        <a:t>53</a:t>
                      </a:r>
                    </a:p>
                  </a:txBody>
                  <a:tcPr marL="73152" marR="73152" marT="27432" marB="27432" anchor="ctr">
                    <a:solidFill>
                      <a:srgbClr val="FFFFFF"/>
                    </a:solidFill>
                  </a:tcPr>
                </a:tc>
                <a:tc>
                  <a:txBody>
                    <a:bodyPr wrap="square"/>
                    <a:lstStyle/>
                    <a:p>
                      <a:pPr algn="l"/>
                      <a:r>
                        <a:rPr sz="1500" b="0" i="0">
                          <a:solidFill>
                            <a:srgbClr val="1F1F1F"/>
                          </a:solidFill>
                          <a:latin typeface="Calibri"/>
                        </a:rPr>
                        <a:t>90 %</a:t>
                      </a:r>
                    </a:p>
                  </a:txBody>
                  <a:tcPr marL="73152" marR="73152" marT="27432" marB="27432" anchor="ctr">
                    <a:solidFill>
                      <a:srgbClr val="FFFFFF"/>
                    </a:solidFill>
                  </a:tcPr>
                </a:tc>
                <a:tc>
                  <a:txBody>
                    <a:bodyPr wrap="square"/>
                    <a:lstStyle/>
                    <a:p>
                      <a:pPr algn="l"/>
                      <a:r>
                        <a:rPr sz="1500" b="0" i="0">
                          <a:solidFill>
                            <a:srgbClr val="1F1F1F"/>
                          </a:solidFill>
                          <a:latin typeface="Calibri"/>
                        </a:rPr>
                        <a:t>ESE 10 kt</a:t>
                      </a:r>
                    </a:p>
                  </a:txBody>
                  <a:tcPr marL="73152" marR="73152" marT="27432" marB="27432" anchor="ctr">
                    <a:solidFill>
                      <a:srgbClr val="FFFFFF"/>
                    </a:solidFill>
                  </a:tcPr>
                </a:tc>
              </a:tr>
              <a:tr h="457200">
                <a:tc>
                  <a:txBody>
                    <a:bodyPr wrap="square"/>
                    <a:lstStyle/>
                    <a:p>
                      <a:pPr algn="l"/>
                      <a:r>
                        <a:rPr sz="1500" b="0" i="0">
                          <a:solidFill>
                            <a:srgbClr val="1F1F1F"/>
                          </a:solidFill>
                          <a:latin typeface="Calibri"/>
                        </a:rPr>
                        <a:t>B</a:t>
                      </a:r>
                    </a:p>
                  </a:txBody>
                  <a:tcPr marL="73152" marR="73152" marT="27432" marB="27432" anchor="ctr">
                    <a:solidFill>
                      <a:srgbClr val="F7F7F5"/>
                    </a:solidFill>
                  </a:tcPr>
                </a:tc>
                <a:tc>
                  <a:txBody>
                    <a:bodyPr wrap="square"/>
                    <a:lstStyle/>
                    <a:p>
                      <a:pPr algn="l"/>
                      <a:r>
                        <a:rPr sz="1500" b="0" i="0">
                          <a:solidFill>
                            <a:srgbClr val="1F1F1F"/>
                          </a:solidFill>
                          <a:latin typeface="Calibri"/>
                        </a:rPr>
                        <a:t>68</a:t>
                      </a:r>
                    </a:p>
                  </a:txBody>
                  <a:tcPr marL="73152" marR="73152" marT="27432" marB="27432" anchor="ctr">
                    <a:solidFill>
                      <a:srgbClr val="F7F7F5"/>
                    </a:solidFill>
                  </a:tcPr>
                </a:tc>
                <a:tc>
                  <a:txBody>
                    <a:bodyPr wrap="square"/>
                    <a:lstStyle/>
                    <a:p>
                      <a:pPr algn="l"/>
                      <a:r>
                        <a:rPr sz="1500" b="0" i="0">
                          <a:solidFill>
                            <a:srgbClr val="1F1F1F"/>
                          </a:solidFill>
                          <a:latin typeface="Calibri"/>
                        </a:rPr>
                        <a:t>63</a:t>
                      </a:r>
                    </a:p>
                  </a:txBody>
                  <a:tcPr marL="73152" marR="73152" marT="27432" marB="27432" anchor="ctr">
                    <a:solidFill>
                      <a:srgbClr val="F7F7F5"/>
                    </a:solidFill>
                  </a:tcPr>
                </a:tc>
                <a:tc>
                  <a:txBody>
                    <a:bodyPr wrap="square"/>
                    <a:lstStyle/>
                    <a:p>
                      <a:pPr algn="l"/>
                      <a:r>
                        <a:rPr sz="1500" b="0" i="0">
                          <a:solidFill>
                            <a:srgbClr val="1F1F1F"/>
                          </a:solidFill>
                          <a:latin typeface="Calibri"/>
                        </a:rPr>
                        <a:t>84 %</a:t>
                      </a:r>
                    </a:p>
                  </a:txBody>
                  <a:tcPr marL="73152" marR="73152" marT="27432" marB="27432" anchor="ctr">
                    <a:solidFill>
                      <a:srgbClr val="F7F7F5"/>
                    </a:solidFill>
                  </a:tcPr>
                </a:tc>
                <a:tc>
                  <a:txBody>
                    <a:bodyPr wrap="square"/>
                    <a:lstStyle/>
                    <a:p>
                      <a:pPr algn="l"/>
                      <a:r>
                        <a:rPr sz="1500" b="0" i="0">
                          <a:solidFill>
                            <a:srgbClr val="1F1F1F"/>
                          </a:solidFill>
                          <a:latin typeface="Calibri"/>
                        </a:rPr>
                        <a:t>S 10 kt</a:t>
                      </a:r>
                    </a:p>
                  </a:txBody>
                  <a:tcPr marL="73152" marR="73152" marT="27432" marB="27432" anchor="ctr">
                    <a:solidFill>
                      <a:srgbClr val="F7F7F5"/>
                    </a:solidFill>
                  </a:tcPr>
                </a:tc>
              </a:tr>
              <a:tr h="457200">
                <a:tc>
                  <a:txBody>
                    <a:bodyPr wrap="square"/>
                    <a:lstStyle/>
                    <a:p>
                      <a:pPr algn="l"/>
                      <a:r>
                        <a:rPr sz="1500" b="0" i="0">
                          <a:solidFill>
                            <a:srgbClr val="1F1F1F"/>
                          </a:solidFill>
                          <a:latin typeface="Calibri"/>
                        </a:rPr>
                        <a:t>C</a:t>
                      </a:r>
                    </a:p>
                  </a:txBody>
                  <a:tcPr marL="73152" marR="73152" marT="27432" marB="27432" anchor="ctr">
                    <a:solidFill>
                      <a:srgbClr val="FFFFFF"/>
                    </a:solidFill>
                  </a:tcPr>
                </a:tc>
                <a:tc>
                  <a:txBody>
                    <a:bodyPr wrap="square"/>
                    <a:lstStyle/>
                    <a:p>
                      <a:pPr algn="l"/>
                      <a:r>
                        <a:rPr sz="1500" b="0" i="0">
                          <a:solidFill>
                            <a:srgbClr val="1F1F1F"/>
                          </a:solidFill>
                          <a:latin typeface="Calibri"/>
                        </a:rPr>
                        <a:t>70</a:t>
                      </a:r>
                    </a:p>
                  </a:txBody>
                  <a:tcPr marL="73152" marR="73152" marT="27432" marB="27432" anchor="ctr">
                    <a:solidFill>
                      <a:srgbClr val="FFFFFF"/>
                    </a:solidFill>
                  </a:tcPr>
                </a:tc>
                <a:tc>
                  <a:txBody>
                    <a:bodyPr wrap="square"/>
                    <a:lstStyle/>
                    <a:p>
                      <a:pPr algn="l"/>
                      <a:r>
                        <a:rPr sz="1500" b="0" i="0">
                          <a:solidFill>
                            <a:srgbClr val="1F1F1F"/>
                          </a:solidFill>
                          <a:latin typeface="Calibri"/>
                        </a:rPr>
                        <a:t>64</a:t>
                      </a:r>
                    </a:p>
                  </a:txBody>
                  <a:tcPr marL="73152" marR="73152" marT="27432" marB="27432" anchor="ctr">
                    <a:solidFill>
                      <a:srgbClr val="FFFFFF"/>
                    </a:solidFill>
                  </a:tcPr>
                </a:tc>
                <a:tc>
                  <a:txBody>
                    <a:bodyPr wrap="square"/>
                    <a:lstStyle/>
                    <a:p>
                      <a:pPr algn="l"/>
                      <a:r>
                        <a:rPr sz="1500" b="0" i="0">
                          <a:solidFill>
                            <a:srgbClr val="1F1F1F"/>
                          </a:solidFill>
                          <a:latin typeface="Calibri"/>
                        </a:rPr>
                        <a:t>81 %</a:t>
                      </a:r>
                    </a:p>
                  </a:txBody>
                  <a:tcPr marL="73152" marR="73152" marT="27432" marB="27432" anchor="ctr">
                    <a:solidFill>
                      <a:srgbClr val="FFFFFF"/>
                    </a:solidFill>
                  </a:tcPr>
                </a:tc>
                <a:tc>
                  <a:txBody>
                    <a:bodyPr wrap="square"/>
                    <a:lstStyle/>
                    <a:p>
                      <a:pPr algn="l"/>
                      <a:r>
                        <a:rPr sz="1500" b="0" i="0">
                          <a:solidFill>
                            <a:srgbClr val="1F1F1F"/>
                          </a:solidFill>
                          <a:latin typeface="Calibri"/>
                        </a:rPr>
                        <a:t>SSW 10 kt</a:t>
                      </a:r>
                    </a:p>
                  </a:txBody>
                  <a:tcPr marL="73152" marR="73152" marT="27432" marB="27432" anchor="ctr">
                    <a:solidFill>
                      <a:srgbClr val="FFFFFF"/>
                    </a:solidFill>
                  </a:tcPr>
                </a:tc>
              </a:tr>
              <a:tr h="457200">
                <a:tc>
                  <a:txBody>
                    <a:bodyPr wrap="square"/>
                    <a:lstStyle/>
                    <a:p>
                      <a:pPr algn="l"/>
                      <a:r>
                        <a:rPr sz="1500" b="0" i="0">
                          <a:solidFill>
                            <a:srgbClr val="1F1F1F"/>
                          </a:solidFill>
                          <a:latin typeface="Calibri"/>
                        </a:rPr>
                        <a:t>D</a:t>
                      </a:r>
                    </a:p>
                  </a:txBody>
                  <a:tcPr marL="73152" marR="73152" marT="27432" marB="27432" anchor="ctr">
                    <a:solidFill>
                      <a:srgbClr val="F7F7F5"/>
                    </a:solidFill>
                  </a:tcPr>
                </a:tc>
                <a:tc>
                  <a:txBody>
                    <a:bodyPr wrap="square"/>
                    <a:lstStyle/>
                    <a:p>
                      <a:pPr algn="l"/>
                      <a:r>
                        <a:rPr sz="1500" b="0" i="0">
                          <a:solidFill>
                            <a:srgbClr val="1F1F1F"/>
                          </a:solidFill>
                          <a:latin typeface="Calibri"/>
                        </a:rPr>
                        <a:t>50</a:t>
                      </a:r>
                    </a:p>
                  </a:txBody>
                  <a:tcPr marL="73152" marR="73152" marT="27432" marB="27432" anchor="ctr">
                    <a:solidFill>
                      <a:srgbClr val="F7F7F5"/>
                    </a:solidFill>
                  </a:tcPr>
                </a:tc>
                <a:tc>
                  <a:txBody>
                    <a:bodyPr wrap="square"/>
                    <a:lstStyle/>
                    <a:p>
                      <a:pPr algn="l"/>
                      <a:r>
                        <a:rPr sz="1500" b="0" i="0">
                          <a:solidFill>
                            <a:srgbClr val="1F1F1F"/>
                          </a:solidFill>
                          <a:latin typeface="Calibri"/>
                        </a:rPr>
                        <a:t>38</a:t>
                      </a:r>
                    </a:p>
                  </a:txBody>
                  <a:tcPr marL="73152" marR="73152" marT="27432" marB="27432" anchor="ctr">
                    <a:solidFill>
                      <a:srgbClr val="F7F7F5"/>
                    </a:solidFill>
                  </a:tcPr>
                </a:tc>
                <a:tc>
                  <a:txBody>
                    <a:bodyPr wrap="square"/>
                    <a:lstStyle/>
                    <a:p>
                      <a:pPr algn="l"/>
                      <a:r>
                        <a:rPr sz="1500" b="0" i="0">
                          <a:solidFill>
                            <a:srgbClr val="1F1F1F"/>
                          </a:solidFill>
                          <a:latin typeface="Calibri"/>
                        </a:rPr>
                        <a:t>63 %</a:t>
                      </a:r>
                    </a:p>
                  </a:txBody>
                  <a:tcPr marL="73152" marR="73152" marT="27432" marB="27432" anchor="ctr">
                    <a:solidFill>
                      <a:srgbClr val="F7F7F5"/>
                    </a:solidFill>
                  </a:tcPr>
                </a:tc>
                <a:tc>
                  <a:txBody>
                    <a:bodyPr wrap="square"/>
                    <a:lstStyle/>
                    <a:p>
                      <a:pPr algn="l"/>
                      <a:r>
                        <a:rPr sz="1500" b="0" i="0">
                          <a:solidFill>
                            <a:srgbClr val="1F1F1F"/>
                          </a:solidFill>
                          <a:latin typeface="Calibri"/>
                        </a:rPr>
                        <a:t>WNW 20 kt</a:t>
                      </a:r>
                    </a:p>
                  </a:txBody>
                  <a:tcPr marL="73152" marR="73152" marT="27432" marB="27432" anchor="ctr">
                    <a:solidFill>
                      <a:srgbClr val="F7F7F5"/>
                    </a:solidFill>
                  </a:tcPr>
                </a:tc>
              </a:tr>
            </a:tbl>
          </a:graphicData>
        </a:graphic>
      </p:graphicFrame>
      <p:pic>
        <p:nvPicPr>
          <p:cNvPr id="8" name="Picture 7" descr="fig9_s0.png"/>
          <p:cNvPicPr>
            <a:picLocks noChangeAspect="1"/>
          </p:cNvPicPr>
          <p:nvPr/>
        </p:nvPicPr>
        <p:blipFill>
          <a:blip r:embed="rId2"/>
          <a:stretch>
            <a:fillRect/>
          </a:stretch>
        </p:blipFill>
        <p:spPr>
          <a:xfrm>
            <a:off x="5029200" y="1063993"/>
            <a:ext cx="6766560" cy="5187213"/>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Figure 9: reading the fronts, step 1</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140</a:t>
            </a:r>
          </a:p>
        </p:txBody>
      </p:sp>
      <p:sp>
        <p:nvSpPr>
          <p:cNvPr id="6" name="Rounded Rectangle 5"/>
          <p:cNvSpPr/>
          <p:nvPr/>
        </p:nvSpPr>
        <p:spPr>
          <a:xfrm>
            <a:off x="365760" y="1051560"/>
            <a:ext cx="4572000" cy="95478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The warm sector (B, C):</a:t>
            </a:r>
            <a:r>
              <a:rPr sz="1700" b="0" i="0">
                <a:solidFill>
                  <a:srgbClr val="1F1F1F"/>
                </a:solidFill>
                <a:latin typeface="Calibri"/>
              </a:rPr>
              <a:t> 68–70 °F, dew points 63–64 °F, RH above 80 %, wind from the </a:t>
            </a:r>
            <a:r>
              <a:rPr sz="1700" b="1" i="0">
                <a:solidFill>
                  <a:srgbClr val="1F1F1F"/>
                </a:solidFill>
                <a:latin typeface="Calibri"/>
              </a:rPr>
              <a:t>south</a:t>
            </a:r>
            <a:r>
              <a:rPr sz="1700" b="0" i="0">
                <a:solidFill>
                  <a:srgbClr val="1F1F1F"/>
                </a:solidFill>
                <a:latin typeface="Calibri"/>
              </a:rPr>
              <a:t>.</a:t>
            </a:r>
          </a:p>
        </p:txBody>
      </p:sp>
      <p:sp>
        <p:nvSpPr>
          <p:cNvPr id="7" name="Oval 6"/>
          <p:cNvSpPr/>
          <p:nvPr/>
        </p:nvSpPr>
        <p:spPr>
          <a:xfrm>
            <a:off x="457200" y="1355216"/>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pic>
        <p:nvPicPr>
          <p:cNvPr id="8" name="Picture 7" descr="fig9_s1.png"/>
          <p:cNvPicPr>
            <a:picLocks noChangeAspect="1"/>
          </p:cNvPicPr>
          <p:nvPr/>
        </p:nvPicPr>
        <p:blipFill>
          <a:blip r:embed="rId3"/>
          <a:stretch>
            <a:fillRect/>
          </a:stretch>
        </p:blipFill>
        <p:spPr>
          <a:xfrm>
            <a:off x="5166360" y="1064616"/>
            <a:ext cx="6705295" cy="5140247"/>
          </a:xfrm>
          <a:prstGeom prst="rect">
            <a:avLst/>
          </a:prstGeom>
        </p:spPr>
      </p:pic>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Figure 9: reading the fronts, step 2</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141</a:t>
            </a:r>
          </a:p>
        </p:txBody>
      </p:sp>
      <p:sp>
        <p:nvSpPr>
          <p:cNvPr id="6" name="Rounded Rectangle 5"/>
          <p:cNvSpPr/>
          <p:nvPr/>
        </p:nvSpPr>
        <p:spPr>
          <a:xfrm>
            <a:off x="365760" y="1051560"/>
            <a:ext cx="457200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The warm sector (B, C):</a:t>
            </a:r>
            <a:r>
              <a:rPr sz="1700" b="0" i="0">
                <a:solidFill>
                  <a:srgbClr val="6B6B6B"/>
                </a:solidFill>
                <a:latin typeface="Calibri"/>
              </a:rPr>
              <a:t> 68–70 °F, dew points 63–64 °F, RH above 80 %, wind from the </a:t>
            </a:r>
            <a:r>
              <a:rPr sz="1700" b="1" i="0">
                <a:solidFill>
                  <a:srgbClr val="6B6B6B"/>
                </a:solidFill>
                <a:latin typeface="Calibri"/>
              </a:rPr>
              <a:t>south</a:t>
            </a:r>
            <a:r>
              <a:rPr sz="1700" b="0" i="0">
                <a:solidFill>
                  <a:srgbClr val="6B6B6B"/>
                </a:solidFill>
                <a:latin typeface="Calibri"/>
              </a:rPr>
              <a:t>.</a:t>
            </a:r>
          </a:p>
        </p:txBody>
      </p:sp>
      <p:sp>
        <p:nvSpPr>
          <p:cNvPr id="7" name="Oval 6"/>
          <p:cNvSpPr/>
          <p:nvPr/>
        </p:nvSpPr>
        <p:spPr>
          <a:xfrm>
            <a:off x="457200" y="135521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097786"/>
            <a:ext cx="4572000" cy="954786"/>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Behind the cold front (D):</a:t>
            </a:r>
            <a:r>
              <a:rPr sz="1700" b="0" i="0">
                <a:solidFill>
                  <a:srgbClr val="1F1F1F"/>
                </a:solidFill>
                <a:latin typeface="Calibri"/>
              </a:rPr>
              <a:t> 50 °F, dew point 38 °F (much drier), clear, wind from the </a:t>
            </a:r>
            <a:r>
              <a:rPr sz="1700" b="1" i="0">
                <a:solidFill>
                  <a:srgbClr val="1F1F1F"/>
                </a:solidFill>
                <a:latin typeface="Calibri"/>
              </a:rPr>
              <a:t>west-north-west</a:t>
            </a:r>
            <a:r>
              <a:rPr sz="1700" b="0" i="0">
                <a:solidFill>
                  <a:srgbClr val="1F1F1F"/>
                </a:solidFill>
                <a:latin typeface="Calibri"/>
              </a:rPr>
              <a:t>.</a:t>
            </a:r>
          </a:p>
        </p:txBody>
      </p:sp>
      <p:sp>
        <p:nvSpPr>
          <p:cNvPr id="9" name="Oval 8"/>
          <p:cNvSpPr/>
          <p:nvPr/>
        </p:nvSpPr>
        <p:spPr>
          <a:xfrm>
            <a:off x="457200" y="2401443"/>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pic>
        <p:nvPicPr>
          <p:cNvPr id="10" name="Picture 9" descr="fig9_s2.png"/>
          <p:cNvPicPr>
            <a:picLocks noChangeAspect="1"/>
          </p:cNvPicPr>
          <p:nvPr/>
        </p:nvPicPr>
        <p:blipFill>
          <a:blip r:embed="rId3"/>
          <a:stretch>
            <a:fillRect/>
          </a:stretch>
        </p:blipFill>
        <p:spPr>
          <a:xfrm>
            <a:off x="5166360" y="1064616"/>
            <a:ext cx="6705295" cy="5140247"/>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Figure 9: reading the fronts, step 3</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142</a:t>
            </a:r>
          </a:p>
        </p:txBody>
      </p:sp>
      <p:sp>
        <p:nvSpPr>
          <p:cNvPr id="6" name="Rounded Rectangle 5"/>
          <p:cNvSpPr/>
          <p:nvPr/>
        </p:nvSpPr>
        <p:spPr>
          <a:xfrm>
            <a:off x="365760" y="1051560"/>
            <a:ext cx="457200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The warm sector (B, C):</a:t>
            </a:r>
            <a:r>
              <a:rPr sz="1700" b="0" i="0">
                <a:solidFill>
                  <a:srgbClr val="6B6B6B"/>
                </a:solidFill>
                <a:latin typeface="Calibri"/>
              </a:rPr>
              <a:t> 68–70 °F, dew points 63–64 °F, RH above 80 %, wind from the </a:t>
            </a:r>
            <a:r>
              <a:rPr sz="1700" b="1" i="0">
                <a:solidFill>
                  <a:srgbClr val="6B6B6B"/>
                </a:solidFill>
                <a:latin typeface="Calibri"/>
              </a:rPr>
              <a:t>south</a:t>
            </a:r>
            <a:r>
              <a:rPr sz="1700" b="0" i="0">
                <a:solidFill>
                  <a:srgbClr val="6B6B6B"/>
                </a:solidFill>
                <a:latin typeface="Calibri"/>
              </a:rPr>
              <a:t>.</a:t>
            </a:r>
          </a:p>
        </p:txBody>
      </p:sp>
      <p:sp>
        <p:nvSpPr>
          <p:cNvPr id="7" name="Oval 6"/>
          <p:cNvSpPr/>
          <p:nvPr/>
        </p:nvSpPr>
        <p:spPr>
          <a:xfrm>
            <a:off x="457200" y="135521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097786"/>
            <a:ext cx="457200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Behind the cold front (D):</a:t>
            </a:r>
            <a:r>
              <a:rPr sz="1700" b="0" i="0">
                <a:solidFill>
                  <a:srgbClr val="6B6B6B"/>
                </a:solidFill>
                <a:latin typeface="Calibri"/>
              </a:rPr>
              <a:t> 50 °F, dew point 38 °F (much drier), clear, wind from the </a:t>
            </a:r>
            <a:r>
              <a:rPr sz="1700" b="1" i="0">
                <a:solidFill>
                  <a:srgbClr val="6B6B6B"/>
                </a:solidFill>
                <a:latin typeface="Calibri"/>
              </a:rPr>
              <a:t>west-north-west</a:t>
            </a:r>
            <a:r>
              <a:rPr sz="1700" b="0" i="0">
                <a:solidFill>
                  <a:srgbClr val="6B6B6B"/>
                </a:solidFill>
                <a:latin typeface="Calibri"/>
              </a:rPr>
              <a:t>.</a:t>
            </a:r>
          </a:p>
        </p:txBody>
      </p:sp>
      <p:sp>
        <p:nvSpPr>
          <p:cNvPr id="9" name="Oval 8"/>
          <p:cNvSpPr/>
          <p:nvPr/>
        </p:nvSpPr>
        <p:spPr>
          <a:xfrm>
            <a:off x="457200" y="2401443"/>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144012"/>
            <a:ext cx="4572000" cy="1218183"/>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Crossing the cold front, C → D:</a:t>
            </a:r>
            <a:r>
              <a:rPr sz="1700" b="0" i="0">
                <a:solidFill>
                  <a:srgbClr val="1F1F1F"/>
                </a:solidFill>
                <a:latin typeface="Calibri"/>
              </a:rPr>
              <a:t> temperature −20 °F, dew point −26 °F, wind turns </a:t>
            </a:r>
            <a:r>
              <a:rPr sz="1700" b="1" i="0">
                <a:solidFill>
                  <a:srgbClr val="1F1F1F"/>
                </a:solidFill>
                <a:latin typeface="Calibri"/>
              </a:rPr>
              <a:t>clockwise</a:t>
            </a:r>
            <a:r>
              <a:rPr sz="1700" b="0" i="0">
                <a:solidFill>
                  <a:srgbClr val="1F1F1F"/>
                </a:solidFill>
                <a:latin typeface="Calibri"/>
              </a:rPr>
              <a:t> ≈ 100° (SSW → WNW), pressure rises.</a:t>
            </a:r>
          </a:p>
        </p:txBody>
      </p:sp>
      <p:sp>
        <p:nvSpPr>
          <p:cNvPr id="11" name="Oval 10"/>
          <p:cNvSpPr/>
          <p:nvPr/>
        </p:nvSpPr>
        <p:spPr>
          <a:xfrm>
            <a:off x="457200" y="3579368"/>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pic>
        <p:nvPicPr>
          <p:cNvPr id="12" name="Picture 11" descr="fig9_s3.png"/>
          <p:cNvPicPr>
            <a:picLocks noChangeAspect="1"/>
          </p:cNvPicPr>
          <p:nvPr/>
        </p:nvPicPr>
        <p:blipFill>
          <a:blip r:embed="rId3"/>
          <a:stretch>
            <a:fillRect/>
          </a:stretch>
        </p:blipFill>
        <p:spPr>
          <a:xfrm>
            <a:off x="5166360" y="1064616"/>
            <a:ext cx="6705295" cy="5140247"/>
          </a:xfrm>
          <a:prstGeom prst="rect">
            <a:avLst/>
          </a:prstGeom>
        </p:spPr>
      </p:pic>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Figure 9: reading the fronts, step 4</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143</a:t>
            </a:r>
          </a:p>
        </p:txBody>
      </p:sp>
      <p:sp>
        <p:nvSpPr>
          <p:cNvPr id="6" name="Rounded Rectangle 5"/>
          <p:cNvSpPr/>
          <p:nvPr/>
        </p:nvSpPr>
        <p:spPr>
          <a:xfrm>
            <a:off x="365760" y="1051560"/>
            <a:ext cx="457200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The warm sector (B, C):</a:t>
            </a:r>
            <a:r>
              <a:rPr sz="1700" b="0" i="0">
                <a:solidFill>
                  <a:srgbClr val="6B6B6B"/>
                </a:solidFill>
                <a:latin typeface="Calibri"/>
              </a:rPr>
              <a:t> 68–70 °F, dew points 63–64 °F, RH above 80 %, wind from the </a:t>
            </a:r>
            <a:r>
              <a:rPr sz="1700" b="1" i="0">
                <a:solidFill>
                  <a:srgbClr val="6B6B6B"/>
                </a:solidFill>
                <a:latin typeface="Calibri"/>
              </a:rPr>
              <a:t>south</a:t>
            </a:r>
            <a:r>
              <a:rPr sz="1700" b="0" i="0">
                <a:solidFill>
                  <a:srgbClr val="6B6B6B"/>
                </a:solidFill>
                <a:latin typeface="Calibri"/>
              </a:rPr>
              <a:t>.</a:t>
            </a:r>
          </a:p>
        </p:txBody>
      </p:sp>
      <p:sp>
        <p:nvSpPr>
          <p:cNvPr id="7" name="Oval 6"/>
          <p:cNvSpPr/>
          <p:nvPr/>
        </p:nvSpPr>
        <p:spPr>
          <a:xfrm>
            <a:off x="457200" y="1355216"/>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a:t>
            </a:r>
          </a:p>
        </p:txBody>
      </p:sp>
      <p:sp>
        <p:nvSpPr>
          <p:cNvPr id="8" name="Rounded Rectangle 7"/>
          <p:cNvSpPr/>
          <p:nvPr/>
        </p:nvSpPr>
        <p:spPr>
          <a:xfrm>
            <a:off x="365760" y="2097786"/>
            <a:ext cx="4572000" cy="954786"/>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Behind the cold front (D):</a:t>
            </a:r>
            <a:r>
              <a:rPr sz="1700" b="0" i="0">
                <a:solidFill>
                  <a:srgbClr val="6B6B6B"/>
                </a:solidFill>
                <a:latin typeface="Calibri"/>
              </a:rPr>
              <a:t> 50 °F, dew point 38 °F (much drier), clear, wind from the </a:t>
            </a:r>
            <a:r>
              <a:rPr sz="1700" b="1" i="0">
                <a:solidFill>
                  <a:srgbClr val="6B6B6B"/>
                </a:solidFill>
                <a:latin typeface="Calibri"/>
              </a:rPr>
              <a:t>west-north-west</a:t>
            </a:r>
            <a:r>
              <a:rPr sz="1700" b="0" i="0">
                <a:solidFill>
                  <a:srgbClr val="6B6B6B"/>
                </a:solidFill>
                <a:latin typeface="Calibri"/>
              </a:rPr>
              <a:t>.</a:t>
            </a:r>
          </a:p>
        </p:txBody>
      </p:sp>
      <p:sp>
        <p:nvSpPr>
          <p:cNvPr id="9" name="Oval 8"/>
          <p:cNvSpPr/>
          <p:nvPr/>
        </p:nvSpPr>
        <p:spPr>
          <a:xfrm>
            <a:off x="457200" y="2401443"/>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2</a:t>
            </a:r>
          </a:p>
        </p:txBody>
      </p:sp>
      <p:sp>
        <p:nvSpPr>
          <p:cNvPr id="10" name="Rounded Rectangle 9"/>
          <p:cNvSpPr/>
          <p:nvPr/>
        </p:nvSpPr>
        <p:spPr>
          <a:xfrm>
            <a:off x="365760" y="3144012"/>
            <a:ext cx="4572000" cy="1218183"/>
          </a:xfrm>
          <a:prstGeom prst="roundRect">
            <a:avLst>
              <a:gd name="adj" fmla="val 12000"/>
            </a:avLst>
          </a:prstGeom>
          <a:solidFill>
            <a:srgbClr val="F1F1EF"/>
          </a:solidFill>
          <a:ln w="12700">
            <a:solidFill>
              <a:srgbClr val="C9C9C4"/>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6B6B6B"/>
                </a:solidFill>
                <a:latin typeface="Calibri"/>
              </a:rPr>
              <a:t>Crossing the cold front, C → D:</a:t>
            </a:r>
            <a:r>
              <a:rPr sz="1700" b="0" i="0">
                <a:solidFill>
                  <a:srgbClr val="6B6B6B"/>
                </a:solidFill>
                <a:latin typeface="Calibri"/>
              </a:rPr>
              <a:t> temperature −20 °F, dew point −26 °F, wind turns </a:t>
            </a:r>
            <a:r>
              <a:rPr sz="1700" b="1" i="0">
                <a:solidFill>
                  <a:srgbClr val="6B6B6B"/>
                </a:solidFill>
                <a:latin typeface="Calibri"/>
              </a:rPr>
              <a:t>clockwise</a:t>
            </a:r>
            <a:r>
              <a:rPr sz="1700" b="0" i="0">
                <a:solidFill>
                  <a:srgbClr val="6B6B6B"/>
                </a:solidFill>
                <a:latin typeface="Calibri"/>
              </a:rPr>
              <a:t> ≈ 100° (SSW → WNW), pressure rises.</a:t>
            </a:r>
          </a:p>
        </p:txBody>
      </p:sp>
      <p:sp>
        <p:nvSpPr>
          <p:cNvPr id="11" name="Oval 10"/>
          <p:cNvSpPr/>
          <p:nvPr/>
        </p:nvSpPr>
        <p:spPr>
          <a:xfrm>
            <a:off x="457200" y="3579368"/>
            <a:ext cx="347472" cy="347472"/>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3</a:t>
            </a:r>
          </a:p>
        </p:txBody>
      </p:sp>
      <p:sp>
        <p:nvSpPr>
          <p:cNvPr id="12" name="Rounded Rectangle 11"/>
          <p:cNvSpPr/>
          <p:nvPr/>
        </p:nvSpPr>
        <p:spPr>
          <a:xfrm>
            <a:off x="365760" y="4453636"/>
            <a:ext cx="4572000" cy="1218183"/>
          </a:xfrm>
          <a:prstGeom prst="roundRect">
            <a:avLst>
              <a:gd name="adj" fmla="val 12000"/>
            </a:avLst>
          </a:prstGeom>
          <a:solidFill>
            <a:srgbClr val="E6F0F8"/>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36576" bIns="36576"/>
          <a:lstStyle/>
          <a:p>
            <a:pPr algn="l"/>
            <a:r>
              <a:rPr sz="1700" b="1" i="0">
                <a:solidFill>
                  <a:srgbClr val="1F1F1F"/>
                </a:solidFill>
                <a:latin typeface="Calibri"/>
              </a:rPr>
              <a:t>Crossing the warm front, A → B:</a:t>
            </a:r>
            <a:r>
              <a:rPr sz="1700" b="0" i="0">
                <a:solidFill>
                  <a:srgbClr val="1F1F1F"/>
                </a:solidFill>
                <a:latin typeface="Calibri"/>
              </a:rPr>
              <a:t> temperature +12 °F, dew point +10 °F, wind turns </a:t>
            </a:r>
            <a:r>
              <a:rPr sz="1700" b="1" i="0">
                <a:solidFill>
                  <a:srgbClr val="1F1F1F"/>
                </a:solidFill>
                <a:latin typeface="Calibri"/>
              </a:rPr>
              <a:t>clockwise</a:t>
            </a:r>
            <a:r>
              <a:rPr sz="1700" b="0" i="0">
                <a:solidFill>
                  <a:srgbClr val="1F1F1F"/>
                </a:solidFill>
                <a:latin typeface="Calibri"/>
              </a:rPr>
              <a:t> ≈ 64° (ESE → S), rain gives way to near-clear.</a:t>
            </a:r>
          </a:p>
        </p:txBody>
      </p:sp>
      <p:sp>
        <p:nvSpPr>
          <p:cNvPr id="13" name="Oval 12"/>
          <p:cNvSpPr/>
          <p:nvPr/>
        </p:nvSpPr>
        <p:spPr>
          <a:xfrm>
            <a:off x="457200" y="4888992"/>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a:t>
            </a:r>
          </a:p>
        </p:txBody>
      </p:sp>
      <p:pic>
        <p:nvPicPr>
          <p:cNvPr id="14" name="Picture 13" descr="fig9_s4.png"/>
          <p:cNvPicPr>
            <a:picLocks noChangeAspect="1"/>
          </p:cNvPicPr>
          <p:nvPr/>
        </p:nvPicPr>
        <p:blipFill>
          <a:blip r:embed="rId3"/>
          <a:stretch>
            <a:fillRect/>
          </a:stretch>
        </p:blipFill>
        <p:spPr>
          <a:xfrm>
            <a:off x="5166360" y="1064616"/>
            <a:ext cx="6705295" cy="5140247"/>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What Figure 9 teaches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144</a:t>
            </a:r>
          </a:p>
        </p:txBody>
      </p:sp>
      <p:sp>
        <p:nvSpPr>
          <p:cNvPr id="6" name="Rounded Rectangle 5"/>
          <p:cNvSpPr/>
          <p:nvPr/>
        </p:nvSpPr>
        <p:spPr>
          <a:xfrm>
            <a:off x="411480" y="1097280"/>
            <a:ext cx="5669280" cy="31089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900" b="1" i="0">
                <a:solidFill>
                  <a:srgbClr val="007F5F"/>
                </a:solidFill>
                <a:latin typeface="Calibri"/>
              </a:rPr>
              <a:t>Answer</a:t>
            </a:r>
          </a:p>
          <a:p>
            <a:pPr algn="l">
              <a:spcAft>
                <a:spcPts val="300"/>
              </a:spcAft>
            </a:pPr>
            <a:r>
              <a:rPr sz="1900" b="0" i="0">
                <a:solidFill>
                  <a:srgbClr val="1F1F1F"/>
                </a:solidFill>
                <a:latin typeface="Calibri"/>
              </a:rPr>
              <a:t>A front is marked by </a:t>
            </a:r>
            <a:r>
              <a:rPr sz="1900" b="1" i="0">
                <a:solidFill>
                  <a:srgbClr val="1F1F1F"/>
                </a:solidFill>
                <a:latin typeface="Calibri"/>
              </a:rPr>
              <a:t>simultaneous</a:t>
            </a:r>
            <a:r>
              <a:rPr sz="1900" b="0" i="0">
                <a:solidFill>
                  <a:srgbClr val="1F1F1F"/>
                </a:solidFill>
                <a:latin typeface="Calibri"/>
              </a:rPr>
              <a:t> changes of temperature, moisture and wind direction.</a:t>
            </a:r>
          </a:p>
          <a:p>
            <a:pPr algn="l">
              <a:spcAft>
                <a:spcPts val="300"/>
              </a:spcAft>
            </a:pPr>
            <a:r>
              <a:rPr sz="1900" b="0" i="0">
                <a:solidFill>
                  <a:srgbClr val="1F1F1F"/>
                </a:solidFill>
                <a:latin typeface="Calibri"/>
              </a:rPr>
              <a:t>At </a:t>
            </a:r>
            <a:r>
              <a:rPr sz="1900" b="1" i="0">
                <a:solidFill>
                  <a:srgbClr val="1F1F1F"/>
                </a:solidFill>
                <a:latin typeface="Calibri"/>
              </a:rPr>
              <a:t>both</a:t>
            </a:r>
            <a:r>
              <a:rPr sz="1900" b="0" i="0">
                <a:solidFill>
                  <a:srgbClr val="1F1F1F"/>
                </a:solidFill>
                <a:latin typeface="Calibri"/>
              </a:rPr>
              <a:t> fronts the wind </a:t>
            </a:r>
            <a:r>
              <a:rPr sz="1900" b="1" i="0">
                <a:solidFill>
                  <a:srgbClr val="007F5F"/>
                </a:solidFill>
                <a:latin typeface="Calibri"/>
              </a:rPr>
              <a:t>veers</a:t>
            </a:r>
            <a:r>
              <a:rPr sz="1900" b="0" i="0">
                <a:solidFill>
                  <a:srgbClr val="1F1F1F"/>
                </a:solidFill>
                <a:latin typeface="Calibri"/>
              </a:rPr>
              <a:t> (turns clockwise).</a:t>
            </a:r>
          </a:p>
          <a:p>
            <a:pPr algn="l">
              <a:spcAft>
                <a:spcPts val="300"/>
              </a:spcAft>
            </a:pPr>
            <a:r>
              <a:rPr sz="1900" b="0" i="0">
                <a:solidFill>
                  <a:srgbClr val="1F1F1F"/>
                </a:solidFill>
                <a:latin typeface="Calibri"/>
              </a:rPr>
              <a:t>The cold front brings the bigger changes in temperature and dew point; the warm front the continuous rain.</a:t>
            </a:r>
          </a:p>
        </p:txBody>
      </p:sp>
      <p:pic>
        <p:nvPicPr>
          <p:cNvPr id="7" name="Picture 6" descr="fig9_s0.png"/>
          <p:cNvPicPr>
            <a:picLocks noChangeAspect="1"/>
          </p:cNvPicPr>
          <p:nvPr/>
        </p:nvPicPr>
        <p:blipFill>
          <a:blip r:embed="rId2"/>
          <a:stretch>
            <a:fillRect/>
          </a:stretch>
        </p:blipFill>
        <p:spPr>
          <a:xfrm>
            <a:off x="6355080" y="1543109"/>
            <a:ext cx="5516575" cy="4228980"/>
          </a:xfrm>
          <a:prstGeom prst="rect">
            <a:avLst/>
          </a:prstGeom>
        </p:spPr>
      </p:pic>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Q14 (Figure 10): five jobs on one map</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145</a:t>
            </a:r>
          </a:p>
        </p:txBody>
      </p:sp>
      <p:sp>
        <p:nvSpPr>
          <p:cNvPr id="6" name="TextBox 5"/>
          <p:cNvSpPr txBox="1"/>
          <p:nvPr/>
        </p:nvSpPr>
        <p:spPr>
          <a:xfrm>
            <a:off x="411480" y="1097280"/>
            <a:ext cx="11338560" cy="1005840"/>
          </a:xfrm>
          <a:prstGeom prst="rect">
            <a:avLst/>
          </a:prstGeom>
          <a:noFill/>
        </p:spPr>
        <p:txBody>
          <a:bodyPr wrap="square" anchor="t" lIns="45720" rIns="45720">
            <a:spAutoFit/>
          </a:bodyPr>
          <a:lstStyle/>
          <a:p>
            <a:pPr algn="l">
              <a:spcAft>
                <a:spcPts val="600"/>
              </a:spcAft>
            </a:pPr>
            <a:r>
              <a:rPr sz="2100" b="0" i="0">
                <a:solidFill>
                  <a:srgbClr val="1F1F1F"/>
                </a:solidFill>
                <a:latin typeface="Calibri"/>
              </a:rPr>
              <a:t>Using the map of Figure 10 (the same 34 stations as Figure 8, now with every number):</a:t>
            </a:r>
          </a:p>
        </p:txBody>
      </p:sp>
      <p:graphicFrame>
        <p:nvGraphicFramePr>
          <p:cNvPr id="7" name="Table 6"/>
          <p:cNvGraphicFramePr>
            <a:graphicFrameLocks noGrp="1"/>
          </p:cNvGraphicFramePr>
          <p:nvPr/>
        </p:nvGraphicFramePr>
        <p:xfrm>
          <a:off x="411480" y="2103120"/>
          <a:ext cx="11338560" cy="4279392"/>
        </p:xfrm>
        <a:graphic>
          <a:graphicData uri="http://schemas.openxmlformats.org/drawingml/2006/table">
            <a:tbl>
              <a:tblPr firstRow="0" bandRow="0">
                <a:tableStyleId>{5940675A-B579-460E-94D1-54222C63F5DA}</a:tableStyleId>
              </a:tblPr>
              <a:tblGrid>
                <a:gridCol w="457200"/>
                <a:gridCol w="5486400"/>
                <a:gridCol w="5394960"/>
              </a:tblGrid>
              <a:tr h="713232">
                <a:tc>
                  <a:txBody>
                    <a:bodyPr wrap="square"/>
                    <a:lstStyle/>
                    <a:p>
                      <a:pPr algn="l"/>
                      <a:r>
                        <a:rPr sz="1900" b="1" i="0">
                          <a:solidFill>
                            <a:srgbClr val="FFFFFF"/>
                          </a:solidFill>
                          <a:latin typeface="Calibri"/>
                        </a:rPr>
                        <a:t>#</a:t>
                      </a:r>
                    </a:p>
                  </a:txBody>
                  <a:tcPr marL="73152" marR="73152" marT="27432" marB="27432" anchor="ctr">
                    <a:solidFill>
                      <a:srgbClr val="1B3A6B"/>
                    </a:solidFill>
                  </a:tcPr>
                </a:tc>
                <a:tc>
                  <a:txBody>
                    <a:bodyPr wrap="square"/>
                    <a:lstStyle/>
                    <a:p>
                      <a:pPr algn="l"/>
                      <a:r>
                        <a:rPr sz="1900" b="1" i="0">
                          <a:solidFill>
                            <a:srgbClr val="FFFFFF"/>
                          </a:solidFill>
                          <a:latin typeface="Calibri"/>
                        </a:rPr>
                        <a:t>Job</a:t>
                      </a:r>
                    </a:p>
                  </a:txBody>
                  <a:tcPr marL="73152" marR="73152" marT="27432" marB="27432" anchor="ctr">
                    <a:solidFill>
                      <a:srgbClr val="1B3A6B"/>
                    </a:solidFill>
                  </a:tcPr>
                </a:tc>
                <a:tc>
                  <a:txBody>
                    <a:bodyPr wrap="square"/>
                    <a:lstStyle/>
                    <a:p>
                      <a:pPr algn="l"/>
                      <a:r>
                        <a:rPr sz="1900" b="1" i="0">
                          <a:solidFill>
                            <a:srgbClr val="FFFFFF"/>
                          </a:solidFill>
                          <a:latin typeface="Calibri"/>
                        </a:rPr>
                        <a:t>What to look for</a:t>
                      </a:r>
                    </a:p>
                  </a:txBody>
                  <a:tcPr marL="73152" marR="73152" marT="27432" marB="27432" anchor="ctr">
                    <a:solidFill>
                      <a:srgbClr val="1B3A6B"/>
                    </a:solidFill>
                  </a:tcPr>
                </a:tc>
              </a:tr>
              <a:tr h="713232">
                <a:tc>
                  <a:txBody>
                    <a:bodyPr wrap="square"/>
                    <a:lstStyle/>
                    <a:p>
                      <a:pPr algn="l"/>
                      <a:r>
                        <a:rPr sz="1900" b="0" i="0">
                          <a:solidFill>
                            <a:srgbClr val="1F1F1F"/>
                          </a:solidFill>
                          <a:latin typeface="Calibri"/>
                        </a:rPr>
                        <a:t>1</a:t>
                      </a:r>
                    </a:p>
                  </a:txBody>
                  <a:tcPr marL="73152" marR="73152" marT="27432" marB="27432" anchor="ctr">
                    <a:solidFill>
                      <a:srgbClr val="FFFFFF"/>
                    </a:solidFill>
                  </a:tcPr>
                </a:tc>
                <a:tc>
                  <a:txBody>
                    <a:bodyPr wrap="square"/>
                    <a:lstStyle/>
                    <a:p>
                      <a:pPr algn="l"/>
                      <a:r>
                        <a:rPr sz="1900" b="0" i="0">
                          <a:solidFill>
                            <a:srgbClr val="1F1F1F"/>
                          </a:solidFill>
                          <a:latin typeface="Calibri"/>
                        </a:rPr>
                        <a:t>Draw </a:t>
                      </a:r>
                      <a:r>
                        <a:rPr sz="1900" b="1" i="0">
                          <a:solidFill>
                            <a:srgbClr val="1F1F1F"/>
                          </a:solidFill>
                          <a:latin typeface="Calibri"/>
                        </a:rPr>
                        <a:t>isobars at 4 mb intervals</a:t>
                      </a:r>
                      <a:r>
                        <a:rPr sz="1900" b="0" i="0">
                          <a:solidFill>
                            <a:srgbClr val="1F1F1F"/>
                          </a:solidFill>
                          <a:latin typeface="Calibri"/>
                        </a:rPr>
                        <a:t> (1004, 1008, 1012 …)</a:t>
                      </a:r>
                    </a:p>
                  </a:txBody>
                  <a:tcPr marL="73152" marR="73152" marT="27432" marB="27432" anchor="ctr">
                    <a:solidFill>
                      <a:srgbClr val="FFFFFF"/>
                    </a:solidFill>
                  </a:tcPr>
                </a:tc>
                <a:tc>
                  <a:txBody>
                    <a:bodyPr wrap="square"/>
                    <a:lstStyle/>
                    <a:p>
                      <a:pPr algn="l"/>
                      <a:r>
                        <a:rPr sz="1900" b="0" i="0">
                          <a:solidFill>
                            <a:srgbClr val="1F1F1F"/>
                          </a:solidFill>
                          <a:latin typeface="Calibri"/>
                        </a:rPr>
                        <a:t>Decode every pressure, interpolate, join equal values</a:t>
                      </a:r>
                    </a:p>
                  </a:txBody>
                  <a:tcPr marL="73152" marR="73152" marT="27432" marB="27432" anchor="ctr">
                    <a:solidFill>
                      <a:srgbClr val="FFFFFF"/>
                    </a:solidFill>
                  </a:tcPr>
                </a:tc>
              </a:tr>
              <a:tr h="713232">
                <a:tc>
                  <a:txBody>
                    <a:bodyPr wrap="square"/>
                    <a:lstStyle/>
                    <a:p>
                      <a:pPr algn="l"/>
                      <a:r>
                        <a:rPr sz="1900" b="0" i="0">
                          <a:solidFill>
                            <a:srgbClr val="1F1F1F"/>
                          </a:solidFill>
                          <a:latin typeface="Calibri"/>
                        </a:rPr>
                        <a:t>2</a:t>
                      </a:r>
                    </a:p>
                  </a:txBody>
                  <a:tcPr marL="73152" marR="73152" marT="27432" marB="27432" anchor="ctr">
                    <a:solidFill>
                      <a:srgbClr val="F7F7F5"/>
                    </a:solidFill>
                  </a:tcPr>
                </a:tc>
                <a:tc>
                  <a:txBody>
                    <a:bodyPr wrap="square"/>
                    <a:lstStyle/>
                    <a:p>
                      <a:pPr algn="l"/>
                      <a:r>
                        <a:rPr sz="1900" b="0" i="0">
                          <a:solidFill>
                            <a:srgbClr val="1F1F1F"/>
                          </a:solidFill>
                          <a:latin typeface="Calibri"/>
                        </a:rPr>
                        <a:t>Label the low-pressure centre with an </a:t>
                      </a:r>
                      <a:r>
                        <a:rPr sz="1900" b="1" i="0">
                          <a:solidFill>
                            <a:srgbClr val="1F1F1F"/>
                          </a:solidFill>
                          <a:latin typeface="Calibri"/>
                        </a:rPr>
                        <a:t>L</a:t>
                      </a:r>
                    </a:p>
                  </a:txBody>
                  <a:tcPr marL="73152" marR="73152" marT="27432" marB="27432" anchor="ctr">
                    <a:solidFill>
                      <a:srgbClr val="F7F7F5"/>
                    </a:solidFill>
                  </a:tcPr>
                </a:tc>
                <a:tc>
                  <a:txBody>
                    <a:bodyPr wrap="square"/>
                    <a:lstStyle/>
                    <a:p>
                      <a:pPr algn="l"/>
                      <a:r>
                        <a:rPr sz="1900" b="0" i="0">
                          <a:solidFill>
                            <a:srgbClr val="1F1F1F"/>
                          </a:solidFill>
                          <a:latin typeface="Calibri"/>
                        </a:rPr>
                        <a:t>Where the isobars close round the lowest pressure</a:t>
                      </a:r>
                    </a:p>
                  </a:txBody>
                  <a:tcPr marL="73152" marR="73152" marT="27432" marB="27432" anchor="ctr">
                    <a:solidFill>
                      <a:srgbClr val="F7F7F5"/>
                    </a:solidFill>
                  </a:tcPr>
                </a:tc>
              </a:tr>
              <a:tr h="713232">
                <a:tc>
                  <a:txBody>
                    <a:bodyPr wrap="square"/>
                    <a:lstStyle/>
                    <a:p>
                      <a:pPr algn="l"/>
                      <a:r>
                        <a:rPr sz="1900" b="0" i="0">
                          <a:solidFill>
                            <a:srgbClr val="1F1F1F"/>
                          </a:solidFill>
                          <a:latin typeface="Calibri"/>
                        </a:rPr>
                        <a:t>3</a:t>
                      </a:r>
                    </a:p>
                  </a:txBody>
                  <a:tcPr marL="73152" marR="73152" marT="27432" marB="27432" anchor="ctr">
                    <a:solidFill>
                      <a:srgbClr val="FFFFFF"/>
                    </a:solidFill>
                  </a:tcPr>
                </a:tc>
                <a:tc>
                  <a:txBody>
                    <a:bodyPr wrap="square"/>
                    <a:lstStyle/>
                    <a:p>
                      <a:pPr algn="l"/>
                      <a:r>
                        <a:rPr sz="1900" b="0" i="0">
                          <a:solidFill>
                            <a:srgbClr val="1F1F1F"/>
                          </a:solidFill>
                          <a:latin typeface="Calibri"/>
                        </a:rPr>
                        <a:t>Draw the </a:t>
                      </a:r>
                      <a:r>
                        <a:rPr sz="1900" b="1" i="0">
                          <a:solidFill>
                            <a:srgbClr val="1F1F1F"/>
                          </a:solidFill>
                          <a:latin typeface="Calibri"/>
                        </a:rPr>
                        <a:t>warm and cold fronts</a:t>
                      </a:r>
                    </a:p>
                  </a:txBody>
                  <a:tcPr marL="73152" marR="73152" marT="27432" marB="27432" anchor="ctr">
                    <a:solidFill>
                      <a:srgbClr val="FFFFFF"/>
                    </a:solidFill>
                  </a:tcPr>
                </a:tc>
                <a:tc>
                  <a:txBody>
                    <a:bodyPr wrap="square"/>
                    <a:lstStyle/>
                    <a:p>
                      <a:pPr algn="l"/>
                      <a:r>
                        <a:rPr sz="1900" b="0" i="0">
                          <a:solidFill>
                            <a:srgbClr val="1F1F1F"/>
                          </a:solidFill>
                          <a:latin typeface="Calibri"/>
                        </a:rPr>
                        <a:t>Sharp changes of temperature, dew point and wind</a:t>
                      </a:r>
                    </a:p>
                  </a:txBody>
                  <a:tcPr marL="73152" marR="73152" marT="27432" marB="27432" anchor="ctr">
                    <a:solidFill>
                      <a:srgbClr val="FFFFFF"/>
                    </a:solidFill>
                  </a:tcPr>
                </a:tc>
              </a:tr>
              <a:tr h="713232">
                <a:tc>
                  <a:txBody>
                    <a:bodyPr wrap="square"/>
                    <a:lstStyle/>
                    <a:p>
                      <a:pPr algn="l"/>
                      <a:r>
                        <a:rPr sz="1900" b="0" i="0">
                          <a:solidFill>
                            <a:srgbClr val="1F1F1F"/>
                          </a:solidFill>
                          <a:latin typeface="Calibri"/>
                        </a:rPr>
                        <a:t>4</a:t>
                      </a:r>
                    </a:p>
                  </a:txBody>
                  <a:tcPr marL="73152" marR="73152" marT="27432" marB="27432" anchor="ctr">
                    <a:solidFill>
                      <a:srgbClr val="F7F7F5"/>
                    </a:solidFill>
                  </a:tcPr>
                </a:tc>
                <a:tc>
                  <a:txBody>
                    <a:bodyPr wrap="square"/>
                    <a:lstStyle/>
                    <a:p>
                      <a:pPr algn="l"/>
                      <a:r>
                        <a:rPr sz="1900" b="0" i="0">
                          <a:solidFill>
                            <a:srgbClr val="1F1F1F"/>
                          </a:solidFill>
                          <a:latin typeface="Calibri"/>
                        </a:rPr>
                        <a:t>Outline where </a:t>
                      </a:r>
                      <a:r>
                        <a:rPr sz="1900" b="1" i="0">
                          <a:solidFill>
                            <a:srgbClr val="1F1F1F"/>
                          </a:solidFill>
                          <a:latin typeface="Calibri"/>
                        </a:rPr>
                        <a:t>cloud cover exceeds 75 %</a:t>
                      </a:r>
                    </a:p>
                  </a:txBody>
                  <a:tcPr marL="73152" marR="73152" marT="27432" marB="27432" anchor="ctr">
                    <a:solidFill>
                      <a:srgbClr val="F7F7F5"/>
                    </a:solidFill>
                  </a:tcPr>
                </a:tc>
                <a:tc>
                  <a:txBody>
                    <a:bodyPr wrap="square"/>
                    <a:lstStyle/>
                    <a:p>
                      <a:pPr algn="l"/>
                      <a:r>
                        <a:rPr sz="1900" b="0" i="0">
                          <a:solidFill>
                            <a:srgbClr val="1F1F1F"/>
                          </a:solidFill>
                          <a:latin typeface="Calibri"/>
                        </a:rPr>
                        <a:t>Circles filled to 3/4 or more</a:t>
                      </a:r>
                    </a:p>
                  </a:txBody>
                  <a:tcPr marL="73152" marR="73152" marT="27432" marB="27432" anchor="ctr">
                    <a:solidFill>
                      <a:srgbClr val="F7F7F5"/>
                    </a:solidFill>
                  </a:tcPr>
                </a:tc>
              </a:tr>
              <a:tr h="713232">
                <a:tc>
                  <a:txBody>
                    <a:bodyPr wrap="square"/>
                    <a:lstStyle/>
                    <a:p>
                      <a:pPr algn="l"/>
                      <a:r>
                        <a:rPr sz="1900" b="0" i="0">
                          <a:solidFill>
                            <a:srgbClr val="1F1F1F"/>
                          </a:solidFill>
                          <a:latin typeface="Calibri"/>
                        </a:rPr>
                        <a:t>5</a:t>
                      </a:r>
                    </a:p>
                  </a:txBody>
                  <a:tcPr marL="73152" marR="73152" marT="27432" marB="27432" anchor="ctr">
                    <a:solidFill>
                      <a:srgbClr val="FFFFFF"/>
                    </a:solidFill>
                  </a:tcPr>
                </a:tc>
                <a:tc>
                  <a:txBody>
                    <a:bodyPr wrap="square"/>
                    <a:lstStyle/>
                    <a:p>
                      <a:pPr algn="l"/>
                      <a:r>
                        <a:rPr sz="1900" b="1" i="0">
                          <a:solidFill>
                            <a:srgbClr val="1F1F1F"/>
                          </a:solidFill>
                          <a:latin typeface="Calibri"/>
                        </a:rPr>
                        <a:t>Shade the precipitation</a:t>
                      </a:r>
                    </a:p>
                  </a:txBody>
                  <a:tcPr marL="73152" marR="73152" marT="27432" marB="27432" anchor="ctr">
                    <a:solidFill>
                      <a:srgbClr val="FFFFFF"/>
                    </a:solidFill>
                  </a:tcPr>
                </a:tc>
                <a:tc>
                  <a:txBody>
                    <a:bodyPr wrap="square"/>
                    <a:lstStyle/>
                    <a:p>
                      <a:pPr algn="l"/>
                      <a:r>
                        <a:rPr sz="1900" b="0" i="0">
                          <a:solidFill>
                            <a:srgbClr val="1F1F1F"/>
                          </a:solidFill>
                          <a:latin typeface="Calibri"/>
                        </a:rPr>
                        <a:t>Rain, snow or thunder symbols</a:t>
                      </a:r>
                    </a:p>
                  </a:txBody>
                  <a:tcPr marL="73152" marR="73152" marT="27432" marB="27432" anchor="ctr">
                    <a:solidFill>
                      <a:srgbClr val="FFFF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Step 0: decode every pressure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146</a:t>
            </a:r>
          </a:p>
        </p:txBody>
      </p:sp>
      <p:sp>
        <p:nvSpPr>
          <p:cNvPr id="6" name="TextBox 5"/>
          <p:cNvSpPr txBox="1"/>
          <p:nvPr/>
        </p:nvSpPr>
        <p:spPr>
          <a:xfrm>
            <a:off x="411480" y="1051560"/>
            <a:ext cx="4023360" cy="52120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Apply the pressure rule at every station and write the full value next to it.</a:t>
            </a:r>
          </a:p>
          <a:p>
            <a:pPr algn="l">
              <a:spcAft>
                <a:spcPts val="600"/>
              </a:spcAft>
            </a:pPr>
            <a:r>
              <a:rPr sz="1900" b="0" i="0">
                <a:solidFill>
                  <a:srgbClr val="1F1F1F"/>
                </a:solidFill>
                <a:latin typeface="Calibri"/>
              </a:rPr>
              <a:t>•  below 500 → prefix </a:t>
            </a:r>
            <a:r>
              <a:rPr sz="1900" b="1" i="0">
                <a:solidFill>
                  <a:srgbClr val="1F1F1F"/>
                </a:solidFill>
                <a:latin typeface="Calibri"/>
              </a:rPr>
              <a:t>10</a:t>
            </a:r>
          </a:p>
          <a:p>
            <a:pPr algn="l">
              <a:spcAft>
                <a:spcPts val="600"/>
              </a:spcAft>
            </a:pPr>
            <a:r>
              <a:rPr sz="1900" b="0" i="0">
                <a:solidFill>
                  <a:srgbClr val="1F1F1F"/>
                </a:solidFill>
                <a:latin typeface="Calibri"/>
              </a:rPr>
              <a:t>•  500 or more → prefix </a:t>
            </a:r>
            <a:r>
              <a:rPr sz="1900" b="1" i="0">
                <a:solidFill>
                  <a:srgbClr val="1F1F1F"/>
                </a:solidFill>
                <a:latin typeface="Calibri"/>
              </a:rPr>
              <a:t>9</a:t>
            </a:r>
          </a:p>
          <a:p>
            <a:pPr algn="l">
              <a:spcAft>
                <a:spcPts val="600"/>
              </a:spcAft>
            </a:pPr>
            <a:r>
              <a:rPr sz="1900" b="0" i="0">
                <a:solidFill>
                  <a:srgbClr val="1F1F1F"/>
                </a:solidFill>
                <a:latin typeface="Calibri"/>
              </a:rPr>
              <a:t>Lowest: </a:t>
            </a:r>
            <a:r>
              <a:rPr sz="1900" b="1" i="0">
                <a:solidFill>
                  <a:srgbClr val="1F1F1F"/>
                </a:solidFill>
                <a:latin typeface="Calibri"/>
              </a:rPr>
              <a:t>1002.4</a:t>
            </a:r>
            <a:r>
              <a:rPr sz="1900" b="0" i="0">
                <a:solidFill>
                  <a:srgbClr val="1F1F1F"/>
                </a:solidFill>
                <a:latin typeface="Calibri"/>
              </a:rPr>
              <a:t> (stn 8) and </a:t>
            </a:r>
            <a:r>
              <a:rPr sz="1900" b="1" i="0">
                <a:solidFill>
                  <a:srgbClr val="1F1F1F"/>
                </a:solidFill>
                <a:latin typeface="Calibri"/>
              </a:rPr>
              <a:t>1002.6</a:t>
            </a:r>
            <a:r>
              <a:rPr sz="1900" b="0" i="0">
                <a:solidFill>
                  <a:srgbClr val="1F1F1F"/>
                </a:solidFill>
                <a:latin typeface="Calibri"/>
              </a:rPr>
              <a:t> (stn 9).  Highest: </a:t>
            </a:r>
            <a:r>
              <a:rPr sz="1900" b="1" i="0">
                <a:solidFill>
                  <a:srgbClr val="1F1F1F"/>
                </a:solidFill>
                <a:latin typeface="Calibri"/>
              </a:rPr>
              <a:t>1019.4</a:t>
            </a:r>
            <a:r>
              <a:rPr sz="1900" b="0" i="0">
                <a:solidFill>
                  <a:srgbClr val="1F1F1F"/>
                </a:solidFill>
                <a:latin typeface="Calibri"/>
              </a:rPr>
              <a:t> (stn 34).</a:t>
            </a:r>
          </a:p>
        </p:txBody>
      </p:sp>
      <p:pic>
        <p:nvPicPr>
          <p:cNvPr id="7" name="Picture 6" descr="map_p1.png"/>
          <p:cNvPicPr>
            <a:picLocks noChangeAspect="1"/>
          </p:cNvPicPr>
          <p:nvPr/>
        </p:nvPicPr>
        <p:blipFill>
          <a:blip r:embed="rId2"/>
          <a:stretch>
            <a:fillRect/>
          </a:stretch>
        </p:blipFill>
        <p:spPr>
          <a:xfrm>
            <a:off x="4709306" y="1005840"/>
            <a:ext cx="6857706" cy="5303520"/>
          </a:xfrm>
          <a:prstGeom prst="rect">
            <a:avLst/>
          </a:prstGeom>
        </p:spPr>
      </p:pic>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Step 1: isobars every 4 mb: interpolate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147</a:t>
            </a:r>
          </a:p>
        </p:txBody>
      </p:sp>
      <p:sp>
        <p:nvSpPr>
          <p:cNvPr id="6" name="TextBox 5"/>
          <p:cNvSpPr txBox="1"/>
          <p:nvPr/>
        </p:nvSpPr>
        <p:spPr>
          <a:xfrm>
            <a:off x="411480" y="1051560"/>
            <a:ext cx="11338560" cy="137160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For each pair of neighbouring stations: does a multiple of 4 lie between their pressures? If so, find </a:t>
            </a:r>
            <a:r>
              <a:rPr sz="1900" b="1" i="0">
                <a:solidFill>
                  <a:srgbClr val="1F1F1F"/>
                </a:solidFill>
                <a:latin typeface="Calibri"/>
              </a:rPr>
              <a:t>where</a:t>
            </a:r>
            <a:r>
              <a:rPr sz="1900" b="0" i="0">
                <a:solidFill>
                  <a:srgbClr val="1F1F1F"/>
                </a:solidFill>
                <a:latin typeface="Calibri"/>
              </a:rPr>
              <a:t> by proportion. Mark it. Join equal values with smooth curves.</a:t>
            </a:r>
          </a:p>
        </p:txBody>
      </p:sp>
      <p:sp>
        <p:nvSpPr>
          <p:cNvPr id="7" name="Rounded Rectangle 6"/>
          <p:cNvSpPr/>
          <p:nvPr/>
        </p:nvSpPr>
        <p:spPr>
          <a:xfrm>
            <a:off x="411480" y="2331720"/>
            <a:ext cx="5852160" cy="182880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600" b="1" i="0">
                <a:solidFill>
                  <a:srgbClr val="1B3A6B"/>
                </a:solidFill>
                <a:latin typeface="Calibri"/>
              </a:rPr>
              <a:t>Example: 1008 between stations 18 and 19</a:t>
            </a:r>
          </a:p>
          <a:p>
            <a:pPr algn="l">
              <a:spcAft>
                <a:spcPts val="300"/>
              </a:spcAft>
            </a:pPr>
            <a:r>
              <a:rPr sz="1600" b="0" i="0">
                <a:solidFill>
                  <a:srgbClr val="1F1F1F"/>
                </a:solidFill>
                <a:latin typeface="Calibri"/>
              </a:rPr>
              <a:t>Station 18: 1004.4 hPa;  station 19: 1009.9 hPa</a:t>
            </a:r>
          </a:p>
          <a:p>
            <a:pPr algn="l">
              <a:spcAft>
                <a:spcPts val="300"/>
              </a:spcAft>
            </a:pPr>
            <a:r>
              <a:rPr sz="1600" b="0" i="0">
                <a:solidFill>
                  <a:srgbClr val="1F1F1F"/>
                </a:solidFill>
                <a:latin typeface="Calibri"/>
              </a:rPr>
              <a:t>(1008 − 1004.4) / (1009.9 − 1004.4) = 3.6 / 5.5 = </a:t>
            </a:r>
            <a:r>
              <a:rPr sz="1600" b="1" i="0">
                <a:solidFill>
                  <a:srgbClr val="1F1F1F"/>
                </a:solidFill>
                <a:latin typeface="Calibri"/>
              </a:rPr>
              <a:t>0.65</a:t>
            </a:r>
          </a:p>
          <a:p>
            <a:pPr algn="l">
              <a:spcAft>
                <a:spcPts val="300"/>
              </a:spcAft>
            </a:pPr>
            <a:r>
              <a:rPr sz="1600" b="0" i="0">
                <a:solidFill>
                  <a:srgbClr val="1F1F1F"/>
                </a:solidFill>
                <a:latin typeface="Calibri"/>
              </a:rPr>
              <a:t>→ 65 % of the way from 18 to 19</a:t>
            </a:r>
          </a:p>
        </p:txBody>
      </p:sp>
      <p:graphicFrame>
        <p:nvGraphicFramePr>
          <p:cNvPr id="8" name="Table 7"/>
          <p:cNvGraphicFramePr>
            <a:graphicFrameLocks noGrp="1"/>
          </p:cNvGraphicFramePr>
          <p:nvPr/>
        </p:nvGraphicFramePr>
        <p:xfrm>
          <a:off x="6446520" y="2377440"/>
          <a:ext cx="5303519" cy="2286000"/>
        </p:xfrm>
        <a:graphic>
          <a:graphicData uri="http://schemas.openxmlformats.org/drawingml/2006/table">
            <a:tbl>
              <a:tblPr firstRow="0" bandRow="0">
                <a:tableStyleId>{5940675A-B579-460E-94D1-54222C63F5DA}</a:tableStyleId>
              </a:tblPr>
              <a:tblGrid>
                <a:gridCol w="1325880"/>
                <a:gridCol w="1878330"/>
                <a:gridCol w="994409"/>
                <a:gridCol w="1104900"/>
              </a:tblGrid>
              <a:tr h="457200">
                <a:tc>
                  <a:txBody>
                    <a:bodyPr wrap="square"/>
                    <a:lstStyle/>
                    <a:p>
                      <a:pPr algn="l"/>
                      <a:r>
                        <a:rPr sz="1600" b="1" i="0">
                          <a:solidFill>
                            <a:srgbClr val="FFFFFF"/>
                          </a:solidFill>
                          <a:latin typeface="Calibri"/>
                        </a:rPr>
                        <a:t>Stations</a:t>
                      </a:r>
                    </a:p>
                  </a:txBody>
                  <a:tcPr marL="73152" marR="73152" marT="27432" marB="27432" anchor="ctr">
                    <a:solidFill>
                      <a:srgbClr val="1B3A6B"/>
                    </a:solidFill>
                  </a:tcPr>
                </a:tc>
                <a:tc>
                  <a:txBody>
                    <a:bodyPr wrap="square"/>
                    <a:lstStyle/>
                    <a:p>
                      <a:pPr algn="l"/>
                      <a:r>
                        <a:rPr sz="1600" b="1" i="0">
                          <a:solidFill>
                            <a:srgbClr val="FFFFFF"/>
                          </a:solidFill>
                          <a:latin typeface="Calibri"/>
                        </a:rPr>
                        <a:t>Pressures</a:t>
                      </a:r>
                    </a:p>
                  </a:txBody>
                  <a:tcPr marL="73152" marR="73152" marT="27432" marB="27432" anchor="ctr">
                    <a:solidFill>
                      <a:srgbClr val="1B3A6B"/>
                    </a:solidFill>
                  </a:tcPr>
                </a:tc>
                <a:tc>
                  <a:txBody>
                    <a:bodyPr wrap="square"/>
                    <a:lstStyle/>
                    <a:p>
                      <a:pPr algn="l"/>
                      <a:r>
                        <a:rPr sz="1600" b="1" i="0">
                          <a:solidFill>
                            <a:srgbClr val="FFFFFF"/>
                          </a:solidFill>
                          <a:latin typeface="Calibri"/>
                        </a:rPr>
                        <a:t>Isobar</a:t>
                      </a:r>
                    </a:p>
                  </a:txBody>
                  <a:tcPr marL="73152" marR="73152" marT="27432" marB="27432" anchor="ctr">
                    <a:solidFill>
                      <a:srgbClr val="1B3A6B"/>
                    </a:solidFill>
                  </a:tcPr>
                </a:tc>
                <a:tc>
                  <a:txBody>
                    <a:bodyPr wrap="square"/>
                    <a:lstStyle/>
                    <a:p>
                      <a:pPr algn="l"/>
                      <a:r>
                        <a:rPr sz="1600" b="1" i="0">
                          <a:solidFill>
                            <a:srgbClr val="FFFFFF"/>
                          </a:solidFill>
                          <a:latin typeface="Calibri"/>
                        </a:rPr>
                        <a:t>Fraction</a:t>
                      </a:r>
                    </a:p>
                  </a:txBody>
                  <a:tcPr marL="73152" marR="73152" marT="27432" marB="27432" anchor="ctr">
                    <a:solidFill>
                      <a:srgbClr val="1B3A6B"/>
                    </a:solidFill>
                  </a:tcPr>
                </a:tc>
              </a:tr>
              <a:tr h="457200">
                <a:tc>
                  <a:txBody>
                    <a:bodyPr wrap="square"/>
                    <a:lstStyle/>
                    <a:p>
                      <a:pPr algn="l"/>
                      <a:r>
                        <a:rPr sz="1600" b="0" i="0">
                          <a:solidFill>
                            <a:srgbClr val="1F1F1F"/>
                          </a:solidFill>
                          <a:latin typeface="Calibri"/>
                        </a:rPr>
                        <a:t>9 and 5</a:t>
                      </a:r>
                    </a:p>
                  </a:txBody>
                  <a:tcPr marL="73152" marR="73152" marT="27432" marB="27432" anchor="ctr">
                    <a:solidFill>
                      <a:srgbClr val="FFFFFF"/>
                    </a:solidFill>
                  </a:tcPr>
                </a:tc>
                <a:tc>
                  <a:txBody>
                    <a:bodyPr wrap="square"/>
                    <a:lstStyle/>
                    <a:p>
                      <a:pPr algn="l"/>
                      <a:r>
                        <a:rPr sz="1600" b="0" i="0">
                          <a:solidFill>
                            <a:srgbClr val="1F1F1F"/>
                          </a:solidFill>
                          <a:latin typeface="Calibri"/>
                        </a:rPr>
                        <a:t>1002.6, 1008.8</a:t>
                      </a:r>
                    </a:p>
                  </a:txBody>
                  <a:tcPr marL="73152" marR="73152" marT="27432" marB="27432" anchor="ctr">
                    <a:solidFill>
                      <a:srgbClr val="FFFFFF"/>
                    </a:solidFill>
                  </a:tcPr>
                </a:tc>
                <a:tc>
                  <a:txBody>
                    <a:bodyPr wrap="square"/>
                    <a:lstStyle/>
                    <a:p>
                      <a:pPr algn="l"/>
                      <a:r>
                        <a:rPr sz="1600" b="0" i="0">
                          <a:solidFill>
                            <a:srgbClr val="1F1F1F"/>
                          </a:solidFill>
                          <a:latin typeface="Calibri"/>
                        </a:rPr>
                        <a:t>1004</a:t>
                      </a:r>
                    </a:p>
                  </a:txBody>
                  <a:tcPr marL="73152" marR="73152" marT="27432" marB="27432" anchor="ctr">
                    <a:solidFill>
                      <a:srgbClr val="FFFFFF"/>
                    </a:solidFill>
                  </a:tcPr>
                </a:tc>
                <a:tc>
                  <a:txBody>
                    <a:bodyPr wrap="square"/>
                    <a:lstStyle/>
                    <a:p>
                      <a:pPr algn="l"/>
                      <a:r>
                        <a:rPr sz="1600" b="0" i="0">
                          <a:solidFill>
                            <a:srgbClr val="1F1F1F"/>
                          </a:solidFill>
                          <a:latin typeface="Calibri"/>
                        </a:rPr>
                        <a:t>23 %</a:t>
                      </a:r>
                    </a:p>
                  </a:txBody>
                  <a:tcPr marL="73152" marR="73152" marT="27432" marB="27432" anchor="ctr">
                    <a:solidFill>
                      <a:srgbClr val="FFFFFF"/>
                    </a:solidFill>
                  </a:tcPr>
                </a:tc>
              </a:tr>
              <a:tr h="457200">
                <a:tc>
                  <a:txBody>
                    <a:bodyPr wrap="square"/>
                    <a:lstStyle/>
                    <a:p>
                      <a:pPr algn="l"/>
                      <a:r>
                        <a:rPr sz="1600" b="0" i="0">
                          <a:solidFill>
                            <a:srgbClr val="1F1F1F"/>
                          </a:solidFill>
                          <a:latin typeface="Calibri"/>
                        </a:rPr>
                        <a:t>9 and 5</a:t>
                      </a:r>
                    </a:p>
                  </a:txBody>
                  <a:tcPr marL="73152" marR="73152" marT="27432" marB="27432" anchor="ctr">
                    <a:solidFill>
                      <a:srgbClr val="F7F7F5"/>
                    </a:solidFill>
                  </a:tcPr>
                </a:tc>
                <a:tc>
                  <a:txBody>
                    <a:bodyPr wrap="square"/>
                    <a:lstStyle/>
                    <a:p>
                      <a:pPr algn="l"/>
                      <a:r>
                        <a:rPr sz="1600" b="0" i="0">
                          <a:solidFill>
                            <a:srgbClr val="1F1F1F"/>
                          </a:solidFill>
                          <a:latin typeface="Calibri"/>
                        </a:rPr>
                        <a:t>1002.6, 1008.8</a:t>
                      </a:r>
                    </a:p>
                  </a:txBody>
                  <a:tcPr marL="73152" marR="73152" marT="27432" marB="27432" anchor="ctr">
                    <a:solidFill>
                      <a:srgbClr val="F7F7F5"/>
                    </a:solidFill>
                  </a:tcPr>
                </a:tc>
                <a:tc>
                  <a:txBody>
                    <a:bodyPr wrap="square"/>
                    <a:lstStyle/>
                    <a:p>
                      <a:pPr algn="l"/>
                      <a:r>
                        <a:rPr sz="1600" b="0" i="0">
                          <a:solidFill>
                            <a:srgbClr val="1F1F1F"/>
                          </a:solidFill>
                          <a:latin typeface="Calibri"/>
                        </a:rPr>
                        <a:t>1008</a:t>
                      </a:r>
                    </a:p>
                  </a:txBody>
                  <a:tcPr marL="73152" marR="73152" marT="27432" marB="27432" anchor="ctr">
                    <a:solidFill>
                      <a:srgbClr val="F7F7F5"/>
                    </a:solidFill>
                  </a:tcPr>
                </a:tc>
                <a:tc>
                  <a:txBody>
                    <a:bodyPr wrap="square"/>
                    <a:lstStyle/>
                    <a:p>
                      <a:pPr algn="l"/>
                      <a:r>
                        <a:rPr sz="1600" b="0" i="0">
                          <a:solidFill>
                            <a:srgbClr val="1F1F1F"/>
                          </a:solidFill>
                          <a:latin typeface="Calibri"/>
                        </a:rPr>
                        <a:t>87 %</a:t>
                      </a:r>
                    </a:p>
                  </a:txBody>
                  <a:tcPr marL="73152" marR="73152" marT="27432" marB="27432" anchor="ctr">
                    <a:solidFill>
                      <a:srgbClr val="F7F7F5"/>
                    </a:solidFill>
                  </a:tcPr>
                </a:tc>
              </a:tr>
              <a:tr h="457200">
                <a:tc>
                  <a:txBody>
                    <a:bodyPr wrap="square"/>
                    <a:lstStyle/>
                    <a:p>
                      <a:pPr algn="l"/>
                      <a:r>
                        <a:rPr sz="1600" b="0" i="0">
                          <a:solidFill>
                            <a:srgbClr val="1F1F1F"/>
                          </a:solidFill>
                          <a:latin typeface="Calibri"/>
                        </a:rPr>
                        <a:t>16 and 5</a:t>
                      </a:r>
                    </a:p>
                  </a:txBody>
                  <a:tcPr marL="73152" marR="73152" marT="27432" marB="27432" anchor="ctr">
                    <a:solidFill>
                      <a:srgbClr val="FFFFFF"/>
                    </a:solidFill>
                  </a:tcPr>
                </a:tc>
                <a:tc>
                  <a:txBody>
                    <a:bodyPr wrap="square"/>
                    <a:lstStyle/>
                    <a:p>
                      <a:pPr algn="l"/>
                      <a:r>
                        <a:rPr sz="1600" b="0" i="0">
                          <a:solidFill>
                            <a:srgbClr val="1F1F1F"/>
                          </a:solidFill>
                          <a:latin typeface="Calibri"/>
                        </a:rPr>
                        <a:t>1006.9, 1008.8</a:t>
                      </a:r>
                    </a:p>
                  </a:txBody>
                  <a:tcPr marL="73152" marR="73152" marT="27432" marB="27432" anchor="ctr">
                    <a:solidFill>
                      <a:srgbClr val="FFFFFF"/>
                    </a:solidFill>
                  </a:tcPr>
                </a:tc>
                <a:tc>
                  <a:txBody>
                    <a:bodyPr wrap="square"/>
                    <a:lstStyle/>
                    <a:p>
                      <a:pPr algn="l"/>
                      <a:r>
                        <a:rPr sz="1600" b="0" i="0">
                          <a:solidFill>
                            <a:srgbClr val="1F1F1F"/>
                          </a:solidFill>
                          <a:latin typeface="Calibri"/>
                        </a:rPr>
                        <a:t>1008</a:t>
                      </a:r>
                    </a:p>
                  </a:txBody>
                  <a:tcPr marL="73152" marR="73152" marT="27432" marB="27432" anchor="ctr">
                    <a:solidFill>
                      <a:srgbClr val="FFFFFF"/>
                    </a:solidFill>
                  </a:tcPr>
                </a:tc>
                <a:tc>
                  <a:txBody>
                    <a:bodyPr wrap="square"/>
                    <a:lstStyle/>
                    <a:p>
                      <a:pPr algn="l"/>
                      <a:r>
                        <a:rPr sz="1600" b="0" i="0">
                          <a:solidFill>
                            <a:srgbClr val="1F1F1F"/>
                          </a:solidFill>
                          <a:latin typeface="Calibri"/>
                        </a:rPr>
                        <a:t>58 %</a:t>
                      </a:r>
                    </a:p>
                  </a:txBody>
                  <a:tcPr marL="73152" marR="73152" marT="27432" marB="27432" anchor="ctr">
                    <a:solidFill>
                      <a:srgbClr val="FFFFFF"/>
                    </a:solidFill>
                  </a:tcPr>
                </a:tc>
              </a:tr>
              <a:tr h="457200">
                <a:tc>
                  <a:txBody>
                    <a:bodyPr wrap="square"/>
                    <a:lstStyle/>
                    <a:p>
                      <a:pPr algn="l"/>
                      <a:r>
                        <a:rPr sz="1600" b="0" i="0">
                          <a:solidFill>
                            <a:srgbClr val="1F1F1F"/>
                          </a:solidFill>
                          <a:latin typeface="Calibri"/>
                        </a:rPr>
                        <a:t>20 and 24</a:t>
                      </a:r>
                    </a:p>
                  </a:txBody>
                  <a:tcPr marL="73152" marR="73152" marT="27432" marB="27432" anchor="ctr">
                    <a:solidFill>
                      <a:srgbClr val="F7F7F5"/>
                    </a:solidFill>
                  </a:tcPr>
                </a:tc>
                <a:tc>
                  <a:txBody>
                    <a:bodyPr wrap="square"/>
                    <a:lstStyle/>
                    <a:p>
                      <a:pPr algn="l"/>
                      <a:r>
                        <a:rPr sz="1600" b="0" i="0">
                          <a:solidFill>
                            <a:srgbClr val="1F1F1F"/>
                          </a:solidFill>
                          <a:latin typeface="Calibri"/>
                        </a:rPr>
                        <a:t>1011.1, 1014.9</a:t>
                      </a:r>
                    </a:p>
                  </a:txBody>
                  <a:tcPr marL="73152" marR="73152" marT="27432" marB="27432" anchor="ctr">
                    <a:solidFill>
                      <a:srgbClr val="F7F7F5"/>
                    </a:solidFill>
                  </a:tcPr>
                </a:tc>
                <a:tc>
                  <a:txBody>
                    <a:bodyPr wrap="square"/>
                    <a:lstStyle/>
                    <a:p>
                      <a:pPr algn="l"/>
                      <a:r>
                        <a:rPr sz="1600" b="0" i="0">
                          <a:solidFill>
                            <a:srgbClr val="1F1F1F"/>
                          </a:solidFill>
                          <a:latin typeface="Calibri"/>
                        </a:rPr>
                        <a:t>1012</a:t>
                      </a:r>
                    </a:p>
                  </a:txBody>
                  <a:tcPr marL="73152" marR="73152" marT="27432" marB="27432" anchor="ctr">
                    <a:solidFill>
                      <a:srgbClr val="F7F7F5"/>
                    </a:solidFill>
                  </a:tcPr>
                </a:tc>
                <a:tc>
                  <a:txBody>
                    <a:bodyPr wrap="square"/>
                    <a:lstStyle/>
                    <a:p>
                      <a:pPr algn="l"/>
                      <a:r>
                        <a:rPr sz="1600" b="0" i="0">
                          <a:solidFill>
                            <a:srgbClr val="1F1F1F"/>
                          </a:solidFill>
                          <a:latin typeface="Calibri"/>
                        </a:rPr>
                        <a:t>24 %</a:t>
                      </a:r>
                    </a:p>
                  </a:txBody>
                  <a:tcPr marL="73152" marR="73152" marT="27432" marB="27432" anchor="ctr">
                    <a:solidFill>
                      <a:srgbClr val="F7F7F5"/>
                    </a:solidFill>
                  </a:tcPr>
                </a:tc>
              </a:tr>
            </a:tbl>
          </a:graphicData>
        </a:graphic>
      </p:graphicFrame>
      <p:pic>
        <p:nvPicPr>
          <p:cNvPr id="9" name="Picture 8" descr="ch10_04.png"/>
          <p:cNvPicPr>
            <a:picLocks noChangeAspect="1"/>
          </p:cNvPicPr>
          <p:nvPr/>
        </p:nvPicPr>
        <p:blipFill>
          <a:blip r:embed="rId3"/>
          <a:stretch>
            <a:fillRect/>
          </a:stretch>
        </p:blipFill>
        <p:spPr>
          <a:xfrm>
            <a:off x="548639" y="4580487"/>
            <a:ext cx="6400800" cy="1354624"/>
          </a:xfrm>
          <a:prstGeom prst="rect">
            <a:avLst/>
          </a:prstGeom>
        </p:spPr>
      </p:pic>
      <p:sp>
        <p:nvSpPr>
          <p:cNvPr id="10" name="Rounded Rectangle 9"/>
          <p:cNvSpPr/>
          <p:nvPr/>
        </p:nvSpPr>
        <p:spPr>
          <a:xfrm>
            <a:off x="6446520" y="4892040"/>
            <a:ext cx="5303520" cy="1371600"/>
          </a:xfrm>
          <a:prstGeom prst="roundRect">
            <a:avLst>
              <a:gd name="adj" fmla="val 6000"/>
            </a:avLst>
          </a:prstGeom>
          <a:solidFill>
            <a:srgbClr val="E6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700" b="1" i="0">
                <a:solidFill>
                  <a:srgbClr val="0072B2"/>
                </a:solidFill>
                <a:latin typeface="Calibri"/>
              </a:rPr>
              <a:t>Rules for isobars</a:t>
            </a:r>
          </a:p>
          <a:p>
            <a:pPr algn="l">
              <a:spcAft>
                <a:spcPts val="300"/>
              </a:spcAft>
            </a:pPr>
            <a:r>
              <a:rPr sz="1700" b="0" i="0">
                <a:solidFill>
                  <a:srgbClr val="1F1F1F"/>
                </a:solidFill>
                <a:latin typeface="Calibri"/>
              </a:rPr>
              <a:t>Smooth; never cross; never end inside the map; labelled.</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Step 1: the isobars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148</a:t>
            </a:r>
          </a:p>
        </p:txBody>
      </p:sp>
      <p:sp>
        <p:nvSpPr>
          <p:cNvPr id="6" name="TextBox 5"/>
          <p:cNvSpPr txBox="1"/>
          <p:nvPr/>
        </p:nvSpPr>
        <p:spPr>
          <a:xfrm>
            <a:off x="411480" y="1051560"/>
            <a:ext cx="4023360" cy="52120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The 1004 mb isobar closes round the lowest pressures; 1008 and 1012 follow it outwards; 1016 and 1020 lie to the east and south-east.</a:t>
            </a:r>
          </a:p>
          <a:p>
            <a:pPr algn="l">
              <a:spcAft>
                <a:spcPts val="600"/>
              </a:spcAft>
            </a:pPr>
            <a:r>
              <a:rPr sz="1900" b="0" i="0">
                <a:solidFill>
                  <a:srgbClr val="1F1F1F"/>
                </a:solidFill>
                <a:latin typeface="Calibri"/>
              </a:rPr>
              <a:t>The 1000 mb isobar is not drawn: no station is that low.</a:t>
            </a:r>
          </a:p>
        </p:txBody>
      </p:sp>
      <p:pic>
        <p:nvPicPr>
          <p:cNvPr id="7" name="Picture 6" descr="map_p2.png"/>
          <p:cNvPicPr>
            <a:picLocks noChangeAspect="1"/>
          </p:cNvPicPr>
          <p:nvPr/>
        </p:nvPicPr>
        <p:blipFill>
          <a:blip r:embed="rId2"/>
          <a:stretch>
            <a:fillRect/>
          </a:stretch>
        </p:blipFill>
        <p:spPr>
          <a:xfrm>
            <a:off x="4709306" y="1005840"/>
            <a:ext cx="6857706" cy="5303520"/>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Step 2: the L</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149</a:t>
            </a:r>
          </a:p>
        </p:txBody>
      </p:sp>
      <p:sp>
        <p:nvSpPr>
          <p:cNvPr id="6" name="TextBox 5"/>
          <p:cNvSpPr txBox="1"/>
          <p:nvPr/>
        </p:nvSpPr>
        <p:spPr>
          <a:xfrm>
            <a:off x="411480" y="1051560"/>
            <a:ext cx="4023360" cy="5212080"/>
          </a:xfrm>
          <a:prstGeom prst="rect">
            <a:avLst/>
          </a:prstGeom>
          <a:noFill/>
        </p:spPr>
        <p:txBody>
          <a:bodyPr wrap="square" anchor="t" lIns="45720" rIns="45720">
            <a:spAutoFit/>
          </a:bodyPr>
          <a:lstStyle/>
          <a:p>
            <a:pPr algn="l">
              <a:spcAft>
                <a:spcPts val="600"/>
              </a:spcAft>
            </a:pPr>
            <a:r>
              <a:rPr sz="1900" b="0" i="0">
                <a:solidFill>
                  <a:srgbClr val="1F1F1F"/>
                </a:solidFill>
                <a:latin typeface="Calibri"/>
              </a:rPr>
              <a:t>The low is where the isobars close round the lowest pressure: </a:t>
            </a:r>
            <a:r>
              <a:rPr sz="1900" b="1" i="0">
                <a:solidFill>
                  <a:srgbClr val="1F1F1F"/>
                </a:solidFill>
                <a:latin typeface="Calibri"/>
              </a:rPr>
              <a:t>1002.4 hPa</a:t>
            </a:r>
            <a:r>
              <a:rPr sz="1900" b="0" i="0">
                <a:solidFill>
                  <a:srgbClr val="1F1F1F"/>
                </a:solidFill>
                <a:latin typeface="Calibri"/>
              </a:rPr>
              <a:t> (stn 8, northern Illinois) and </a:t>
            </a:r>
            <a:r>
              <a:rPr sz="1900" b="1" i="0">
                <a:solidFill>
                  <a:srgbClr val="1F1F1F"/>
                </a:solidFill>
                <a:latin typeface="Calibri"/>
              </a:rPr>
              <a:t>1002.6 hPa</a:t>
            </a:r>
            <a:r>
              <a:rPr sz="1900" b="0" i="0">
                <a:solidFill>
                  <a:srgbClr val="1F1F1F"/>
                </a:solidFill>
                <a:latin typeface="Calibri"/>
              </a:rPr>
              <a:t> (stn 9, Iowa).</a:t>
            </a:r>
          </a:p>
          <a:p>
            <a:pPr algn="l">
              <a:spcAft>
                <a:spcPts val="600"/>
              </a:spcAft>
            </a:pPr>
            <a:r>
              <a:rPr sz="1900" b="0" i="0">
                <a:solidFill>
                  <a:srgbClr val="1F1F1F"/>
                </a:solidFill>
                <a:latin typeface="Calibri"/>
              </a:rPr>
              <a:t>Write the </a:t>
            </a:r>
            <a:r>
              <a:rPr sz="1900" b="1" i="0">
                <a:solidFill>
                  <a:srgbClr val="1F1F1F"/>
                </a:solidFill>
                <a:latin typeface="Calibri"/>
              </a:rPr>
              <a:t>L</a:t>
            </a:r>
            <a:r>
              <a:rPr sz="1900" b="0" i="0">
                <a:solidFill>
                  <a:srgbClr val="1F1F1F"/>
                </a:solidFill>
                <a:latin typeface="Calibri"/>
              </a:rPr>
              <a:t> between them, in the middle of the innermost isobar, about 1002 hPa.</a:t>
            </a:r>
          </a:p>
          <a:p>
            <a:pPr algn="l">
              <a:spcAft>
                <a:spcPts val="600"/>
              </a:spcAft>
            </a:pPr>
            <a:r>
              <a:rPr sz="1900" b="0" i="0">
                <a:solidFill>
                  <a:srgbClr val="1F1F1F"/>
                </a:solidFill>
                <a:latin typeface="Calibri"/>
              </a:rPr>
              <a:t>It is also the centre of the swirl of streamlines from Q13.</a:t>
            </a:r>
          </a:p>
        </p:txBody>
      </p:sp>
      <p:pic>
        <p:nvPicPr>
          <p:cNvPr id="7" name="Picture 6" descr="map_p3.png"/>
          <p:cNvPicPr>
            <a:picLocks noChangeAspect="1"/>
          </p:cNvPicPr>
          <p:nvPr/>
        </p:nvPicPr>
        <p:blipFill>
          <a:blip r:embed="rId2"/>
          <a:stretch>
            <a:fillRect/>
          </a:stretch>
        </p:blipFill>
        <p:spPr>
          <a:xfrm>
            <a:off x="4709306" y="1005840"/>
            <a:ext cx="6857706" cy="5303520"/>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Step 3: the fronts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150</a:t>
            </a:r>
          </a:p>
        </p:txBody>
      </p:sp>
      <p:graphicFrame>
        <p:nvGraphicFramePr>
          <p:cNvPr id="6" name="Table 5"/>
          <p:cNvGraphicFramePr>
            <a:graphicFrameLocks noGrp="1"/>
          </p:cNvGraphicFramePr>
          <p:nvPr/>
        </p:nvGraphicFramePr>
        <p:xfrm>
          <a:off x="365760" y="1097280"/>
          <a:ext cx="5120637" cy="3657600"/>
        </p:xfrm>
        <a:graphic>
          <a:graphicData uri="http://schemas.openxmlformats.org/drawingml/2006/table">
            <a:tbl>
              <a:tblPr firstRow="0" bandRow="0">
                <a:tableStyleId>{5940675A-B579-460E-94D1-54222C63F5DA}</a:tableStyleId>
              </a:tblPr>
              <a:tblGrid>
                <a:gridCol w="794582"/>
                <a:gridCol w="971155"/>
                <a:gridCol w="971155"/>
                <a:gridCol w="1059442"/>
                <a:gridCol w="1324303"/>
              </a:tblGrid>
              <a:tr h="457200">
                <a:tc>
                  <a:txBody>
                    <a:bodyPr wrap="square"/>
                    <a:lstStyle/>
                    <a:p>
                      <a:pPr algn="l"/>
                      <a:r>
                        <a:rPr sz="1400" b="1" i="0">
                          <a:solidFill>
                            <a:srgbClr val="FFFFFF"/>
                          </a:solidFill>
                          <a:latin typeface="Calibri"/>
                        </a:rPr>
                        <a:t>Front</a:t>
                      </a:r>
                    </a:p>
                  </a:txBody>
                  <a:tcPr marL="73152" marR="73152" marT="27432" marB="27432" anchor="ctr">
                    <a:solidFill>
                      <a:srgbClr val="1B3A6B"/>
                    </a:solidFill>
                  </a:tcPr>
                </a:tc>
                <a:tc>
                  <a:txBody>
                    <a:bodyPr wrap="square"/>
                    <a:lstStyle/>
                    <a:p>
                      <a:pPr algn="l"/>
                      <a:r>
                        <a:rPr sz="1400" b="1" i="0">
                          <a:solidFill>
                            <a:srgbClr val="FFFFFF"/>
                          </a:solidFill>
                          <a:latin typeface="Calibri"/>
                        </a:rPr>
                        <a:t>Stns</a:t>
                      </a:r>
                    </a:p>
                  </a:txBody>
                  <a:tcPr marL="73152" marR="73152" marT="27432" marB="27432" anchor="ctr">
                    <a:solidFill>
                      <a:srgbClr val="1B3A6B"/>
                    </a:solidFill>
                  </a:tcPr>
                </a:tc>
                <a:tc>
                  <a:txBody>
                    <a:bodyPr wrap="square"/>
                    <a:lstStyle/>
                    <a:p>
                      <a:pPr algn="l"/>
                      <a:r>
                        <a:rPr sz="1400" b="1" i="0">
                          <a:solidFill>
                            <a:srgbClr val="FFFFFF"/>
                          </a:solidFill>
                          <a:latin typeface="Calibri"/>
                        </a:rPr>
                        <a:t>T (°F)</a:t>
                      </a:r>
                    </a:p>
                  </a:txBody>
                  <a:tcPr marL="73152" marR="73152" marT="27432" marB="27432" anchor="ctr">
                    <a:solidFill>
                      <a:srgbClr val="1B3A6B"/>
                    </a:solidFill>
                  </a:tcPr>
                </a:tc>
                <a:tc>
                  <a:txBody>
                    <a:bodyPr wrap="square"/>
                    <a:lstStyle/>
                    <a:p>
                      <a:pPr algn="l"/>
                      <a:r>
                        <a:rPr sz="1400" b="1" i="0">
                          <a:solidFill>
                            <a:srgbClr val="FFFFFF"/>
                          </a:solidFill>
                          <a:latin typeface="Calibri"/>
                        </a:rPr>
                        <a:t>T</a:t>
                      </a:r>
                      <a:r>
                        <a:rPr sz="1400" b="1" i="0" baseline="-25000">
                          <a:solidFill>
                            <a:srgbClr val="FFFFFF"/>
                          </a:solidFill>
                          <a:latin typeface="Calibri"/>
                        </a:rPr>
                        <a:t>d</a:t>
                      </a:r>
                      <a:r>
                        <a:rPr sz="1400" b="1" i="0">
                          <a:solidFill>
                            <a:srgbClr val="FFFFFF"/>
                          </a:solidFill>
                          <a:latin typeface="Calibri"/>
                        </a:rPr>
                        <a:t> (°F)</a:t>
                      </a:r>
                    </a:p>
                  </a:txBody>
                  <a:tcPr marL="73152" marR="73152" marT="27432" marB="27432" anchor="ctr">
                    <a:solidFill>
                      <a:srgbClr val="1B3A6B"/>
                    </a:solidFill>
                  </a:tcPr>
                </a:tc>
                <a:tc>
                  <a:txBody>
                    <a:bodyPr wrap="square"/>
                    <a:lstStyle/>
                    <a:p>
                      <a:pPr algn="l"/>
                      <a:r>
                        <a:rPr sz="1400" b="1" i="0">
                          <a:solidFill>
                            <a:srgbClr val="FFFFFF"/>
                          </a:solidFill>
                          <a:latin typeface="Calibri"/>
                        </a:rPr>
                        <a:t>Wind from</a:t>
                      </a:r>
                    </a:p>
                  </a:txBody>
                  <a:tcPr marL="73152" marR="73152" marT="27432" marB="27432" anchor="ctr">
                    <a:solidFill>
                      <a:srgbClr val="1B3A6B"/>
                    </a:solidFill>
                  </a:tcPr>
                </a:tc>
              </a:tr>
              <a:tr h="457200">
                <a:tc>
                  <a:txBody>
                    <a:bodyPr wrap="square"/>
                    <a:lstStyle/>
                    <a:p>
                      <a:pPr algn="l"/>
                      <a:r>
                        <a:rPr sz="1400" b="0" i="0">
                          <a:solidFill>
                            <a:srgbClr val="1F1F1F"/>
                          </a:solidFill>
                          <a:latin typeface="Calibri"/>
                        </a:rPr>
                        <a:t>cold</a:t>
                      </a:r>
                    </a:p>
                  </a:txBody>
                  <a:tcPr marL="73152" marR="73152" marT="27432" marB="27432" anchor="ctr">
                    <a:solidFill>
                      <a:srgbClr val="FFFFFF"/>
                    </a:solidFill>
                  </a:tcPr>
                </a:tc>
                <a:tc>
                  <a:txBody>
                    <a:bodyPr wrap="square"/>
                    <a:lstStyle/>
                    <a:p>
                      <a:pPr algn="l"/>
                      <a:r>
                        <a:rPr sz="1400" b="0" i="0">
                          <a:solidFill>
                            <a:srgbClr val="1F1F1F"/>
                          </a:solidFill>
                          <a:latin typeface="Calibri"/>
                        </a:rPr>
                        <a:t>16→17</a:t>
                      </a:r>
                    </a:p>
                  </a:txBody>
                  <a:tcPr marL="73152" marR="73152" marT="27432" marB="27432" anchor="ctr">
                    <a:solidFill>
                      <a:srgbClr val="FFFFFF"/>
                    </a:solidFill>
                  </a:tcPr>
                </a:tc>
                <a:tc>
                  <a:txBody>
                    <a:bodyPr wrap="square"/>
                    <a:lstStyle/>
                    <a:p>
                      <a:pPr algn="l"/>
                      <a:r>
                        <a:rPr sz="1400" b="0" i="0">
                          <a:solidFill>
                            <a:srgbClr val="1F1F1F"/>
                          </a:solidFill>
                          <a:latin typeface="Calibri"/>
                        </a:rPr>
                        <a:t>45→60</a:t>
                      </a:r>
                    </a:p>
                  </a:txBody>
                  <a:tcPr marL="73152" marR="73152" marT="27432" marB="27432" anchor="ctr">
                    <a:solidFill>
                      <a:srgbClr val="FFFFFF"/>
                    </a:solidFill>
                  </a:tcPr>
                </a:tc>
                <a:tc>
                  <a:txBody>
                    <a:bodyPr wrap="square"/>
                    <a:lstStyle/>
                    <a:p>
                      <a:pPr algn="l"/>
                      <a:r>
                        <a:rPr sz="1400" b="0" i="0">
                          <a:solidFill>
                            <a:srgbClr val="1F1F1F"/>
                          </a:solidFill>
                          <a:latin typeface="Calibri"/>
                        </a:rPr>
                        <a:t>40→55</a:t>
                      </a:r>
                    </a:p>
                  </a:txBody>
                  <a:tcPr marL="73152" marR="73152" marT="27432" marB="27432" anchor="ctr">
                    <a:solidFill>
                      <a:srgbClr val="FFFFFF"/>
                    </a:solidFill>
                  </a:tcPr>
                </a:tc>
                <a:tc>
                  <a:txBody>
                    <a:bodyPr wrap="square"/>
                    <a:lstStyle/>
                    <a:p>
                      <a:pPr algn="l"/>
                      <a:r>
                        <a:rPr sz="1400" b="0" i="0">
                          <a:solidFill>
                            <a:srgbClr val="1F1F1F"/>
                          </a:solidFill>
                          <a:latin typeface="Calibri"/>
                        </a:rPr>
                        <a:t>NW→SSW</a:t>
                      </a:r>
                    </a:p>
                  </a:txBody>
                  <a:tcPr marL="73152" marR="73152" marT="27432" marB="27432" anchor="ctr">
                    <a:solidFill>
                      <a:srgbClr val="FFFFFF"/>
                    </a:solidFill>
                  </a:tcPr>
                </a:tc>
              </a:tr>
              <a:tr h="457200">
                <a:tc>
                  <a:txBody>
                    <a:bodyPr wrap="square"/>
                    <a:lstStyle/>
                    <a:p>
                      <a:pPr algn="l"/>
                      <a:r>
                        <a:rPr sz="1400" b="0" i="0">
                          <a:solidFill>
                            <a:srgbClr val="1F1F1F"/>
                          </a:solidFill>
                          <a:latin typeface="Calibri"/>
                        </a:rPr>
                        <a:t>cold</a:t>
                      </a:r>
                    </a:p>
                  </a:txBody>
                  <a:tcPr marL="73152" marR="73152" marT="27432" marB="27432" anchor="ctr">
                    <a:solidFill>
                      <a:srgbClr val="F7F7F5"/>
                    </a:solidFill>
                  </a:tcPr>
                </a:tc>
                <a:tc>
                  <a:txBody>
                    <a:bodyPr wrap="square"/>
                    <a:lstStyle/>
                    <a:p>
                      <a:pPr algn="l"/>
                      <a:r>
                        <a:rPr sz="1400" b="0" i="0">
                          <a:solidFill>
                            <a:srgbClr val="1F1F1F"/>
                          </a:solidFill>
                          <a:latin typeface="Calibri"/>
                        </a:rPr>
                        <a:t>22→23</a:t>
                      </a:r>
                    </a:p>
                  </a:txBody>
                  <a:tcPr marL="73152" marR="73152" marT="27432" marB="27432" anchor="ctr">
                    <a:solidFill>
                      <a:srgbClr val="F7F7F5"/>
                    </a:solidFill>
                  </a:tcPr>
                </a:tc>
                <a:tc>
                  <a:txBody>
                    <a:bodyPr wrap="square"/>
                    <a:lstStyle/>
                    <a:p>
                      <a:pPr algn="l"/>
                      <a:r>
                        <a:rPr sz="1400" b="0" i="0">
                          <a:solidFill>
                            <a:srgbClr val="1F1F1F"/>
                          </a:solidFill>
                          <a:latin typeface="Calibri"/>
                        </a:rPr>
                        <a:t>42→61</a:t>
                      </a:r>
                    </a:p>
                  </a:txBody>
                  <a:tcPr marL="73152" marR="73152" marT="27432" marB="27432" anchor="ctr">
                    <a:solidFill>
                      <a:srgbClr val="F7F7F5"/>
                    </a:solidFill>
                  </a:tcPr>
                </a:tc>
                <a:tc>
                  <a:txBody>
                    <a:bodyPr wrap="square"/>
                    <a:lstStyle/>
                    <a:p>
                      <a:pPr algn="l"/>
                      <a:r>
                        <a:rPr sz="1400" b="0" i="0">
                          <a:solidFill>
                            <a:srgbClr val="1F1F1F"/>
                          </a:solidFill>
                          <a:latin typeface="Calibri"/>
                        </a:rPr>
                        <a:t>36→57</a:t>
                      </a:r>
                    </a:p>
                  </a:txBody>
                  <a:tcPr marL="73152" marR="73152" marT="27432" marB="27432" anchor="ctr">
                    <a:solidFill>
                      <a:srgbClr val="F7F7F5"/>
                    </a:solidFill>
                  </a:tcPr>
                </a:tc>
                <a:tc>
                  <a:txBody>
                    <a:bodyPr wrap="square"/>
                    <a:lstStyle/>
                    <a:p>
                      <a:pPr algn="l"/>
                      <a:r>
                        <a:rPr sz="1400" b="0" i="0">
                          <a:solidFill>
                            <a:srgbClr val="1F1F1F"/>
                          </a:solidFill>
                          <a:latin typeface="Calibri"/>
                        </a:rPr>
                        <a:t>NW→SSW</a:t>
                      </a:r>
                    </a:p>
                  </a:txBody>
                  <a:tcPr marL="73152" marR="73152" marT="27432" marB="27432" anchor="ctr">
                    <a:solidFill>
                      <a:srgbClr val="F7F7F5"/>
                    </a:solidFill>
                  </a:tcPr>
                </a:tc>
              </a:tr>
              <a:tr h="457200">
                <a:tc>
                  <a:txBody>
                    <a:bodyPr wrap="square"/>
                    <a:lstStyle/>
                    <a:p>
                      <a:pPr algn="l"/>
                      <a:r>
                        <a:rPr sz="1400" b="0" i="0">
                          <a:solidFill>
                            <a:srgbClr val="1F1F1F"/>
                          </a:solidFill>
                          <a:latin typeface="Calibri"/>
                        </a:rPr>
                        <a:t>cold</a:t>
                      </a:r>
                    </a:p>
                  </a:txBody>
                  <a:tcPr marL="73152" marR="73152" marT="27432" marB="27432" anchor="ctr">
                    <a:solidFill>
                      <a:srgbClr val="FFFFFF"/>
                    </a:solidFill>
                  </a:tcPr>
                </a:tc>
                <a:tc>
                  <a:txBody>
                    <a:bodyPr wrap="square"/>
                    <a:lstStyle/>
                    <a:p>
                      <a:pPr algn="l"/>
                      <a:r>
                        <a:rPr sz="1400" b="0" i="0">
                          <a:solidFill>
                            <a:srgbClr val="1F1F1F"/>
                          </a:solidFill>
                          <a:latin typeface="Calibri"/>
                        </a:rPr>
                        <a:t>25→28</a:t>
                      </a:r>
                    </a:p>
                  </a:txBody>
                  <a:tcPr marL="73152" marR="73152" marT="27432" marB="27432" anchor="ctr">
                    <a:solidFill>
                      <a:srgbClr val="FFFFFF"/>
                    </a:solidFill>
                  </a:tcPr>
                </a:tc>
                <a:tc>
                  <a:txBody>
                    <a:bodyPr wrap="square"/>
                    <a:lstStyle/>
                    <a:p>
                      <a:pPr algn="l"/>
                      <a:r>
                        <a:rPr sz="1400" b="0" i="0">
                          <a:solidFill>
                            <a:srgbClr val="1F1F1F"/>
                          </a:solidFill>
                          <a:latin typeface="Calibri"/>
                        </a:rPr>
                        <a:t>48→66</a:t>
                      </a:r>
                    </a:p>
                  </a:txBody>
                  <a:tcPr marL="73152" marR="73152" marT="27432" marB="27432" anchor="ctr">
                    <a:solidFill>
                      <a:srgbClr val="FFFFFF"/>
                    </a:solidFill>
                  </a:tcPr>
                </a:tc>
                <a:tc>
                  <a:txBody>
                    <a:bodyPr wrap="square"/>
                    <a:lstStyle/>
                    <a:p>
                      <a:pPr algn="l"/>
                      <a:r>
                        <a:rPr sz="1400" b="0" i="0">
                          <a:solidFill>
                            <a:srgbClr val="1F1F1F"/>
                          </a:solidFill>
                          <a:latin typeface="Calibri"/>
                        </a:rPr>
                        <a:t>38→59</a:t>
                      </a:r>
                    </a:p>
                  </a:txBody>
                  <a:tcPr marL="73152" marR="73152" marT="27432" marB="27432" anchor="ctr">
                    <a:solidFill>
                      <a:srgbClr val="FFFFFF"/>
                    </a:solidFill>
                  </a:tcPr>
                </a:tc>
                <a:tc>
                  <a:txBody>
                    <a:bodyPr wrap="square"/>
                    <a:lstStyle/>
                    <a:p>
                      <a:pPr algn="l"/>
                      <a:r>
                        <a:rPr sz="1400" b="0" i="0">
                          <a:solidFill>
                            <a:srgbClr val="1F1F1F"/>
                          </a:solidFill>
                          <a:latin typeface="Calibri"/>
                        </a:rPr>
                        <a:t>WNW→SW</a:t>
                      </a:r>
                    </a:p>
                  </a:txBody>
                  <a:tcPr marL="73152" marR="73152" marT="27432" marB="27432" anchor="ctr">
                    <a:solidFill>
                      <a:srgbClr val="FFFFFF"/>
                    </a:solidFill>
                  </a:tcPr>
                </a:tc>
              </a:tr>
              <a:tr h="457200">
                <a:tc>
                  <a:txBody>
                    <a:bodyPr wrap="square"/>
                    <a:lstStyle/>
                    <a:p>
                      <a:pPr algn="l"/>
                      <a:r>
                        <a:rPr sz="1400" b="0" i="0">
                          <a:solidFill>
                            <a:srgbClr val="1F1F1F"/>
                          </a:solidFill>
                          <a:latin typeface="Calibri"/>
                        </a:rPr>
                        <a:t>cold</a:t>
                      </a:r>
                    </a:p>
                  </a:txBody>
                  <a:tcPr marL="73152" marR="73152" marT="27432" marB="27432" anchor="ctr">
                    <a:solidFill>
                      <a:srgbClr val="F7F7F5"/>
                    </a:solidFill>
                  </a:tcPr>
                </a:tc>
                <a:tc>
                  <a:txBody>
                    <a:bodyPr wrap="square"/>
                    <a:lstStyle/>
                    <a:p>
                      <a:pPr algn="l"/>
                      <a:r>
                        <a:rPr sz="1400" b="0" i="0">
                          <a:solidFill>
                            <a:srgbClr val="1F1F1F"/>
                          </a:solidFill>
                          <a:latin typeface="Calibri"/>
                        </a:rPr>
                        <a:t>31→32</a:t>
                      </a:r>
                    </a:p>
                  </a:txBody>
                  <a:tcPr marL="73152" marR="73152" marT="27432" marB="27432" anchor="ctr">
                    <a:solidFill>
                      <a:srgbClr val="F7F7F5"/>
                    </a:solidFill>
                  </a:tcPr>
                </a:tc>
                <a:tc>
                  <a:txBody>
                    <a:bodyPr wrap="square"/>
                    <a:lstStyle/>
                    <a:p>
                      <a:pPr algn="l"/>
                      <a:r>
                        <a:rPr sz="1400" b="0" i="0">
                          <a:solidFill>
                            <a:srgbClr val="1F1F1F"/>
                          </a:solidFill>
                          <a:latin typeface="Calibri"/>
                        </a:rPr>
                        <a:t>52→63</a:t>
                      </a:r>
                    </a:p>
                  </a:txBody>
                  <a:tcPr marL="73152" marR="73152" marT="27432" marB="27432" anchor="ctr">
                    <a:solidFill>
                      <a:srgbClr val="F7F7F5"/>
                    </a:solidFill>
                  </a:tcPr>
                </a:tc>
                <a:tc>
                  <a:txBody>
                    <a:bodyPr wrap="square"/>
                    <a:lstStyle/>
                    <a:p>
                      <a:pPr algn="l"/>
                      <a:r>
                        <a:rPr sz="1400" b="0" i="0">
                          <a:solidFill>
                            <a:srgbClr val="1F1F1F"/>
                          </a:solidFill>
                          <a:latin typeface="Calibri"/>
                        </a:rPr>
                        <a:t>50→61</a:t>
                      </a:r>
                    </a:p>
                  </a:txBody>
                  <a:tcPr marL="73152" marR="73152" marT="27432" marB="27432" anchor="ctr">
                    <a:solidFill>
                      <a:srgbClr val="F7F7F5"/>
                    </a:solidFill>
                  </a:tcPr>
                </a:tc>
                <a:tc>
                  <a:txBody>
                    <a:bodyPr wrap="square"/>
                    <a:lstStyle/>
                    <a:p>
                      <a:pPr algn="l"/>
                      <a:r>
                        <a:rPr sz="1400" b="0" i="0">
                          <a:solidFill>
                            <a:srgbClr val="1F1F1F"/>
                          </a:solidFill>
                          <a:latin typeface="Calibri"/>
                        </a:rPr>
                        <a:t>WSW→S</a:t>
                      </a:r>
                    </a:p>
                  </a:txBody>
                  <a:tcPr marL="73152" marR="73152" marT="27432" marB="27432" anchor="ctr">
                    <a:solidFill>
                      <a:srgbClr val="F7F7F5"/>
                    </a:solidFill>
                  </a:tcPr>
                </a:tc>
              </a:tr>
              <a:tr h="457200">
                <a:tc>
                  <a:txBody>
                    <a:bodyPr wrap="square"/>
                    <a:lstStyle/>
                    <a:p>
                      <a:pPr algn="l"/>
                      <a:r>
                        <a:rPr sz="1400" b="0" i="0">
                          <a:solidFill>
                            <a:srgbClr val="1F1F1F"/>
                          </a:solidFill>
                          <a:latin typeface="Calibri"/>
                        </a:rPr>
                        <a:t>warm</a:t>
                      </a:r>
                    </a:p>
                  </a:txBody>
                  <a:tcPr marL="73152" marR="73152" marT="27432" marB="27432" anchor="ctr">
                    <a:solidFill>
                      <a:srgbClr val="FBE9E0"/>
                    </a:solidFill>
                  </a:tcPr>
                </a:tc>
                <a:tc>
                  <a:txBody>
                    <a:bodyPr wrap="square"/>
                    <a:lstStyle/>
                    <a:p>
                      <a:pPr algn="l"/>
                      <a:r>
                        <a:rPr sz="1400" b="0" i="0">
                          <a:solidFill>
                            <a:srgbClr val="1F1F1F"/>
                          </a:solidFill>
                          <a:latin typeface="Calibri"/>
                        </a:rPr>
                        <a:t>8→13</a:t>
                      </a:r>
                    </a:p>
                  </a:txBody>
                  <a:tcPr marL="73152" marR="73152" marT="27432" marB="27432" anchor="ctr">
                    <a:solidFill>
                      <a:srgbClr val="FBE9E0"/>
                    </a:solidFill>
                  </a:tcPr>
                </a:tc>
                <a:tc>
                  <a:txBody>
                    <a:bodyPr wrap="square"/>
                    <a:lstStyle/>
                    <a:p>
                      <a:pPr algn="l"/>
                      <a:r>
                        <a:rPr sz="1400" b="0" i="0">
                          <a:solidFill>
                            <a:srgbClr val="1F1F1F"/>
                          </a:solidFill>
                          <a:latin typeface="Calibri"/>
                        </a:rPr>
                        <a:t>48→57</a:t>
                      </a:r>
                    </a:p>
                  </a:txBody>
                  <a:tcPr marL="73152" marR="73152" marT="27432" marB="27432" anchor="ctr">
                    <a:solidFill>
                      <a:srgbClr val="FBE9E0"/>
                    </a:solidFill>
                  </a:tcPr>
                </a:tc>
                <a:tc>
                  <a:txBody>
                    <a:bodyPr wrap="square"/>
                    <a:lstStyle/>
                    <a:p>
                      <a:pPr algn="l"/>
                      <a:r>
                        <a:rPr sz="1400" b="0" i="0">
                          <a:solidFill>
                            <a:srgbClr val="1F1F1F"/>
                          </a:solidFill>
                          <a:latin typeface="Calibri"/>
                        </a:rPr>
                        <a:t>45→54</a:t>
                      </a:r>
                    </a:p>
                  </a:txBody>
                  <a:tcPr marL="73152" marR="73152" marT="27432" marB="27432" anchor="ctr">
                    <a:solidFill>
                      <a:srgbClr val="FBE9E0"/>
                    </a:solidFill>
                  </a:tcPr>
                </a:tc>
                <a:tc>
                  <a:txBody>
                    <a:bodyPr wrap="square"/>
                    <a:lstStyle/>
                    <a:p>
                      <a:pPr algn="l"/>
                      <a:r>
                        <a:rPr sz="1400" b="0" i="0">
                          <a:solidFill>
                            <a:srgbClr val="1F1F1F"/>
                          </a:solidFill>
                          <a:latin typeface="Calibri"/>
                        </a:rPr>
                        <a:t>NE→SSW</a:t>
                      </a:r>
                    </a:p>
                  </a:txBody>
                  <a:tcPr marL="73152" marR="73152" marT="27432" marB="27432" anchor="ctr">
                    <a:solidFill>
                      <a:srgbClr val="FBE9E0"/>
                    </a:solidFill>
                  </a:tcPr>
                </a:tc>
              </a:tr>
              <a:tr h="457200">
                <a:tc>
                  <a:txBody>
                    <a:bodyPr wrap="square"/>
                    <a:lstStyle/>
                    <a:p>
                      <a:pPr algn="l"/>
                      <a:r>
                        <a:rPr sz="1400" b="0" i="0">
                          <a:solidFill>
                            <a:srgbClr val="1F1F1F"/>
                          </a:solidFill>
                          <a:latin typeface="Calibri"/>
                        </a:rPr>
                        <a:t>warm</a:t>
                      </a:r>
                    </a:p>
                  </a:txBody>
                  <a:tcPr marL="73152" marR="73152" marT="27432" marB="27432" anchor="ctr">
                    <a:solidFill>
                      <a:srgbClr val="FBE9E0"/>
                    </a:solidFill>
                  </a:tcPr>
                </a:tc>
                <a:tc>
                  <a:txBody>
                    <a:bodyPr wrap="square"/>
                    <a:lstStyle/>
                    <a:p>
                      <a:pPr algn="l"/>
                      <a:r>
                        <a:rPr sz="1400" b="0" i="0">
                          <a:solidFill>
                            <a:srgbClr val="1F1F1F"/>
                          </a:solidFill>
                          <a:latin typeface="Calibri"/>
                        </a:rPr>
                        <a:t>14→19</a:t>
                      </a:r>
                    </a:p>
                  </a:txBody>
                  <a:tcPr marL="73152" marR="73152" marT="27432" marB="27432" anchor="ctr">
                    <a:solidFill>
                      <a:srgbClr val="FBE9E0"/>
                    </a:solidFill>
                  </a:tcPr>
                </a:tc>
                <a:tc>
                  <a:txBody>
                    <a:bodyPr wrap="square"/>
                    <a:lstStyle/>
                    <a:p>
                      <a:pPr algn="l"/>
                      <a:r>
                        <a:rPr sz="1400" b="0" i="0">
                          <a:solidFill>
                            <a:srgbClr val="1F1F1F"/>
                          </a:solidFill>
                          <a:latin typeface="Calibri"/>
                        </a:rPr>
                        <a:t>54→66</a:t>
                      </a:r>
                    </a:p>
                  </a:txBody>
                  <a:tcPr marL="73152" marR="73152" marT="27432" marB="27432" anchor="ctr">
                    <a:solidFill>
                      <a:srgbClr val="FBE9E0"/>
                    </a:solidFill>
                  </a:tcPr>
                </a:tc>
                <a:tc>
                  <a:txBody>
                    <a:bodyPr wrap="square"/>
                    <a:lstStyle/>
                    <a:p>
                      <a:pPr algn="l"/>
                      <a:r>
                        <a:rPr sz="1400" b="0" i="0">
                          <a:solidFill>
                            <a:srgbClr val="1F1F1F"/>
                          </a:solidFill>
                          <a:latin typeface="Calibri"/>
                        </a:rPr>
                        <a:t>45→53</a:t>
                      </a:r>
                    </a:p>
                  </a:txBody>
                  <a:tcPr marL="73152" marR="73152" marT="27432" marB="27432" anchor="ctr">
                    <a:solidFill>
                      <a:srgbClr val="FBE9E0"/>
                    </a:solidFill>
                  </a:tcPr>
                </a:tc>
                <a:tc>
                  <a:txBody>
                    <a:bodyPr wrap="square"/>
                    <a:lstStyle/>
                    <a:p>
                      <a:pPr algn="l"/>
                      <a:r>
                        <a:rPr sz="1400" b="0" i="0">
                          <a:solidFill>
                            <a:srgbClr val="1F1F1F"/>
                          </a:solidFill>
                          <a:latin typeface="Calibri"/>
                        </a:rPr>
                        <a:t>E→S</a:t>
                      </a:r>
                    </a:p>
                  </a:txBody>
                  <a:tcPr marL="73152" marR="73152" marT="27432" marB="27432" anchor="ctr">
                    <a:solidFill>
                      <a:srgbClr val="FBE9E0"/>
                    </a:solidFill>
                  </a:tcPr>
                </a:tc>
              </a:tr>
              <a:tr h="457200">
                <a:tc>
                  <a:txBody>
                    <a:bodyPr wrap="square"/>
                    <a:lstStyle/>
                    <a:p>
                      <a:pPr algn="l"/>
                      <a:r>
                        <a:rPr sz="1400" b="0" i="0">
                          <a:solidFill>
                            <a:srgbClr val="1F1F1F"/>
                          </a:solidFill>
                          <a:latin typeface="Calibri"/>
                        </a:rPr>
                        <a:t>warm</a:t>
                      </a:r>
                    </a:p>
                  </a:txBody>
                  <a:tcPr marL="73152" marR="73152" marT="27432" marB="27432" anchor="ctr">
                    <a:solidFill>
                      <a:srgbClr val="FBE9E0"/>
                    </a:solidFill>
                  </a:tcPr>
                </a:tc>
                <a:tc>
                  <a:txBody>
                    <a:bodyPr wrap="square"/>
                    <a:lstStyle/>
                    <a:p>
                      <a:pPr algn="l"/>
                      <a:r>
                        <a:rPr sz="1400" b="0" i="0">
                          <a:solidFill>
                            <a:srgbClr val="1F1F1F"/>
                          </a:solidFill>
                          <a:latin typeface="Calibri"/>
                        </a:rPr>
                        <a:t>10→20</a:t>
                      </a:r>
                    </a:p>
                  </a:txBody>
                  <a:tcPr marL="73152" marR="73152" marT="27432" marB="27432" anchor="ctr">
                    <a:solidFill>
                      <a:srgbClr val="FBE9E0"/>
                    </a:solidFill>
                  </a:tcPr>
                </a:tc>
                <a:tc>
                  <a:txBody>
                    <a:bodyPr wrap="square"/>
                    <a:lstStyle/>
                    <a:p>
                      <a:pPr algn="l"/>
                      <a:r>
                        <a:rPr sz="1400" b="0" i="0">
                          <a:solidFill>
                            <a:srgbClr val="1F1F1F"/>
                          </a:solidFill>
                          <a:latin typeface="Calibri"/>
                        </a:rPr>
                        <a:t>46→66</a:t>
                      </a:r>
                    </a:p>
                  </a:txBody>
                  <a:tcPr marL="73152" marR="73152" marT="27432" marB="27432" anchor="ctr">
                    <a:solidFill>
                      <a:srgbClr val="FBE9E0"/>
                    </a:solidFill>
                  </a:tcPr>
                </a:tc>
                <a:tc>
                  <a:txBody>
                    <a:bodyPr wrap="square"/>
                    <a:lstStyle/>
                    <a:p>
                      <a:pPr algn="l"/>
                      <a:r>
                        <a:rPr sz="1400" b="0" i="0">
                          <a:solidFill>
                            <a:srgbClr val="1F1F1F"/>
                          </a:solidFill>
                          <a:latin typeface="Calibri"/>
                        </a:rPr>
                        <a:t>43→55</a:t>
                      </a:r>
                    </a:p>
                  </a:txBody>
                  <a:tcPr marL="73152" marR="73152" marT="27432" marB="27432" anchor="ctr">
                    <a:solidFill>
                      <a:srgbClr val="FBE9E0"/>
                    </a:solidFill>
                  </a:tcPr>
                </a:tc>
                <a:tc>
                  <a:txBody>
                    <a:bodyPr wrap="square"/>
                    <a:lstStyle/>
                    <a:p>
                      <a:pPr algn="l"/>
                      <a:r>
                        <a:rPr sz="1400" b="0" i="0">
                          <a:solidFill>
                            <a:srgbClr val="1F1F1F"/>
                          </a:solidFill>
                          <a:latin typeface="Calibri"/>
                        </a:rPr>
                        <a:t>E→S</a:t>
                      </a:r>
                    </a:p>
                  </a:txBody>
                  <a:tcPr marL="73152" marR="73152" marT="27432" marB="27432" anchor="ctr">
                    <a:solidFill>
                      <a:srgbClr val="FBE9E0"/>
                    </a:solidFill>
                  </a:tcPr>
                </a:tc>
              </a:tr>
            </a:tbl>
          </a:graphicData>
        </a:graphic>
      </p:graphicFrame>
      <p:sp>
        <p:nvSpPr>
          <p:cNvPr id="7" name="TextBox 6"/>
          <p:cNvSpPr txBox="1"/>
          <p:nvPr/>
        </p:nvSpPr>
        <p:spPr>
          <a:xfrm>
            <a:off x="411480" y="4983480"/>
            <a:ext cx="5120640" cy="128016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Cold side → warm side. A front lies where temperature, dew point and wind all change quickly.</a:t>
            </a:r>
          </a:p>
          <a:p>
            <a:pPr algn="l">
              <a:spcAft>
                <a:spcPts val="600"/>
              </a:spcAft>
            </a:pPr>
            <a:r>
              <a:rPr sz="1500" b="0" i="0">
                <a:solidFill>
                  <a:srgbClr val="1F1F1F"/>
                </a:solidFill>
                <a:latin typeface="Calibri"/>
              </a:rPr>
              <a:t>Air-temperature colours (blue cold → red warm) show the warm sector at once.</a:t>
            </a:r>
          </a:p>
        </p:txBody>
      </p:sp>
      <p:pic>
        <p:nvPicPr>
          <p:cNvPr id="8" name="Picture 7" descr="map_f.png"/>
          <p:cNvPicPr>
            <a:picLocks noChangeAspect="1"/>
          </p:cNvPicPr>
          <p:nvPr/>
        </p:nvPicPr>
        <p:blipFill>
          <a:blip r:embed="rId3"/>
          <a:stretch>
            <a:fillRect/>
          </a:stretch>
        </p:blipFill>
        <p:spPr>
          <a:xfrm>
            <a:off x="5577840" y="1253234"/>
            <a:ext cx="6217920" cy="4808730"/>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Step 3: the fronts (answer)</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151</a:t>
            </a:r>
          </a:p>
        </p:txBody>
      </p:sp>
      <p:sp>
        <p:nvSpPr>
          <p:cNvPr id="6" name="Rounded Rectangle 5"/>
          <p:cNvSpPr/>
          <p:nvPr/>
        </p:nvSpPr>
        <p:spPr>
          <a:xfrm>
            <a:off x="411480" y="1097280"/>
            <a:ext cx="5669280" cy="310896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007F5F"/>
                </a:solidFill>
                <a:latin typeface="Calibri"/>
              </a:rPr>
              <a:t>Answer</a:t>
            </a:r>
          </a:p>
          <a:p>
            <a:pPr algn="l">
              <a:spcAft>
                <a:spcPts val="300"/>
              </a:spcAft>
            </a:pPr>
            <a:r>
              <a:rPr sz="1800" b="1" i="0">
                <a:solidFill>
                  <a:srgbClr val="1F1F1F"/>
                </a:solidFill>
                <a:latin typeface="Calibri"/>
              </a:rPr>
              <a:t>Cold front</a:t>
            </a:r>
            <a:r>
              <a:rPr sz="1800" b="0" i="0">
                <a:solidFill>
                  <a:srgbClr val="1F1F1F"/>
                </a:solidFill>
                <a:latin typeface="Calibri"/>
              </a:rPr>
              <a:t> (blue, triangles pointing east): from the L towards the south-south-west to Texas.</a:t>
            </a:r>
          </a:p>
          <a:p>
            <a:pPr algn="l">
              <a:spcAft>
                <a:spcPts val="300"/>
              </a:spcAft>
            </a:pPr>
            <a:r>
              <a:rPr sz="1800" b="1" i="0">
                <a:solidFill>
                  <a:srgbClr val="1F1F1F"/>
                </a:solidFill>
                <a:latin typeface="Calibri"/>
              </a:rPr>
              <a:t>Warm front</a:t>
            </a:r>
            <a:r>
              <a:rPr sz="1800" b="0" i="0">
                <a:solidFill>
                  <a:srgbClr val="1F1F1F"/>
                </a:solidFill>
                <a:latin typeface="Calibri"/>
              </a:rPr>
              <a:t> (red, semicircles pointing north-east): from the L east through Indiana and Ohio.</a:t>
            </a:r>
          </a:p>
          <a:p>
            <a:pPr algn="l">
              <a:spcAft>
                <a:spcPts val="300"/>
              </a:spcAft>
            </a:pPr>
            <a:r>
              <a:rPr sz="1800" b="0" i="0">
                <a:solidFill>
                  <a:srgbClr val="1F1F1F"/>
                </a:solidFill>
                <a:latin typeface="Calibri"/>
              </a:rPr>
              <a:t>The </a:t>
            </a:r>
            <a:r>
              <a:rPr sz="1800" b="1" i="0">
                <a:solidFill>
                  <a:srgbClr val="1F1F1F"/>
                </a:solidFill>
                <a:latin typeface="Calibri"/>
              </a:rPr>
              <a:t>warm sector</a:t>
            </a:r>
            <a:r>
              <a:rPr sz="1800" b="0" i="0">
                <a:solidFill>
                  <a:srgbClr val="1F1F1F"/>
                </a:solidFill>
                <a:latin typeface="Calibri"/>
              </a:rPr>
              <a:t> lies between them, to the south-east.</a:t>
            </a:r>
          </a:p>
        </p:txBody>
      </p:sp>
      <p:pic>
        <p:nvPicPr>
          <p:cNvPr id="7" name="Picture 6" descr="map_f.png"/>
          <p:cNvPicPr>
            <a:picLocks noChangeAspect="1"/>
          </p:cNvPicPr>
          <p:nvPr/>
        </p:nvPicPr>
        <p:blipFill>
          <a:blip r:embed="rId2"/>
          <a:stretch>
            <a:fillRect/>
          </a:stretch>
        </p:blipFill>
        <p:spPr>
          <a:xfrm>
            <a:off x="6355080" y="1524432"/>
            <a:ext cx="5516575" cy="4266334"/>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Step 4: cloud cover above 75 %</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152</a:t>
            </a:r>
          </a:p>
        </p:txBody>
      </p:sp>
      <p:sp>
        <p:nvSpPr>
          <p:cNvPr id="6" name="TextBox 5"/>
          <p:cNvSpPr txBox="1"/>
          <p:nvPr/>
        </p:nvSpPr>
        <p:spPr>
          <a:xfrm>
            <a:off x="411480" y="1051560"/>
            <a:ext cx="4023360" cy="521208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Stations with a circle filled to </a:t>
            </a:r>
            <a:r>
              <a:rPr sz="1800" b="1" i="0">
                <a:solidFill>
                  <a:srgbClr val="1F1F1F"/>
                </a:solidFill>
                <a:latin typeface="Calibri"/>
              </a:rPr>
              <a:t>3/4 or more</a:t>
            </a:r>
            <a:r>
              <a:rPr sz="1800" b="0" i="0">
                <a:solidFill>
                  <a:srgbClr val="1F1F1F"/>
                </a:solidFill>
                <a:latin typeface="Calibri"/>
              </a:rPr>
              <a:t> (7–8 tenths, 9 tenths or overcast): 2, 3, 5, 6, 8, 9, 10, 11, 13, 14, 17, 19, 23, 28, 31, 32.</a:t>
            </a:r>
          </a:p>
          <a:p>
            <a:pPr algn="l">
              <a:spcAft>
                <a:spcPts val="600"/>
              </a:spcAft>
            </a:pPr>
            <a:r>
              <a:rPr sz="1800" b="0" i="0">
                <a:solidFill>
                  <a:srgbClr val="1F1F1F"/>
                </a:solidFill>
                <a:latin typeface="Calibri"/>
              </a:rPr>
              <a:t>Draw a line round the group: a broad area wrapped round the low and tailing south-west along the cold front.</a:t>
            </a:r>
          </a:p>
        </p:txBody>
      </p:sp>
      <p:pic>
        <p:nvPicPr>
          <p:cNvPr id="7" name="Picture 6" descr="map_c.png"/>
          <p:cNvPicPr>
            <a:picLocks noChangeAspect="1"/>
          </p:cNvPicPr>
          <p:nvPr/>
        </p:nvPicPr>
        <p:blipFill>
          <a:blip r:embed="rId2"/>
          <a:stretch>
            <a:fillRect/>
          </a:stretch>
        </p:blipFill>
        <p:spPr>
          <a:xfrm>
            <a:off x="4709306" y="1005840"/>
            <a:ext cx="6857706" cy="5303520"/>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Step 5: precipitation</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153</a:t>
            </a:r>
          </a:p>
        </p:txBody>
      </p:sp>
      <p:sp>
        <p:nvSpPr>
          <p:cNvPr id="6" name="TextBox 5"/>
          <p:cNvSpPr txBox="1"/>
          <p:nvPr/>
        </p:nvSpPr>
        <p:spPr>
          <a:xfrm>
            <a:off x="411480" y="1051560"/>
            <a:ext cx="4023360" cy="521208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Shade round every station with a rain symbol or thunder with rain: </a:t>
            </a:r>
            <a:r>
              <a:rPr sz="1800" b="1" i="0">
                <a:solidFill>
                  <a:srgbClr val="1F1F1F"/>
                </a:solidFill>
                <a:latin typeface="Calibri"/>
              </a:rPr>
              <a:t>2, 5, 6, 8, 9, 10, 11, 17, 18, 23</a:t>
            </a:r>
            <a:r>
              <a:rPr sz="1800" b="0" i="0">
                <a:solidFill>
                  <a:srgbClr val="1F1F1F"/>
                </a:solidFill>
                <a:latin typeface="Calibri"/>
              </a:rPr>
              <a:t>.</a:t>
            </a:r>
          </a:p>
          <a:p>
            <a:pPr algn="l">
              <a:spcAft>
                <a:spcPts val="600"/>
              </a:spcAft>
            </a:pPr>
            <a:r>
              <a:rPr sz="1800" b="0" i="0">
                <a:solidFill>
                  <a:srgbClr val="1F1F1F"/>
                </a:solidFill>
                <a:latin typeface="Calibri"/>
              </a:rPr>
              <a:t>A band </a:t>
            </a:r>
            <a:r>
              <a:rPr sz="1800" b="1" i="0">
                <a:solidFill>
                  <a:srgbClr val="1F1F1F"/>
                </a:solidFill>
                <a:latin typeface="Calibri"/>
              </a:rPr>
              <a:t>north and east of the low</a:t>
            </a:r>
            <a:r>
              <a:rPr sz="1800" b="0" i="0">
                <a:solidFill>
                  <a:srgbClr val="1F1F1F"/>
                </a:solidFill>
                <a:latin typeface="Calibri"/>
              </a:rPr>
              <a:t>, along the warm front, and a narrow band along the </a:t>
            </a:r>
            <a:r>
              <a:rPr sz="1800" b="1" i="0">
                <a:solidFill>
                  <a:srgbClr val="1F1F1F"/>
                </a:solidFill>
                <a:latin typeface="Calibri"/>
              </a:rPr>
              <a:t>cold front</a:t>
            </a:r>
            <a:r>
              <a:rPr sz="1800" b="0" i="0">
                <a:solidFill>
                  <a:srgbClr val="1F1F1F"/>
                </a:solidFill>
                <a:latin typeface="Calibri"/>
              </a:rPr>
              <a:t> in Missouri.</a:t>
            </a:r>
          </a:p>
        </p:txBody>
      </p:sp>
      <p:pic>
        <p:nvPicPr>
          <p:cNvPr id="7" name="Picture 6" descr="map_r.png"/>
          <p:cNvPicPr>
            <a:picLocks noChangeAspect="1"/>
          </p:cNvPicPr>
          <p:nvPr/>
        </p:nvPicPr>
        <p:blipFill>
          <a:blip r:embed="rId2"/>
          <a:stretch>
            <a:fillRect/>
          </a:stretch>
        </p:blipFill>
        <p:spPr>
          <a:xfrm>
            <a:off x="4709306" y="1005840"/>
            <a:ext cx="6857706" cy="5303520"/>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007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Map Q14 complete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154</a:t>
            </a:r>
          </a:p>
        </p:txBody>
      </p:sp>
      <p:pic>
        <p:nvPicPr>
          <p:cNvPr id="6" name="Picture 5" descr="map_all.png"/>
          <p:cNvPicPr>
            <a:picLocks noChangeAspect="1"/>
          </p:cNvPicPr>
          <p:nvPr/>
        </p:nvPicPr>
        <p:blipFill>
          <a:blip r:embed="rId3"/>
          <a:stretch>
            <a:fillRect/>
          </a:stretch>
        </p:blipFill>
        <p:spPr>
          <a:xfrm>
            <a:off x="811366" y="1005840"/>
            <a:ext cx="6972627" cy="5394960"/>
          </a:xfrm>
          <a:prstGeom prst="rect">
            <a:avLst/>
          </a:prstGeom>
        </p:spPr>
      </p:pic>
      <p:sp>
        <p:nvSpPr>
          <p:cNvPr id="7" name="Rounded Rectangle 6"/>
          <p:cNvSpPr/>
          <p:nvPr/>
        </p:nvSpPr>
        <p:spPr>
          <a:xfrm>
            <a:off x="8412480" y="1097280"/>
            <a:ext cx="3474720" cy="502920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700" b="1" i="0">
                <a:solidFill>
                  <a:srgbClr val="007F5F"/>
                </a:solidFill>
                <a:latin typeface="Calibri"/>
              </a:rPr>
              <a:t>All five jobs</a:t>
            </a:r>
          </a:p>
          <a:p>
            <a:pPr algn="l">
              <a:spcAft>
                <a:spcPts val="300"/>
              </a:spcAft>
            </a:pPr>
            <a:r>
              <a:rPr sz="1700" b="1" i="0">
                <a:solidFill>
                  <a:srgbClr val="1F1F1F"/>
                </a:solidFill>
                <a:latin typeface="Calibri"/>
              </a:rPr>
              <a:t>Isobars</a:t>
            </a:r>
            <a:r>
              <a:rPr sz="1700" b="0" i="0">
                <a:solidFill>
                  <a:srgbClr val="1F1F1F"/>
                </a:solidFill>
                <a:latin typeface="Calibri"/>
              </a:rPr>
              <a:t> every 4 mb</a:t>
            </a:r>
          </a:p>
          <a:p>
            <a:pPr algn="l">
              <a:spcAft>
                <a:spcPts val="300"/>
              </a:spcAft>
            </a:pPr>
            <a:r>
              <a:rPr sz="1700" b="1" i="0">
                <a:solidFill>
                  <a:srgbClr val="1F1F1F"/>
                </a:solidFill>
                <a:latin typeface="Calibri"/>
              </a:rPr>
              <a:t>L</a:t>
            </a:r>
            <a:r>
              <a:rPr sz="1700" b="0" i="0">
                <a:solidFill>
                  <a:srgbClr val="1F1F1F"/>
                </a:solidFill>
                <a:latin typeface="Calibri"/>
              </a:rPr>
              <a:t> ≈ 1002 hPa over Iowa/Illinois</a:t>
            </a:r>
          </a:p>
          <a:p>
            <a:pPr algn="l">
              <a:spcAft>
                <a:spcPts val="300"/>
              </a:spcAft>
            </a:pPr>
            <a:r>
              <a:rPr sz="1700" b="1" i="0">
                <a:solidFill>
                  <a:srgbClr val="1F1F1F"/>
                </a:solidFill>
                <a:latin typeface="Calibri"/>
              </a:rPr>
              <a:t>Cold front</a:t>
            </a:r>
            <a:r>
              <a:rPr sz="1700" b="0" i="0">
                <a:solidFill>
                  <a:srgbClr val="1F1F1F"/>
                </a:solidFill>
                <a:latin typeface="Calibri"/>
              </a:rPr>
              <a:t> to the SSW, </a:t>
            </a:r>
            <a:r>
              <a:rPr sz="1700" b="1" i="0">
                <a:solidFill>
                  <a:srgbClr val="1F1F1F"/>
                </a:solidFill>
                <a:latin typeface="Calibri"/>
              </a:rPr>
              <a:t>warm front</a:t>
            </a:r>
            <a:r>
              <a:rPr sz="1700" b="0" i="0">
                <a:solidFill>
                  <a:srgbClr val="1F1F1F"/>
                </a:solidFill>
                <a:latin typeface="Calibri"/>
              </a:rPr>
              <a:t> to the east</a:t>
            </a:r>
          </a:p>
          <a:p>
            <a:pPr algn="l">
              <a:spcAft>
                <a:spcPts val="300"/>
              </a:spcAft>
            </a:pPr>
            <a:r>
              <a:rPr sz="1700" b="1" i="0">
                <a:solidFill>
                  <a:srgbClr val="1F1F1F"/>
                </a:solidFill>
                <a:latin typeface="Calibri"/>
              </a:rPr>
              <a:t>Cloud &gt; 75 %</a:t>
            </a:r>
            <a:r>
              <a:rPr sz="1700" b="0" i="0">
                <a:solidFill>
                  <a:srgbClr val="1F1F1F"/>
                </a:solidFill>
                <a:latin typeface="Calibri"/>
              </a:rPr>
              <a:t> wrapped round the low</a:t>
            </a:r>
          </a:p>
          <a:p>
            <a:pPr algn="l">
              <a:spcAft>
                <a:spcPts val="300"/>
              </a:spcAft>
            </a:pPr>
            <a:r>
              <a:rPr sz="1700" b="1" i="0">
                <a:solidFill>
                  <a:srgbClr val="1F1F1F"/>
                </a:solidFill>
                <a:latin typeface="Calibri"/>
              </a:rPr>
              <a:t>Rain</a:t>
            </a:r>
            <a:r>
              <a:rPr sz="1700" b="0" i="0">
                <a:solidFill>
                  <a:srgbClr val="1F1F1F"/>
                </a:solidFill>
                <a:latin typeface="Calibri"/>
              </a:rPr>
              <a:t> north and east of the low and along the cold front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Reading the finished picture</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155</a:t>
            </a:r>
          </a:p>
        </p:txBody>
      </p:sp>
      <p:sp>
        <p:nvSpPr>
          <p:cNvPr id="6" name="TextBox 5"/>
          <p:cNvSpPr txBox="1"/>
          <p:nvPr/>
        </p:nvSpPr>
        <p:spPr>
          <a:xfrm>
            <a:off x="411480" y="1051560"/>
            <a:ext cx="5852160" cy="3291840"/>
          </a:xfrm>
          <a:prstGeom prst="rect">
            <a:avLst/>
          </a:prstGeom>
          <a:noFill/>
        </p:spPr>
        <p:txBody>
          <a:bodyPr wrap="square" anchor="t" lIns="45720" rIns="45720">
            <a:spAutoFit/>
          </a:bodyPr>
          <a:lstStyle/>
          <a:p>
            <a:pPr algn="l">
              <a:spcAft>
                <a:spcPts val="600"/>
              </a:spcAft>
            </a:pPr>
            <a:r>
              <a:rPr sz="1800" b="0" i="0">
                <a:solidFill>
                  <a:srgbClr val="1F1F1F"/>
                </a:solidFill>
                <a:latin typeface="Calibri"/>
              </a:rPr>
              <a:t>A text-book mid-latitude depression:</a:t>
            </a:r>
          </a:p>
          <a:p>
            <a:pPr algn="l">
              <a:spcAft>
                <a:spcPts val="600"/>
              </a:spcAft>
            </a:pPr>
            <a:r>
              <a:rPr sz="1800" b="0" i="0">
                <a:solidFill>
                  <a:srgbClr val="1F1F1F"/>
                </a:solidFill>
                <a:latin typeface="Calibri"/>
              </a:rPr>
              <a:t>•  the </a:t>
            </a:r>
            <a:r>
              <a:rPr sz="1800" b="1" i="0">
                <a:solidFill>
                  <a:srgbClr val="1F1F1F"/>
                </a:solidFill>
                <a:latin typeface="Calibri"/>
              </a:rPr>
              <a:t>warm sector</a:t>
            </a:r>
            <a:r>
              <a:rPr sz="1800" b="0" i="0">
                <a:solidFill>
                  <a:srgbClr val="1F1F1F"/>
                </a:solidFill>
                <a:latin typeface="Calibri"/>
              </a:rPr>
              <a:t> (dew points 55–64 °F, winds from the south) lies between the fronts</a:t>
            </a:r>
          </a:p>
          <a:p>
            <a:pPr algn="l">
              <a:spcAft>
                <a:spcPts val="600"/>
              </a:spcAft>
            </a:pPr>
            <a:r>
              <a:rPr sz="1800" b="0" i="0">
                <a:solidFill>
                  <a:srgbClr val="1F1F1F"/>
                </a:solidFill>
                <a:latin typeface="Calibri"/>
              </a:rPr>
              <a:t>•  the </a:t>
            </a:r>
            <a:r>
              <a:rPr sz="1800" b="1" i="0">
                <a:solidFill>
                  <a:srgbClr val="1F1F1F"/>
                </a:solidFill>
                <a:latin typeface="Calibri"/>
              </a:rPr>
              <a:t>cold air</a:t>
            </a:r>
            <a:r>
              <a:rPr sz="1800" b="0" i="0">
                <a:solidFill>
                  <a:srgbClr val="1F1F1F"/>
                </a:solidFill>
                <a:latin typeface="Calibri"/>
              </a:rPr>
              <a:t> behind is dry (22–38 °F dew points) and mostly clear</a:t>
            </a:r>
          </a:p>
          <a:p>
            <a:pPr algn="l">
              <a:spcAft>
                <a:spcPts val="600"/>
              </a:spcAft>
            </a:pPr>
            <a:r>
              <a:rPr sz="1800" b="0" i="0">
                <a:solidFill>
                  <a:srgbClr val="1F1F1F"/>
                </a:solidFill>
                <a:latin typeface="Calibri"/>
              </a:rPr>
              <a:t>•  cloud and rain lie on the fronts and near the low, where air is lifted</a:t>
            </a:r>
          </a:p>
          <a:p>
            <a:pPr algn="l">
              <a:spcAft>
                <a:spcPts val="600"/>
              </a:spcAft>
            </a:pPr>
            <a:r>
              <a:rPr sz="1800" b="0" i="0">
                <a:solidFill>
                  <a:srgbClr val="1F1F1F"/>
                </a:solidFill>
                <a:latin typeface="Calibri"/>
              </a:rPr>
              <a:t>•  the winds circle the low </a:t>
            </a:r>
            <a:r>
              <a:rPr sz="1800" b="1" i="0">
                <a:solidFill>
                  <a:srgbClr val="1F1F1F"/>
                </a:solidFill>
                <a:latin typeface="Calibri"/>
              </a:rPr>
              <a:t>anticlockwise</a:t>
            </a:r>
            <a:r>
              <a:rPr sz="1800" b="0" i="0">
                <a:solidFill>
                  <a:srgbClr val="1F1F1F"/>
                </a:solidFill>
                <a:latin typeface="Calibri"/>
              </a:rPr>
              <a:t> and cross the isobars towards low pressure</a:t>
            </a:r>
          </a:p>
        </p:txBody>
      </p:sp>
      <p:sp>
        <p:nvSpPr>
          <p:cNvPr id="7" name="Rounded Rectangle 6"/>
          <p:cNvSpPr/>
          <p:nvPr/>
        </p:nvSpPr>
        <p:spPr>
          <a:xfrm>
            <a:off x="411480" y="4434840"/>
            <a:ext cx="5852160" cy="1828800"/>
          </a:xfrm>
          <a:prstGeom prst="roundRect">
            <a:avLst>
              <a:gd name="adj" fmla="val 6000"/>
            </a:avLst>
          </a:prstGeom>
          <a:solidFill>
            <a:srgbClr val="FFFFFF"/>
          </a:solidFill>
          <a:ln w="222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500" b="1" i="0">
                <a:solidFill>
                  <a:srgbClr val="1B3A6B"/>
                </a:solidFill>
                <a:latin typeface="Calibri"/>
              </a:rPr>
              <a:t>Is the wind consistent with the isobars?</a:t>
            </a:r>
          </a:p>
          <a:p>
            <a:pPr algn="l">
              <a:spcAft>
                <a:spcPts val="300"/>
              </a:spcAft>
            </a:pPr>
            <a:r>
              <a:rPr sz="1500" b="0" i="0">
                <a:solidFill>
                  <a:srgbClr val="1F1F1F"/>
                </a:solidFill>
                <a:latin typeface="Calibri"/>
              </a:rPr>
              <a:t>Stations 9 and 5: 6.2 hPa over 216 km, f = 9.7×10</a:t>
            </a:r>
            <a:r>
              <a:rPr sz="1500" b="0" i="0" baseline="30000">
                <a:solidFill>
                  <a:srgbClr val="1F1F1F"/>
                </a:solidFill>
                <a:latin typeface="Calibri"/>
              </a:rPr>
              <a:t>−5</a:t>
            </a:r>
            <a:r>
              <a:rPr sz="1500" b="0" i="0">
                <a:solidFill>
                  <a:srgbClr val="1F1F1F"/>
                </a:solidFill>
                <a:latin typeface="Calibri"/>
              </a:rPr>
              <a:t>:</a:t>
            </a:r>
          </a:p>
          <a:p>
            <a:pPr algn="l">
              <a:spcAft>
                <a:spcPts val="300"/>
              </a:spcAft>
            </a:pPr>
            <a:r>
              <a:rPr sz="1500" b="0" i="0">
                <a:solidFill>
                  <a:srgbClr val="1F1F1F"/>
                </a:solidFill>
                <a:latin typeface="Calibri"/>
              </a:rPr>
              <a:t>V</a:t>
            </a:r>
            <a:r>
              <a:rPr sz="1500" b="0" i="0" baseline="-25000">
                <a:solidFill>
                  <a:srgbClr val="1F1F1F"/>
                </a:solidFill>
                <a:latin typeface="Calibri"/>
              </a:rPr>
              <a:t>g</a:t>
            </a:r>
            <a:r>
              <a:rPr sz="1500" b="0" i="0">
                <a:solidFill>
                  <a:srgbClr val="1F1F1F"/>
                </a:solidFill>
                <a:latin typeface="Calibri"/>
              </a:rPr>
              <a:t> = 620 / (1.2 × 9.7×10</a:t>
            </a:r>
            <a:r>
              <a:rPr sz="1500" b="0" i="0" baseline="30000">
                <a:solidFill>
                  <a:srgbClr val="1F1F1F"/>
                </a:solidFill>
                <a:latin typeface="Calibri"/>
              </a:rPr>
              <a:t>−5</a:t>
            </a:r>
            <a:r>
              <a:rPr sz="1500" b="0" i="0">
                <a:solidFill>
                  <a:srgbClr val="1F1F1F"/>
                </a:solidFill>
                <a:latin typeface="Calibri"/>
              </a:rPr>
              <a:t> × 2.16×10</a:t>
            </a:r>
            <a:r>
              <a:rPr sz="1500" b="0" i="0" baseline="30000">
                <a:solidFill>
                  <a:srgbClr val="1F1F1F"/>
                </a:solidFill>
                <a:latin typeface="Calibri"/>
              </a:rPr>
              <a:t>5</a:t>
            </a:r>
            <a:r>
              <a:rPr sz="1500" b="0" i="0">
                <a:solidFill>
                  <a:srgbClr val="1F1F1F"/>
                </a:solidFill>
                <a:latin typeface="Calibri"/>
              </a:rPr>
              <a:t>) ≈ </a:t>
            </a:r>
            <a:r>
              <a:rPr sz="1500" b="1" i="0">
                <a:solidFill>
                  <a:srgbClr val="1F1F1F"/>
                </a:solidFill>
                <a:latin typeface="Calibri"/>
              </a:rPr>
              <a:t>25 m/s (48 kt)</a:t>
            </a:r>
          </a:p>
          <a:p>
            <a:pPr algn="l">
              <a:spcAft>
                <a:spcPts val="300"/>
              </a:spcAft>
            </a:pPr>
            <a:r>
              <a:rPr sz="1500" b="0" i="0">
                <a:solidFill>
                  <a:srgbClr val="1F1F1F"/>
                </a:solidFill>
                <a:latin typeface="Calibri"/>
              </a:rPr>
              <a:t>Observed 10–25 kt: friction cuts the surface wind to ½–⅔.</a:t>
            </a:r>
          </a:p>
        </p:txBody>
      </p:sp>
      <p:pic>
        <p:nvPicPr>
          <p:cNvPr id="8" name="Picture 7" descr="map_iso_full.png"/>
          <p:cNvPicPr>
            <a:picLocks noChangeAspect="1"/>
          </p:cNvPicPr>
          <p:nvPr/>
        </p:nvPicPr>
        <p:blipFill>
          <a:blip r:embed="rId2"/>
          <a:stretch>
            <a:fillRect/>
          </a:stretch>
        </p:blipFill>
        <p:spPr>
          <a:xfrm>
            <a:off x="6400800" y="1571459"/>
            <a:ext cx="5394960" cy="4172280"/>
          </a:xfrm>
          <a:prstGeom prst="rect">
            <a:avLst/>
          </a:prstGeom>
        </p:spPr>
      </p:pic>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I: try it yourself</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156</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6B6B6B"/>
                </a:solidFill>
                <a:latin typeface="Calibri"/>
              </a:rPr>
              <a:t>Practice Set I</a:t>
            </a:r>
          </a:p>
          <a:p>
            <a:pPr algn="l">
              <a:spcAft>
                <a:spcPts val="1200"/>
              </a:spcAft>
            </a:pPr>
            <a:r>
              <a:rPr sz="2400" b="1" i="0">
                <a:solidFill>
                  <a:srgbClr val="1F1F1F"/>
                </a:solidFill>
                <a:latin typeface="Calibri"/>
              </a:rPr>
              <a:t>I1.</a:t>
            </a:r>
            <a:r>
              <a:rPr sz="2400" b="0" i="0">
                <a:solidFill>
                  <a:srgbClr val="1F1F1F"/>
                </a:solidFill>
                <a:latin typeface="Calibri"/>
              </a:rPr>
              <a:t>  Stations X (1011.1 hPa) and Y (1014.9 hPa) are neighbours. Where does the 1012 mb isobar cross between them?</a:t>
            </a:r>
          </a:p>
          <a:p>
            <a:pPr algn="l">
              <a:spcAft>
                <a:spcPts val="1200"/>
              </a:spcAft>
            </a:pPr>
            <a:r>
              <a:rPr sz="2400" b="1" i="0">
                <a:solidFill>
                  <a:srgbClr val="1F1F1F"/>
                </a:solidFill>
                <a:latin typeface="Calibri"/>
              </a:rPr>
              <a:t>I2.</a:t>
            </a:r>
            <a:r>
              <a:rPr sz="2400" b="0" i="0">
                <a:solidFill>
                  <a:srgbClr val="1F1F1F"/>
                </a:solidFill>
                <a:latin typeface="Calibri"/>
              </a:rPr>
              <a:t>  A station: 61 °F, dew point 57 °F, SSW wind. A neighbour to its west: 42 °F, 36 °F, NW wind. What kind of front?</a:t>
            </a:r>
          </a:p>
          <a:p>
            <a:pPr algn="l">
              <a:spcAft>
                <a:spcPts val="1200"/>
              </a:spcAft>
            </a:pPr>
            <a:r>
              <a:rPr sz="2400" b="1" i="0">
                <a:solidFill>
                  <a:srgbClr val="1F1F1F"/>
                </a:solidFill>
                <a:latin typeface="Calibri"/>
              </a:rPr>
              <a:t>I3.</a:t>
            </a:r>
            <a:r>
              <a:rPr sz="2400" b="0" i="0">
                <a:solidFill>
                  <a:srgbClr val="1F1F1F"/>
                </a:solidFill>
                <a:latin typeface="Calibri"/>
              </a:rPr>
              <a:t>  P: 30 °F, dew point 28 °F, east wind, overcast, snow. Q to the south: 41 °F, dew point 38 °F, SE wind. Warm or cold front?</a:t>
            </a:r>
          </a:p>
          <a:p>
            <a:pPr algn="l">
              <a:spcAft>
                <a:spcPts val="1200"/>
              </a:spcAft>
            </a:pPr>
            <a:r>
              <a:rPr sz="2400" b="1" i="0">
                <a:solidFill>
                  <a:srgbClr val="1F1F1F"/>
                </a:solidFill>
                <a:latin typeface="Calibri"/>
              </a:rPr>
              <a:t>I4.</a:t>
            </a:r>
            <a:r>
              <a:rPr sz="2400" b="0" i="0">
                <a:solidFill>
                  <a:srgbClr val="1F1F1F"/>
                </a:solidFill>
                <a:latin typeface="Calibri"/>
              </a:rPr>
              <a:t>  Why is there no 1000 mb isobar on Figure 10?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Practice Set I: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Part III · Fronts</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157</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2400" b="1" i="0">
                <a:solidFill>
                  <a:srgbClr val="007F5F"/>
                </a:solidFill>
                <a:latin typeface="Calibri"/>
              </a:rPr>
              <a:t>Answers</a:t>
            </a:r>
          </a:p>
          <a:p>
            <a:pPr algn="l">
              <a:spcAft>
                <a:spcPts val="1200"/>
              </a:spcAft>
            </a:pPr>
            <a:r>
              <a:rPr sz="2400" b="1" i="0">
                <a:solidFill>
                  <a:srgbClr val="1F1F1F"/>
                </a:solidFill>
                <a:latin typeface="Calibri"/>
              </a:rPr>
              <a:t>I1.</a:t>
            </a:r>
            <a:r>
              <a:rPr sz="2400" b="0" i="0">
                <a:solidFill>
                  <a:srgbClr val="1F1F1F"/>
                </a:solidFill>
                <a:latin typeface="Calibri"/>
              </a:rPr>
              <a:t>  (1012 − 1011.1)/(1014.9 − 1011.1) = 0.9/3.8 = </a:t>
            </a:r>
            <a:r>
              <a:rPr sz="2400" b="1" i="0">
                <a:solidFill>
                  <a:srgbClr val="007F5F"/>
                </a:solidFill>
                <a:latin typeface="Calibri"/>
              </a:rPr>
              <a:t>24 %</a:t>
            </a:r>
            <a:r>
              <a:rPr sz="2400" b="0" i="0">
                <a:solidFill>
                  <a:srgbClr val="1F1F1F"/>
                </a:solidFill>
                <a:latin typeface="Calibri"/>
              </a:rPr>
              <a:t> of the way from X to Y.</a:t>
            </a:r>
          </a:p>
          <a:p>
            <a:pPr algn="l">
              <a:spcAft>
                <a:spcPts val="1200"/>
              </a:spcAft>
            </a:pPr>
            <a:r>
              <a:rPr sz="2400" b="1" i="0">
                <a:solidFill>
                  <a:srgbClr val="1F1F1F"/>
                </a:solidFill>
                <a:latin typeface="Calibri"/>
              </a:rPr>
              <a:t>I2.</a:t>
            </a:r>
            <a:r>
              <a:rPr sz="2400" b="0" i="0">
                <a:solidFill>
                  <a:srgbClr val="1F1F1F"/>
                </a:solidFill>
                <a:latin typeface="Calibri"/>
              </a:rPr>
              <a:t>  A </a:t>
            </a:r>
            <a:r>
              <a:rPr sz="2400" b="1" i="0">
                <a:solidFill>
                  <a:srgbClr val="007F5F"/>
                </a:solidFill>
                <a:latin typeface="Calibri"/>
              </a:rPr>
              <a:t>cold front</a:t>
            </a:r>
            <a:r>
              <a:rPr sz="2400" b="0" i="0">
                <a:solidFill>
                  <a:srgbClr val="1F1F1F"/>
                </a:solidFill>
                <a:latin typeface="Calibri"/>
              </a:rPr>
              <a:t>: temperature −19 °F, dew point −21 °F, wind turns clockwise SSW → NW as you cross it from east to west.</a:t>
            </a:r>
          </a:p>
          <a:p>
            <a:pPr algn="l">
              <a:spcAft>
                <a:spcPts val="1200"/>
              </a:spcAft>
            </a:pPr>
            <a:r>
              <a:rPr sz="2400" b="1" i="0">
                <a:solidFill>
                  <a:srgbClr val="1F1F1F"/>
                </a:solidFill>
                <a:latin typeface="Calibri"/>
              </a:rPr>
              <a:t>I3.</a:t>
            </a:r>
            <a:r>
              <a:rPr sz="2400" b="0" i="0">
                <a:solidFill>
                  <a:srgbClr val="1F1F1F"/>
                </a:solidFill>
                <a:latin typeface="Calibri"/>
              </a:rPr>
              <a:t>  A </a:t>
            </a:r>
            <a:r>
              <a:rPr sz="2400" b="1" i="0">
                <a:solidFill>
                  <a:srgbClr val="007F5F"/>
                </a:solidFill>
                <a:latin typeface="Calibri"/>
              </a:rPr>
              <a:t>warm front</a:t>
            </a:r>
            <a:r>
              <a:rPr sz="2400" b="0" i="0">
                <a:solidFill>
                  <a:srgbClr val="1F1F1F"/>
                </a:solidFill>
                <a:latin typeface="Calibri"/>
              </a:rPr>
              <a:t>: warmer, moister air (41/38 °F, SE wind) rides over colder air with an east wind where it is snowing; wind turns clockwise E → SE.</a:t>
            </a:r>
          </a:p>
          <a:p>
            <a:pPr algn="l">
              <a:spcAft>
                <a:spcPts val="1200"/>
              </a:spcAft>
            </a:pPr>
            <a:r>
              <a:rPr sz="2400" b="1" i="0">
                <a:solidFill>
                  <a:srgbClr val="1F1F1F"/>
                </a:solidFill>
                <a:latin typeface="Calibri"/>
              </a:rPr>
              <a:t>I4.</a:t>
            </a:r>
            <a:r>
              <a:rPr sz="2400" b="0" i="0">
                <a:solidFill>
                  <a:srgbClr val="1F1F1F"/>
                </a:solidFill>
                <a:latin typeface="Calibri"/>
              </a:rPr>
              <a:t>  No station reports as low as 1000 hPa (lowest 1002.4); an isobar is drawn only where the data support it.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743200"/>
            <a:ext cx="1280160" cy="822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1188720"/>
          </a:xfrm>
          <a:prstGeom prst="rect">
            <a:avLst/>
          </a:prstGeom>
          <a:noFill/>
        </p:spPr>
        <p:txBody>
          <a:bodyPr wrap="square">
            <a:spAutoFit/>
          </a:bodyPr>
          <a:lstStyle/>
          <a:p>
            <a:r>
              <a:rPr sz="4400" b="1" i="0">
                <a:solidFill>
                  <a:srgbClr val="FFFFFF"/>
                </a:solidFill>
                <a:latin typeface="Calibri"/>
              </a:rPr>
              <a:t>Putting it all together</a:t>
            </a:r>
          </a:p>
        </p:txBody>
      </p:sp>
      <p:sp>
        <p:nvSpPr>
          <p:cNvPr id="5" name="TextBox 4"/>
          <p:cNvSpPr txBox="1"/>
          <p:nvPr/>
        </p:nvSpPr>
        <p:spPr>
          <a:xfrm>
            <a:off x="731520" y="3017520"/>
            <a:ext cx="10515600" cy="2286000"/>
          </a:xfrm>
          <a:prstGeom prst="rect">
            <a:avLst/>
          </a:prstGeom>
          <a:noFill/>
        </p:spPr>
        <p:txBody>
          <a:bodyPr wrap="square">
            <a:spAutoFit/>
          </a:bodyPr>
          <a:lstStyle/>
          <a:p>
            <a:pPr>
              <a:spcAft>
                <a:spcPts val="600"/>
              </a:spcAft>
            </a:pPr>
            <a:r>
              <a:rPr sz="2200" b="0" i="0">
                <a:solidFill>
                  <a:srgbClr val="CFDDEE"/>
                </a:solidFill>
                <a:latin typeface="Calibri"/>
              </a:rPr>
              <a:t>Every answer on one page, the mistakes that cost marks,</a:t>
            </a:r>
          </a:p>
          <a:p>
            <a:pPr>
              <a:spcAft>
                <a:spcPts val="600"/>
              </a:spcAft>
            </a:pPr>
            <a:r>
              <a:rPr sz="2200" b="0" i="0">
                <a:solidFill>
                  <a:srgbClr val="CFDDEE"/>
                </a:solidFill>
                <a:latin typeface="Calibri"/>
              </a:rPr>
              <a:t>a self-test and the formula sheet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Every answer: Moisture and Motion</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Wrap-up</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159</a:t>
            </a:r>
          </a:p>
        </p:txBody>
      </p:sp>
      <p:graphicFrame>
        <p:nvGraphicFramePr>
          <p:cNvPr id="6" name="Table 5"/>
          <p:cNvGraphicFramePr>
            <a:graphicFrameLocks noGrp="1"/>
          </p:cNvGraphicFramePr>
          <p:nvPr/>
        </p:nvGraphicFramePr>
        <p:xfrm>
          <a:off x="365760" y="1051560"/>
          <a:ext cx="11429999" cy="5157216"/>
        </p:xfrm>
        <a:graphic>
          <a:graphicData uri="http://schemas.openxmlformats.org/drawingml/2006/table">
            <a:tbl>
              <a:tblPr firstRow="0" bandRow="0">
                <a:tableStyleId>{5940675A-B579-460E-94D1-54222C63F5DA}</a:tableStyleId>
              </a:tblPr>
              <a:tblGrid>
                <a:gridCol w="1824957"/>
                <a:gridCol w="9605042"/>
              </a:tblGrid>
              <a:tr h="429768">
                <a:tc>
                  <a:txBody>
                    <a:bodyPr wrap="square"/>
                    <a:lstStyle/>
                    <a:p>
                      <a:pPr algn="l"/>
                      <a:r>
                        <a:rPr sz="1500" b="1" i="0">
                          <a:solidFill>
                            <a:srgbClr val="FFFFFF"/>
                          </a:solidFill>
                          <a:latin typeface="Calibri"/>
                        </a:rPr>
                        <a:t>Question</a:t>
                      </a:r>
                    </a:p>
                  </a:txBody>
                  <a:tcPr marL="73152" marR="73152" marT="27432" marB="27432" anchor="ctr">
                    <a:solidFill>
                      <a:srgbClr val="1B3A6B"/>
                    </a:solidFill>
                  </a:tcPr>
                </a:tc>
                <a:tc>
                  <a:txBody>
                    <a:bodyPr wrap="square"/>
                    <a:lstStyle/>
                    <a:p>
                      <a:pPr algn="l"/>
                      <a:r>
                        <a:rPr sz="1500" b="1" i="0">
                          <a:solidFill>
                            <a:srgbClr val="FFFFFF"/>
                          </a:solidFill>
                          <a:latin typeface="Calibri"/>
                        </a:rPr>
                        <a:t>Answer</a:t>
                      </a:r>
                    </a:p>
                  </a:txBody>
                  <a:tcPr marL="73152" marR="73152" marT="27432" marB="27432" anchor="ctr">
                    <a:solidFill>
                      <a:srgbClr val="1B3A6B"/>
                    </a:solidFill>
                  </a:tcPr>
                </a:tc>
              </a:tr>
              <a:tr h="429768">
                <a:tc>
                  <a:txBody>
                    <a:bodyPr wrap="square"/>
                    <a:lstStyle/>
                    <a:p>
                      <a:pPr algn="l"/>
                      <a:r>
                        <a:rPr sz="1500" b="1" i="0">
                          <a:solidFill>
                            <a:srgbClr val="1F1F1F"/>
                          </a:solidFill>
                          <a:latin typeface="Calibri"/>
                        </a:rPr>
                        <a:t>Moisture Q1</a:t>
                      </a:r>
                    </a:p>
                  </a:txBody>
                  <a:tcPr marL="73152" marR="73152" marT="27432" marB="27432" anchor="ctr">
                    <a:solidFill>
                      <a:srgbClr val="FFFFFF"/>
                    </a:solidFill>
                  </a:tcPr>
                </a:tc>
                <a:tc>
                  <a:txBody>
                    <a:bodyPr wrap="square"/>
                    <a:lstStyle/>
                    <a:p>
                      <a:pPr algn="l"/>
                      <a:r>
                        <a:rPr sz="1500" b="0" i="0">
                          <a:solidFill>
                            <a:srgbClr val="1F1F1F"/>
                          </a:solidFill>
                          <a:latin typeface="Calibri"/>
                        </a:rPr>
                        <a:t>RH = 49.3, 88.8, 26.0, 10.4, 19.9 %</a:t>
                      </a:r>
                    </a:p>
                  </a:txBody>
                  <a:tcPr marL="73152" marR="73152" marT="27432" marB="27432" anchor="ctr">
                    <a:solidFill>
                      <a:srgbClr val="FFFFFF"/>
                    </a:solidFill>
                  </a:tcPr>
                </a:tc>
              </a:tr>
              <a:tr h="429768">
                <a:tc>
                  <a:txBody>
                    <a:bodyPr wrap="square"/>
                    <a:lstStyle/>
                    <a:p>
                      <a:pPr algn="l"/>
                      <a:r>
                        <a:rPr sz="1500" b="1" i="0">
                          <a:solidFill>
                            <a:srgbClr val="1F1F1F"/>
                          </a:solidFill>
                          <a:latin typeface="Calibri"/>
                        </a:rPr>
                        <a:t>Moisture Q2</a:t>
                      </a:r>
                    </a:p>
                  </a:txBody>
                  <a:tcPr marL="73152" marR="73152" marT="27432" marB="27432" anchor="ctr">
                    <a:solidFill>
                      <a:srgbClr val="F7F7F5"/>
                    </a:solidFill>
                  </a:tcPr>
                </a:tc>
                <a:tc>
                  <a:txBody>
                    <a:bodyPr wrap="square"/>
                    <a:lstStyle/>
                    <a:p>
                      <a:pPr algn="l"/>
                      <a:r>
                        <a:rPr sz="1500" b="0" i="0">
                          <a:solidFill>
                            <a:srgbClr val="1F1F1F"/>
                          </a:solidFill>
                          <a:latin typeface="Calibri"/>
                        </a:rPr>
                        <a:t>Humidity drops sharply: same vapour, much larger capacity when heated</a:t>
                      </a:r>
                    </a:p>
                  </a:txBody>
                  <a:tcPr marL="73152" marR="73152" marT="27432" marB="27432" anchor="ctr">
                    <a:solidFill>
                      <a:srgbClr val="F7F7F5"/>
                    </a:solidFill>
                  </a:tcPr>
                </a:tc>
              </a:tr>
              <a:tr h="429768">
                <a:tc>
                  <a:txBody>
                    <a:bodyPr wrap="square"/>
                    <a:lstStyle/>
                    <a:p>
                      <a:pPr algn="l"/>
                      <a:r>
                        <a:rPr sz="1500" b="1" i="0">
                          <a:solidFill>
                            <a:srgbClr val="1F1F1F"/>
                          </a:solidFill>
                          <a:latin typeface="Calibri"/>
                        </a:rPr>
                        <a:t>Moisture Q3</a:t>
                      </a:r>
                    </a:p>
                  </a:txBody>
                  <a:tcPr marL="73152" marR="73152" marT="27432" marB="27432" anchor="ctr">
                    <a:solidFill>
                      <a:srgbClr val="FFFFFF"/>
                    </a:solidFill>
                  </a:tcPr>
                </a:tc>
                <a:tc>
                  <a:txBody>
                    <a:bodyPr wrap="square"/>
                    <a:lstStyle/>
                    <a:p>
                      <a:pPr algn="l"/>
                      <a:r>
                        <a:rPr sz="1500" b="0" i="0">
                          <a:solidFill>
                            <a:srgbClr val="1F1F1F"/>
                          </a:solidFill>
                          <a:latin typeface="Calibri"/>
                        </a:rPr>
                        <a:t>9.126, 8.974, 7.684, 11.078, 10.54 g/kg → ranks 3, 4, 5, 1, 2</a:t>
                      </a:r>
                    </a:p>
                  </a:txBody>
                  <a:tcPr marL="73152" marR="73152" marT="27432" marB="27432" anchor="ctr">
                    <a:solidFill>
                      <a:srgbClr val="FFFFFF"/>
                    </a:solidFill>
                  </a:tcPr>
                </a:tc>
              </a:tr>
              <a:tr h="429768">
                <a:tc>
                  <a:txBody>
                    <a:bodyPr wrap="square"/>
                    <a:lstStyle/>
                    <a:p>
                      <a:pPr algn="l"/>
                      <a:r>
                        <a:rPr sz="1500" b="1" i="0">
                          <a:solidFill>
                            <a:srgbClr val="1F1F1F"/>
                          </a:solidFill>
                          <a:latin typeface="Calibri"/>
                        </a:rPr>
                        <a:t>Moisture Q4</a:t>
                      </a:r>
                    </a:p>
                  </a:txBody>
                  <a:tcPr marL="73152" marR="73152" marT="27432" marB="27432" anchor="ctr">
                    <a:solidFill>
                      <a:srgbClr val="F7F7F5"/>
                    </a:solidFill>
                  </a:tcPr>
                </a:tc>
                <a:tc>
                  <a:txBody>
                    <a:bodyPr wrap="square"/>
                    <a:lstStyle/>
                    <a:p>
                      <a:pPr algn="l"/>
                      <a:r>
                        <a:rPr sz="1500" b="0" i="0">
                          <a:solidFill>
                            <a:srgbClr val="1F1F1F"/>
                          </a:solidFill>
                          <a:latin typeface="Calibri"/>
                        </a:rPr>
                        <a:t>RH does not tell how much vapour is actually in the air</a:t>
                      </a:r>
                    </a:p>
                  </a:txBody>
                  <a:tcPr marL="73152" marR="73152" marT="27432" marB="27432" anchor="ctr">
                    <a:solidFill>
                      <a:srgbClr val="F7F7F5"/>
                    </a:solidFill>
                  </a:tcPr>
                </a:tc>
              </a:tr>
              <a:tr h="429768">
                <a:tc>
                  <a:txBody>
                    <a:bodyPr wrap="square"/>
                    <a:lstStyle/>
                    <a:p>
                      <a:pPr algn="l"/>
                      <a:r>
                        <a:rPr sz="1500" b="1" i="0">
                          <a:solidFill>
                            <a:srgbClr val="1F1F1F"/>
                          </a:solidFill>
                          <a:latin typeface="Calibri"/>
                        </a:rPr>
                        <a:t>Moisture Q5</a:t>
                      </a:r>
                    </a:p>
                  </a:txBody>
                  <a:tcPr marL="73152" marR="73152" marT="27432" marB="27432" anchor="ctr">
                    <a:solidFill>
                      <a:srgbClr val="FFFFFF"/>
                    </a:solidFill>
                  </a:tcPr>
                </a:tc>
                <a:tc>
                  <a:txBody>
                    <a:bodyPr wrap="square"/>
                    <a:lstStyle/>
                    <a:p>
                      <a:pPr algn="l"/>
                      <a:r>
                        <a:rPr sz="1500" b="0" i="0">
                          <a:solidFill>
                            <a:srgbClr val="1F1F1F"/>
                          </a:solidFill>
                          <a:latin typeface="Calibri"/>
                        </a:rPr>
                        <a:t>Dew point ≈ 14 °C (13.8)</a:t>
                      </a:r>
                    </a:p>
                  </a:txBody>
                  <a:tcPr marL="73152" marR="73152" marT="27432" marB="27432" anchor="ctr">
                    <a:solidFill>
                      <a:srgbClr val="FFFFFF"/>
                    </a:solidFill>
                  </a:tcPr>
                </a:tc>
              </a:tr>
              <a:tr h="429768">
                <a:tc>
                  <a:txBody>
                    <a:bodyPr wrap="square"/>
                    <a:lstStyle/>
                    <a:p>
                      <a:pPr algn="l"/>
                      <a:r>
                        <a:rPr sz="1500" b="1" i="0">
                          <a:solidFill>
                            <a:srgbClr val="1F1F1F"/>
                          </a:solidFill>
                          <a:latin typeface="Calibri"/>
                        </a:rPr>
                        <a:t>Moisture Q6</a:t>
                      </a:r>
                    </a:p>
                  </a:txBody>
                  <a:tcPr marL="73152" marR="73152" marT="27432" marB="27432" anchor="ctr">
                    <a:solidFill>
                      <a:srgbClr val="F7F7F5"/>
                    </a:solidFill>
                  </a:tcPr>
                </a:tc>
                <a:tc>
                  <a:txBody>
                    <a:bodyPr wrap="square"/>
                    <a:lstStyle/>
                    <a:p>
                      <a:pPr algn="l"/>
                      <a:r>
                        <a:rPr sz="1500" b="0" i="0">
                          <a:solidFill>
                            <a:srgbClr val="1F1F1F"/>
                          </a:solidFill>
                          <a:latin typeface="Calibri"/>
                        </a:rPr>
                        <a:t>35.134 g/kg;  21.78 g/kg;  dew point ≈ 26 °C (key says 25)</a:t>
                      </a:r>
                    </a:p>
                  </a:txBody>
                  <a:tcPr marL="73152" marR="73152" marT="27432" marB="27432" anchor="ctr">
                    <a:solidFill>
                      <a:srgbClr val="F7F7F5"/>
                    </a:solidFill>
                  </a:tcPr>
                </a:tc>
              </a:tr>
              <a:tr h="429768">
                <a:tc>
                  <a:txBody>
                    <a:bodyPr wrap="square"/>
                    <a:lstStyle/>
                    <a:p>
                      <a:pPr algn="l"/>
                      <a:r>
                        <a:rPr sz="1500" b="1" i="0">
                          <a:solidFill>
                            <a:srgbClr val="1F1F1F"/>
                          </a:solidFill>
                          <a:latin typeface="Calibri"/>
                        </a:rPr>
                        <a:t>Motion Q1</a:t>
                      </a:r>
                    </a:p>
                  </a:txBody>
                  <a:tcPr marL="73152" marR="73152" marT="27432" marB="27432" anchor="ctr">
                    <a:solidFill>
                      <a:srgbClr val="FFFFFF"/>
                    </a:solidFill>
                  </a:tcPr>
                </a:tc>
                <a:tc>
                  <a:txBody>
                    <a:bodyPr wrap="square"/>
                    <a:lstStyle/>
                    <a:p>
                      <a:pPr algn="l"/>
                      <a:r>
                        <a:rPr sz="1500" b="0" i="0">
                          <a:solidFill>
                            <a:srgbClr val="1F1F1F"/>
                          </a:solidFill>
                          <a:latin typeface="Calibri"/>
                        </a:rPr>
                        <a:t>500 mb: 5400 → 5700 m;  300 mb: 8700 → 9500 m, sloping up to Monterrey</a:t>
                      </a:r>
                    </a:p>
                  </a:txBody>
                  <a:tcPr marL="73152" marR="73152" marT="27432" marB="27432" anchor="ctr">
                    <a:solidFill>
                      <a:srgbClr val="FFFFFF"/>
                    </a:solidFill>
                  </a:tcPr>
                </a:tc>
              </a:tr>
              <a:tr h="429768">
                <a:tc>
                  <a:txBody>
                    <a:bodyPr wrap="square"/>
                    <a:lstStyle/>
                    <a:p>
                      <a:pPr algn="l"/>
                      <a:r>
                        <a:rPr sz="1500" b="1" i="0">
                          <a:solidFill>
                            <a:srgbClr val="1F1F1F"/>
                          </a:solidFill>
                          <a:latin typeface="Calibri"/>
                        </a:rPr>
                        <a:t>Motion Q2–Q3</a:t>
                      </a:r>
                    </a:p>
                  </a:txBody>
                  <a:tcPr marL="73152" marR="73152" marT="27432" marB="27432" anchor="ctr">
                    <a:solidFill>
                      <a:srgbClr val="F7F7F5"/>
                    </a:solidFill>
                  </a:tcPr>
                </a:tc>
                <a:tc>
                  <a:txBody>
                    <a:bodyPr wrap="square"/>
                    <a:lstStyle/>
                    <a:p>
                      <a:pPr algn="l"/>
                      <a:r>
                        <a:rPr sz="1500" b="0" i="0">
                          <a:solidFill>
                            <a:srgbClr val="1F1F1F"/>
                          </a:solidFill>
                          <a:latin typeface="Calibri"/>
                        </a:rPr>
                        <a:t>Saskatoon: colder at each height, thinner column</a:t>
                      </a:r>
                    </a:p>
                  </a:txBody>
                  <a:tcPr marL="73152" marR="73152" marT="27432" marB="27432" anchor="ctr">
                    <a:solidFill>
                      <a:srgbClr val="F7F7F5"/>
                    </a:solidFill>
                  </a:tcPr>
                </a:tc>
              </a:tr>
              <a:tr h="429768">
                <a:tc>
                  <a:txBody>
                    <a:bodyPr wrap="square"/>
                    <a:lstStyle/>
                    <a:p>
                      <a:pPr algn="l"/>
                      <a:r>
                        <a:rPr sz="1500" b="1" i="0">
                          <a:solidFill>
                            <a:srgbClr val="1F1F1F"/>
                          </a:solidFill>
                          <a:latin typeface="Calibri"/>
                        </a:rPr>
                        <a:t>Motion Q4–Q6</a:t>
                      </a:r>
                    </a:p>
                  </a:txBody>
                  <a:tcPr marL="73152" marR="73152" marT="27432" marB="27432" anchor="ctr">
                    <a:solidFill>
                      <a:srgbClr val="FFFFFF"/>
                    </a:solidFill>
                  </a:tcPr>
                </a:tc>
                <a:tc>
                  <a:txBody>
                    <a:bodyPr wrap="square"/>
                    <a:lstStyle/>
                    <a:p>
                      <a:pPr algn="l"/>
                      <a:r>
                        <a:rPr sz="1500" b="0" i="0">
                          <a:solidFill>
                            <a:srgbClr val="1F1F1F"/>
                          </a:solidFill>
                          <a:latin typeface="Calibri"/>
                        </a:rPr>
                        <a:t>H at z, L at x, force z → x;  gradient greater at 9000 m;  wind stronger at 9000 m</a:t>
                      </a:r>
                    </a:p>
                  </a:txBody>
                  <a:tcPr marL="73152" marR="73152" marT="27432" marB="27432" anchor="ctr">
                    <a:solidFill>
                      <a:srgbClr val="FFFFFF"/>
                    </a:solidFill>
                  </a:tcPr>
                </a:tc>
              </a:tr>
              <a:tr h="429768">
                <a:tc>
                  <a:txBody>
                    <a:bodyPr wrap="square"/>
                    <a:lstStyle/>
                    <a:p>
                      <a:pPr algn="l"/>
                      <a:r>
                        <a:rPr sz="1500" b="1" i="0">
                          <a:solidFill>
                            <a:srgbClr val="1F1F1F"/>
                          </a:solidFill>
                          <a:latin typeface="Calibri"/>
                        </a:rPr>
                        <a:t>Motion Q7</a:t>
                      </a:r>
                    </a:p>
                  </a:txBody>
                  <a:tcPr marL="73152" marR="73152" marT="27432" marB="27432" anchor="ctr">
                    <a:solidFill>
                      <a:srgbClr val="F7F7F5"/>
                    </a:solidFill>
                  </a:tcPr>
                </a:tc>
                <a:tc>
                  <a:txBody>
                    <a:bodyPr wrap="square"/>
                    <a:lstStyle/>
                    <a:p>
                      <a:pPr algn="l"/>
                      <a:r>
                        <a:rPr sz="1500" b="0" i="0">
                          <a:solidFill>
                            <a:srgbClr val="1F1F1F"/>
                          </a:solidFill>
                          <a:latin typeface="Calibri"/>
                        </a:rPr>
                        <a:t>N: H 5520, L 5460;  S: H 5640, L 5580;  F</a:t>
                      </a:r>
                      <a:r>
                        <a:rPr sz="1500" b="0" i="0" baseline="-25000">
                          <a:solidFill>
                            <a:srgbClr val="1F1F1F"/>
                          </a:solidFill>
                          <a:latin typeface="Calibri"/>
                        </a:rPr>
                        <a:t>pg</a:t>
                      </a:r>
                      <a:r>
                        <a:rPr sz="1500" b="0" i="0">
                          <a:solidFill>
                            <a:srgbClr val="1F1F1F"/>
                          </a:solidFill>
                          <a:latin typeface="Calibri"/>
                        </a:rPr>
                        <a:t> to L, Coriolis to H, wind east</a:t>
                      </a:r>
                    </a:p>
                  </a:txBody>
                  <a:tcPr marL="73152" marR="73152" marT="27432" marB="27432" anchor="ctr">
                    <a:solidFill>
                      <a:srgbClr val="F7F7F5"/>
                    </a:solidFill>
                  </a:tcPr>
                </a:tc>
              </a:tr>
              <a:tr h="429768">
                <a:tc>
                  <a:txBody>
                    <a:bodyPr wrap="square"/>
                    <a:lstStyle/>
                    <a:p>
                      <a:pPr algn="l"/>
                      <a:r>
                        <a:rPr sz="1500" b="1" i="0">
                          <a:solidFill>
                            <a:srgbClr val="1F1F1F"/>
                          </a:solidFill>
                          <a:latin typeface="Calibri"/>
                        </a:rPr>
                        <a:t>Motion Q8–Q11</a:t>
                      </a:r>
                    </a:p>
                  </a:txBody>
                  <a:tcPr marL="73152" marR="73152" marT="27432" marB="27432" anchor="ctr">
                    <a:solidFill>
                      <a:srgbClr val="FFFFFF"/>
                    </a:solidFill>
                  </a:tcPr>
                </a:tc>
                <a:tc>
                  <a:txBody>
                    <a:bodyPr wrap="square"/>
                    <a:lstStyle/>
                    <a:p>
                      <a:pPr algn="l"/>
                      <a:r>
                        <a:rPr sz="1500" b="0" i="0">
                          <a:solidFill>
                            <a:srgbClr val="1F1F1F"/>
                          </a:solidFill>
                          <a:latin typeface="Calibri"/>
                        </a:rPr>
                        <a:t>Coriolis weaker; red up, black up-right, blue down-right, green down-left; NL, NH, SL, SH</a:t>
                      </a:r>
                    </a:p>
                  </a:txBody>
                  <a:tcPr marL="73152" marR="73152" marT="27432" marB="27432" anchor="ctr">
                    <a:solidFill>
                      <a:srgbClr val="FFFFFF"/>
                    </a:solidFill>
                  </a:tcPr>
                </a:tc>
              </a:tr>
            </a:tbl>
          </a:graphicData>
        </a:graphic>
      </p:graphicFrame>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Every answer: weather maps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Wrap-up</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160</a:t>
            </a:r>
          </a:p>
        </p:txBody>
      </p:sp>
      <p:graphicFrame>
        <p:nvGraphicFramePr>
          <p:cNvPr id="6" name="Table 5"/>
          <p:cNvGraphicFramePr>
            <a:graphicFrameLocks noGrp="1"/>
          </p:cNvGraphicFramePr>
          <p:nvPr/>
        </p:nvGraphicFramePr>
        <p:xfrm>
          <a:off x="365760" y="1188720"/>
          <a:ext cx="11430000" cy="4389120"/>
        </p:xfrm>
        <a:graphic>
          <a:graphicData uri="http://schemas.openxmlformats.org/drawingml/2006/table">
            <a:tbl>
              <a:tblPr firstRow="0" bandRow="0">
                <a:tableStyleId>{5940675A-B579-460E-94D1-54222C63F5DA}</a:tableStyleId>
              </a:tblPr>
              <a:tblGrid>
                <a:gridCol w="1371600"/>
                <a:gridCol w="10058400"/>
              </a:tblGrid>
              <a:tr h="1097280">
                <a:tc>
                  <a:txBody>
                    <a:bodyPr wrap="square"/>
                    <a:lstStyle/>
                    <a:p>
                      <a:pPr algn="l"/>
                      <a:r>
                        <a:rPr sz="1800" b="1" i="0">
                          <a:solidFill>
                            <a:srgbClr val="FFFFFF"/>
                          </a:solidFill>
                          <a:latin typeface="Calibri"/>
                        </a:rPr>
                        <a:t>Question</a:t>
                      </a:r>
                    </a:p>
                  </a:txBody>
                  <a:tcPr marL="73152" marR="73152" marT="27432" marB="27432" anchor="ctr">
                    <a:solidFill>
                      <a:srgbClr val="1B3A6B"/>
                    </a:solidFill>
                  </a:tcPr>
                </a:tc>
                <a:tc>
                  <a:txBody>
                    <a:bodyPr wrap="square"/>
                    <a:lstStyle/>
                    <a:p>
                      <a:pPr algn="l"/>
                      <a:r>
                        <a:rPr sz="1800" b="1" i="0">
                          <a:solidFill>
                            <a:srgbClr val="FFFFFF"/>
                          </a:solidFill>
                          <a:latin typeface="Calibri"/>
                        </a:rPr>
                        <a:t>Answer</a:t>
                      </a:r>
                    </a:p>
                  </a:txBody>
                  <a:tcPr marL="73152" marR="73152" marT="27432" marB="27432" anchor="ctr">
                    <a:solidFill>
                      <a:srgbClr val="1B3A6B"/>
                    </a:solidFill>
                  </a:tcPr>
                </a:tc>
              </a:tr>
              <a:tr h="1097280">
                <a:tc>
                  <a:txBody>
                    <a:bodyPr wrap="square"/>
                    <a:lstStyle/>
                    <a:p>
                      <a:pPr algn="l"/>
                      <a:r>
                        <a:rPr sz="1800" b="1" i="0">
                          <a:solidFill>
                            <a:srgbClr val="1F1F1F"/>
                          </a:solidFill>
                          <a:latin typeface="Calibri"/>
                        </a:rPr>
                        <a:t>Map Q12</a:t>
                      </a:r>
                    </a:p>
                  </a:txBody>
                  <a:tcPr marL="73152" marR="73152" marT="27432" marB="27432" anchor="ctr">
                    <a:solidFill>
                      <a:srgbClr val="FFFFFF"/>
                    </a:solidFill>
                  </a:tcPr>
                </a:tc>
                <a:tc>
                  <a:txBody>
                    <a:bodyPr wrap="square"/>
                    <a:lstStyle/>
                    <a:p>
                      <a:pPr algn="l"/>
                      <a:r>
                        <a:rPr sz="1800" b="0" i="0">
                          <a:solidFill>
                            <a:srgbClr val="1F1F1F"/>
                          </a:solidFill>
                          <a:latin typeface="Calibri"/>
                        </a:rPr>
                        <a:t>Model 1: 1002.4, 37, </a:t>
                      </a:r>
                      <a:r>
                        <a:rPr sz="1800" b="1" i="0">
                          <a:solidFill>
                            <a:srgbClr val="1F1F1F"/>
                          </a:solidFill>
                          <a:latin typeface="Calibri"/>
                        </a:rPr>
                        <a:t>21</a:t>
                      </a:r>
                      <a:r>
                        <a:rPr sz="1800" b="0" i="0">
                          <a:solidFill>
                            <a:srgbClr val="1F1F1F"/>
                          </a:solidFill>
                          <a:latin typeface="Calibri"/>
                        </a:rPr>
                        <a:t>, 0 %.  Model 2: 999.8, 63, 60, thunder with intermittent rain.  Model 3: 1011.7, 43, 20, 0 %, 25 kt SW, +1.7, rising.  Model 4: 999.7, 27, 20, 100 %, snow, 25 kt NW, −1.1, falling</a:t>
                      </a:r>
                    </a:p>
                  </a:txBody>
                  <a:tcPr marL="73152" marR="73152" marT="27432" marB="27432" anchor="ctr">
                    <a:solidFill>
                      <a:srgbClr val="FFFFFF"/>
                    </a:solidFill>
                  </a:tcPr>
                </a:tc>
              </a:tr>
              <a:tr h="1097280">
                <a:tc>
                  <a:txBody>
                    <a:bodyPr wrap="square"/>
                    <a:lstStyle/>
                    <a:p>
                      <a:pPr algn="l"/>
                      <a:r>
                        <a:rPr sz="1800" b="1" i="0">
                          <a:solidFill>
                            <a:srgbClr val="1F1F1F"/>
                          </a:solidFill>
                          <a:latin typeface="Calibri"/>
                        </a:rPr>
                        <a:t>Map Q13</a:t>
                      </a:r>
                    </a:p>
                  </a:txBody>
                  <a:tcPr marL="73152" marR="73152" marT="27432" marB="27432" anchor="ctr">
                    <a:solidFill>
                      <a:srgbClr val="F7F7F5"/>
                    </a:solidFill>
                  </a:tcPr>
                </a:tc>
                <a:tc>
                  <a:txBody>
                    <a:bodyPr wrap="square"/>
                    <a:lstStyle/>
                    <a:p>
                      <a:pPr algn="l"/>
                      <a:r>
                        <a:rPr sz="1800" b="0" i="0">
                          <a:solidFill>
                            <a:srgbClr val="1F1F1F"/>
                          </a:solidFill>
                          <a:latin typeface="Calibri"/>
                        </a:rPr>
                        <a:t>Five or six smooth streamlines swirling anticlockwise and inwards round a centre over Iowa and Illinois</a:t>
                      </a:r>
                    </a:p>
                  </a:txBody>
                  <a:tcPr marL="73152" marR="73152" marT="27432" marB="27432" anchor="ctr">
                    <a:solidFill>
                      <a:srgbClr val="F7F7F5"/>
                    </a:solidFill>
                  </a:tcPr>
                </a:tc>
              </a:tr>
              <a:tr h="1097280">
                <a:tc>
                  <a:txBody>
                    <a:bodyPr wrap="square"/>
                    <a:lstStyle/>
                    <a:p>
                      <a:pPr algn="l"/>
                      <a:r>
                        <a:rPr sz="1800" b="1" i="0">
                          <a:solidFill>
                            <a:srgbClr val="1F1F1F"/>
                          </a:solidFill>
                          <a:latin typeface="Calibri"/>
                        </a:rPr>
                        <a:t>Map Q14</a:t>
                      </a:r>
                    </a:p>
                  </a:txBody>
                  <a:tcPr marL="73152" marR="73152" marT="27432" marB="27432" anchor="ctr">
                    <a:solidFill>
                      <a:srgbClr val="FFFFFF"/>
                    </a:solidFill>
                  </a:tcPr>
                </a:tc>
                <a:tc>
                  <a:txBody>
                    <a:bodyPr wrap="square"/>
                    <a:lstStyle/>
                    <a:p>
                      <a:pPr algn="l"/>
                      <a:r>
                        <a:rPr sz="1800" b="0" i="0">
                          <a:solidFill>
                            <a:srgbClr val="1F1F1F"/>
                          </a:solidFill>
                          <a:latin typeface="Calibri"/>
                        </a:rPr>
                        <a:t>Isobars every 4 mb; L ≈ 1002 over Iowa/Illinois; cold front to the SSW, warm front to the east; cloud &gt; 75 % wrapped round the low; rain north and east of the low and along the cold front</a:t>
                      </a:r>
                    </a:p>
                  </a:txBody>
                  <a:tcPr marL="73152" marR="73152" marT="27432" marB="27432" anchor="ctr">
                    <a:solidFill>
                      <a:srgbClr val="FFFFFF"/>
                    </a:solidFill>
                  </a:tcPr>
                </a:tc>
              </a:tr>
            </a:tbl>
          </a:graphicData>
        </a:graphic>
      </p:graphicFrame>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The mistakes that cost marks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Wrap-up</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161</a:t>
            </a:r>
          </a:p>
        </p:txBody>
      </p:sp>
      <p:sp>
        <p:nvSpPr>
          <p:cNvPr id="6" name="TextBox 5"/>
          <p:cNvSpPr txBox="1"/>
          <p:nvPr/>
        </p:nvSpPr>
        <p:spPr>
          <a:xfrm>
            <a:off x="411480" y="1051560"/>
            <a:ext cx="11338560" cy="5212080"/>
          </a:xfrm>
          <a:prstGeom prst="rect">
            <a:avLst/>
          </a:prstGeom>
          <a:noFill/>
        </p:spPr>
        <p:txBody>
          <a:bodyPr wrap="square" anchor="t" lIns="45720" rIns="45720">
            <a:spAutoFit/>
          </a:bodyPr>
          <a:lstStyle/>
          <a:p>
            <a:pPr algn="l">
              <a:spcAft>
                <a:spcPts val="600"/>
              </a:spcAft>
            </a:pPr>
            <a:r>
              <a:rPr sz="2100" b="1" i="0">
                <a:solidFill>
                  <a:srgbClr val="1F1F1F"/>
                </a:solidFill>
                <a:latin typeface="Calibri"/>
              </a:rPr>
              <a:t>1.</a:t>
            </a:r>
            <a:r>
              <a:rPr sz="2100" b="0" i="0">
                <a:solidFill>
                  <a:srgbClr val="1F1F1F"/>
                </a:solidFill>
                <a:latin typeface="Calibri"/>
              </a:rPr>
              <a:t>  Ranking by relative humidity instead of the actual mixing ratio (Moisture Q3).</a:t>
            </a:r>
          </a:p>
          <a:p>
            <a:pPr algn="l">
              <a:spcAft>
                <a:spcPts val="600"/>
              </a:spcAft>
            </a:pPr>
            <a:r>
              <a:rPr sz="2100" b="1" i="0">
                <a:solidFill>
                  <a:srgbClr val="1F1F1F"/>
                </a:solidFill>
                <a:latin typeface="Calibri"/>
              </a:rPr>
              <a:t>2.</a:t>
            </a:r>
            <a:r>
              <a:rPr sz="2100" b="0" i="0">
                <a:solidFill>
                  <a:srgbClr val="1F1F1F"/>
                </a:solidFill>
                <a:latin typeface="Calibri"/>
              </a:rPr>
              <a:t>  Reading the dew point at the wrong temperature: the air must be able to hold </a:t>
            </a:r>
            <a:r>
              <a:rPr sz="2100" b="1" i="0">
                <a:solidFill>
                  <a:srgbClr val="1F1F1F"/>
                </a:solidFill>
                <a:latin typeface="Calibri"/>
              </a:rPr>
              <a:t>at least</a:t>
            </a:r>
            <a:r>
              <a:rPr sz="2100" b="0" i="0">
                <a:solidFill>
                  <a:srgbClr val="1F1F1F"/>
                </a:solidFill>
                <a:latin typeface="Calibri"/>
              </a:rPr>
              <a:t> its vapour there (Q6: 26, not 25).</a:t>
            </a:r>
          </a:p>
          <a:p>
            <a:pPr algn="l">
              <a:spcAft>
                <a:spcPts val="600"/>
              </a:spcAft>
            </a:pPr>
            <a:r>
              <a:rPr sz="2100" b="1" i="0">
                <a:solidFill>
                  <a:srgbClr val="1F1F1F"/>
                </a:solidFill>
                <a:latin typeface="Calibri"/>
              </a:rPr>
              <a:t>3.</a:t>
            </a:r>
            <a:r>
              <a:rPr sz="2100" b="0" i="0">
                <a:solidFill>
                  <a:srgbClr val="1F1F1F"/>
                </a:solidFill>
                <a:latin typeface="Calibri"/>
              </a:rPr>
              <a:t>  H and L the wrong way round on the pressure surfaces: lower surface (colder column) = L.</a:t>
            </a:r>
          </a:p>
          <a:p>
            <a:pPr algn="l">
              <a:spcAft>
                <a:spcPts val="600"/>
              </a:spcAft>
            </a:pPr>
            <a:r>
              <a:rPr sz="2100" b="1" i="0">
                <a:solidFill>
                  <a:srgbClr val="1F1F1F"/>
                </a:solidFill>
                <a:latin typeface="Calibri"/>
              </a:rPr>
              <a:t>4.</a:t>
            </a:r>
            <a:r>
              <a:rPr sz="2100" b="0" i="0">
                <a:solidFill>
                  <a:srgbClr val="1F1F1F"/>
                </a:solidFill>
                <a:latin typeface="Calibri"/>
              </a:rPr>
              <a:t>  Coriolis force on the wrong side: </a:t>
            </a:r>
            <a:r>
              <a:rPr sz="2100" b="1" i="0">
                <a:solidFill>
                  <a:srgbClr val="1F1F1F"/>
                </a:solidFill>
                <a:latin typeface="Calibri"/>
              </a:rPr>
              <a:t>right</a:t>
            </a:r>
            <a:r>
              <a:rPr sz="2100" b="0" i="0">
                <a:solidFill>
                  <a:srgbClr val="1F1F1F"/>
                </a:solidFill>
                <a:latin typeface="Calibri"/>
              </a:rPr>
              <a:t> in the north, </a:t>
            </a:r>
            <a:r>
              <a:rPr sz="2100" b="1" i="0">
                <a:solidFill>
                  <a:srgbClr val="1F1F1F"/>
                </a:solidFill>
                <a:latin typeface="Calibri"/>
              </a:rPr>
              <a:t>left</a:t>
            </a:r>
            <a:r>
              <a:rPr sz="2100" b="0" i="0">
                <a:solidFill>
                  <a:srgbClr val="1F1F1F"/>
                </a:solidFill>
                <a:latin typeface="Calibri"/>
              </a:rPr>
              <a:t> in the south, always at right angles to the wind.</a:t>
            </a:r>
          </a:p>
          <a:p>
            <a:pPr algn="l">
              <a:spcAft>
                <a:spcPts val="600"/>
              </a:spcAft>
            </a:pPr>
            <a:r>
              <a:rPr sz="2100" b="1" i="0">
                <a:solidFill>
                  <a:srgbClr val="1F1F1F"/>
                </a:solidFill>
                <a:latin typeface="Calibri"/>
              </a:rPr>
              <a:t>5.</a:t>
            </a:r>
            <a:r>
              <a:rPr sz="2100" b="0" i="0">
                <a:solidFill>
                  <a:srgbClr val="1F1F1F"/>
                </a:solidFill>
                <a:latin typeface="Calibri"/>
              </a:rPr>
              <a:t>  Pressure gradient force pointing away from low pressure: it points </a:t>
            </a:r>
            <a:r>
              <a:rPr sz="2100" b="1" i="0">
                <a:solidFill>
                  <a:srgbClr val="1F1F1F"/>
                </a:solidFill>
                <a:latin typeface="Calibri"/>
              </a:rPr>
              <a:t>towards</a:t>
            </a:r>
            <a:r>
              <a:rPr sz="2100" b="0" i="0">
                <a:solidFill>
                  <a:srgbClr val="1F1F1F"/>
                </a:solidFill>
                <a:latin typeface="Calibri"/>
              </a:rPr>
              <a:t> low pressure.</a:t>
            </a:r>
          </a:p>
          <a:p>
            <a:pPr algn="l">
              <a:spcAft>
                <a:spcPts val="600"/>
              </a:spcAft>
            </a:pPr>
            <a:r>
              <a:rPr sz="2100" b="1" i="0">
                <a:solidFill>
                  <a:srgbClr val="1F1F1F"/>
                </a:solidFill>
                <a:latin typeface="Calibri"/>
              </a:rPr>
              <a:t>6.</a:t>
            </a:r>
            <a:r>
              <a:rPr sz="2100" b="0" i="0">
                <a:solidFill>
                  <a:srgbClr val="1F1F1F"/>
                </a:solidFill>
                <a:latin typeface="Calibri"/>
              </a:rPr>
              <a:t>  Forgetting that a barb's staff points to where the wind comes </a:t>
            </a:r>
            <a:r>
              <a:rPr sz="2100" b="1" i="0">
                <a:solidFill>
                  <a:srgbClr val="1F1F1F"/>
                </a:solidFill>
                <a:latin typeface="Calibri"/>
              </a:rPr>
              <a:t>from</a:t>
            </a:r>
            <a:r>
              <a:rPr sz="2100" b="0" i="0">
                <a:solidFill>
                  <a:srgbClr val="1F1F1F"/>
                </a:solidFill>
                <a:latin typeface="Calibri"/>
              </a:rPr>
              <a:t> (Q12, Q13).</a:t>
            </a:r>
          </a:p>
          <a:p>
            <a:pPr algn="l">
              <a:spcAft>
                <a:spcPts val="600"/>
              </a:spcAft>
            </a:pPr>
            <a:r>
              <a:rPr sz="2100" b="1" i="0">
                <a:solidFill>
                  <a:srgbClr val="1F1F1F"/>
                </a:solidFill>
                <a:latin typeface="Calibri"/>
              </a:rPr>
              <a:t>7.</a:t>
            </a:r>
            <a:r>
              <a:rPr sz="2100" b="0" i="0">
                <a:solidFill>
                  <a:srgbClr val="1F1F1F"/>
                </a:solidFill>
                <a:latin typeface="Calibri"/>
              </a:rPr>
              <a:t>  Mis-reading the pressure code: 998 is 999.8, not 1099.8 or 998.0.</a:t>
            </a:r>
          </a:p>
          <a:p>
            <a:pPr algn="l">
              <a:spcAft>
                <a:spcPts val="600"/>
              </a:spcAft>
            </a:pPr>
            <a:r>
              <a:rPr sz="2100" b="1" i="0">
                <a:solidFill>
                  <a:srgbClr val="1F1F1F"/>
                </a:solidFill>
                <a:latin typeface="Calibri"/>
              </a:rPr>
              <a:t>8.</a:t>
            </a:r>
            <a:r>
              <a:rPr sz="2100" b="0" i="0">
                <a:solidFill>
                  <a:srgbClr val="1F1F1F"/>
                </a:solidFill>
                <a:latin typeface="Calibri"/>
              </a:rPr>
              <a:t>  Isobars that cross, or stop in the middle of the map.</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Self-test (1/2)</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Wrap-up</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162</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900" b="1" i="0">
                <a:solidFill>
                  <a:srgbClr val="6B6B6B"/>
                </a:solidFill>
                <a:latin typeface="Calibri"/>
              </a:rPr>
              <a:t>Try these first</a:t>
            </a:r>
          </a:p>
          <a:p>
            <a:pPr algn="l">
              <a:spcAft>
                <a:spcPts val="700"/>
              </a:spcAft>
            </a:pPr>
            <a:r>
              <a:rPr sz="1900" b="1" i="0">
                <a:solidFill>
                  <a:srgbClr val="1F1F1F"/>
                </a:solidFill>
                <a:latin typeface="Calibri"/>
              </a:rPr>
              <a:t>T1.</a:t>
            </a:r>
            <a:r>
              <a:rPr sz="1900" b="0" i="0">
                <a:solidFill>
                  <a:srgbClr val="1F1F1F"/>
                </a:solidFill>
                <a:latin typeface="Calibri"/>
              </a:rPr>
              <a:t>  20 °C air, 7.5 g/kg: RH?</a:t>
            </a:r>
          </a:p>
          <a:p>
            <a:pPr algn="l">
              <a:spcAft>
                <a:spcPts val="700"/>
              </a:spcAft>
            </a:pPr>
            <a:r>
              <a:rPr sz="1900" b="1" i="0">
                <a:solidFill>
                  <a:srgbClr val="1F1F1F"/>
                </a:solidFill>
                <a:latin typeface="Calibri"/>
              </a:rPr>
              <a:t>T2.</a:t>
            </a:r>
            <a:r>
              <a:rPr sz="1900" b="0" i="0">
                <a:solidFill>
                  <a:srgbClr val="1F1F1F"/>
                </a:solidFill>
                <a:latin typeface="Calibri"/>
              </a:rPr>
              <a:t>  Cooled to 10 °C: RH and dew point?</a:t>
            </a:r>
          </a:p>
          <a:p>
            <a:pPr algn="l">
              <a:spcAft>
                <a:spcPts val="700"/>
              </a:spcAft>
            </a:pPr>
            <a:r>
              <a:rPr sz="1900" b="1" i="0">
                <a:solidFill>
                  <a:srgbClr val="1F1F1F"/>
                </a:solidFill>
                <a:latin typeface="Calibri"/>
              </a:rPr>
              <a:t>T3.</a:t>
            </a:r>
            <a:r>
              <a:rPr sz="1900" b="0" i="0">
                <a:solidFill>
                  <a:srgbClr val="1F1F1F"/>
                </a:solidFill>
                <a:latin typeface="Calibri"/>
              </a:rPr>
              <a:t>  35 °C at RH 30 % or 25 °C at RH 60%: which holds more vapour?</a:t>
            </a:r>
          </a:p>
          <a:p>
            <a:pPr algn="l">
              <a:spcAft>
                <a:spcPts val="700"/>
              </a:spcAft>
            </a:pPr>
            <a:r>
              <a:rPr sz="1900" b="1" i="0">
                <a:solidFill>
                  <a:srgbClr val="1F1F1F"/>
                </a:solidFill>
                <a:latin typeface="Calibri"/>
              </a:rPr>
              <a:t>T4.</a:t>
            </a:r>
            <a:r>
              <a:rPr sz="1900" b="0" i="0">
                <a:solidFill>
                  <a:srgbClr val="1F1F1F"/>
                </a:solidFill>
                <a:latin typeface="Calibri"/>
              </a:rPr>
              <a:t>  Dew point of 30 °C air at RH 50 %, and the cloud base if lifted.</a:t>
            </a:r>
          </a:p>
          <a:p>
            <a:pPr algn="l">
              <a:spcAft>
                <a:spcPts val="700"/>
              </a:spcAft>
            </a:pPr>
            <a:r>
              <a:rPr sz="1900" b="1" i="0">
                <a:solidFill>
                  <a:srgbClr val="1F1F1F"/>
                </a:solidFill>
                <a:latin typeface="Calibri"/>
              </a:rPr>
              <a:t>T5.</a:t>
            </a:r>
            <a:r>
              <a:rPr sz="1900" b="0" i="0">
                <a:solidFill>
                  <a:srgbClr val="1F1F1F"/>
                </a:solidFill>
                <a:latin typeface="Calibri"/>
              </a:rPr>
              <a:t>  Can the dew point exceed the temperature?</a:t>
            </a:r>
          </a:p>
          <a:p>
            <a:pPr algn="l">
              <a:spcAft>
                <a:spcPts val="700"/>
              </a:spcAft>
            </a:pPr>
            <a:r>
              <a:rPr sz="1900" b="1" i="0">
                <a:solidFill>
                  <a:srgbClr val="1F1F1F"/>
                </a:solidFill>
                <a:latin typeface="Calibri"/>
              </a:rPr>
              <a:t>T6.</a:t>
            </a:r>
            <a:r>
              <a:rPr sz="1900" b="0" i="0">
                <a:solidFill>
                  <a:srgbClr val="1F1F1F"/>
                </a:solidFill>
                <a:latin typeface="Calibri"/>
              </a:rPr>
              <a:t>  Why do pressure surfaces slope down towards cold air?</a:t>
            </a:r>
          </a:p>
          <a:p>
            <a:pPr algn="l">
              <a:spcAft>
                <a:spcPts val="700"/>
              </a:spcAft>
            </a:pPr>
            <a:r>
              <a:rPr sz="1900" b="1" i="0">
                <a:solidFill>
                  <a:srgbClr val="1F1F1F"/>
                </a:solidFill>
                <a:latin typeface="Calibri"/>
              </a:rPr>
              <a:t>T7.</a:t>
            </a:r>
            <a:r>
              <a:rPr sz="1900" b="0" i="0">
                <a:solidFill>
                  <a:srgbClr val="1F1F1F"/>
                </a:solidFill>
                <a:latin typeface="Calibri"/>
              </a:rPr>
              <a:t>  300 mb surface: 8700 m over S, 9500 m over M. Force direction at 9000 m?</a:t>
            </a:r>
          </a:p>
          <a:p>
            <a:pPr algn="l">
              <a:spcAft>
                <a:spcPts val="700"/>
              </a:spcAft>
            </a:pPr>
            <a:r>
              <a:rPr sz="1900" b="1" i="0">
                <a:solidFill>
                  <a:srgbClr val="1F1F1F"/>
                </a:solidFill>
                <a:latin typeface="Calibri"/>
              </a:rPr>
              <a:t>T8.</a:t>
            </a:r>
            <a:r>
              <a:rPr sz="1900" b="0" i="0">
                <a:solidFill>
                  <a:srgbClr val="1F1F1F"/>
                </a:solidFill>
                <a:latin typeface="Calibri"/>
              </a:rPr>
              <a:t>  Two 500 hPa height lines 90 m apart, 600 km apart, 35° N: V</a:t>
            </a:r>
            <a:r>
              <a:rPr sz="1900" b="0" i="0" baseline="-25000">
                <a:solidFill>
                  <a:srgbClr val="1F1F1F"/>
                </a:solidFill>
                <a:latin typeface="Calibri"/>
              </a:rPr>
              <a:t>g</a:t>
            </a:r>
            <a:r>
              <a:rPr sz="1900" b="0" i="0">
                <a:solidFill>
                  <a:srgbClr val="1F1F1F"/>
                </a:solidFill>
                <a:latin typeface="Calibri"/>
              </a:rPr>
              <a:t>?</a:t>
            </a:r>
          </a:p>
          <a:p>
            <a:pPr algn="l">
              <a:spcAft>
                <a:spcPts val="700"/>
              </a:spcAft>
            </a:pPr>
            <a:r>
              <a:rPr sz="1900" b="1" i="0">
                <a:solidFill>
                  <a:srgbClr val="1F1F1F"/>
                </a:solidFill>
                <a:latin typeface="Calibri"/>
              </a:rPr>
              <a:t>T9.</a:t>
            </a:r>
            <a:r>
              <a:rPr sz="1900" b="0" i="0">
                <a:solidFill>
                  <a:srgbClr val="1F1F1F"/>
                </a:solidFill>
                <a:latin typeface="Calibri"/>
              </a:rPr>
              <a:t>  Southern Hemisphere, wind towards the west: low pressure to the north or south?</a:t>
            </a:r>
          </a:p>
          <a:p>
            <a:pPr algn="l">
              <a:spcAft>
                <a:spcPts val="700"/>
              </a:spcAft>
            </a:pPr>
            <a:r>
              <a:rPr sz="1900" b="1" i="0">
                <a:solidFill>
                  <a:srgbClr val="1F1F1F"/>
                </a:solidFill>
                <a:latin typeface="Calibri"/>
              </a:rPr>
              <a:t>T10.</a:t>
            </a:r>
            <a:r>
              <a:rPr sz="1900" b="0" i="0">
                <a:solidFill>
                  <a:srgbClr val="1F1F1F"/>
                </a:solidFill>
                <a:latin typeface="Calibri"/>
              </a:rPr>
              <a:t>  What does friction do to the speed and direction of the surface wind?</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Self-test (1/2):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Wrap-up</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163</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900" b="1" i="0">
                <a:solidFill>
                  <a:srgbClr val="007F5F"/>
                </a:solidFill>
                <a:latin typeface="Calibri"/>
              </a:rPr>
              <a:t>Answers</a:t>
            </a:r>
          </a:p>
          <a:p>
            <a:pPr algn="l">
              <a:spcAft>
                <a:spcPts val="700"/>
              </a:spcAft>
            </a:pPr>
            <a:r>
              <a:rPr sz="1900" b="1" i="0">
                <a:solidFill>
                  <a:srgbClr val="1F1F1F"/>
                </a:solidFill>
                <a:latin typeface="Calibri"/>
              </a:rPr>
              <a:t>T1.</a:t>
            </a:r>
            <a:r>
              <a:rPr sz="1900" b="0" i="0">
                <a:solidFill>
                  <a:srgbClr val="1F1F1F"/>
                </a:solidFill>
                <a:latin typeface="Calibri"/>
              </a:rPr>
              <a:t>  7.5/14.956 = </a:t>
            </a:r>
            <a:r>
              <a:rPr sz="1900" b="1" i="0">
                <a:solidFill>
                  <a:srgbClr val="007F5F"/>
                </a:solidFill>
                <a:latin typeface="Calibri"/>
              </a:rPr>
              <a:t>50 %</a:t>
            </a:r>
            <a:r>
              <a:rPr sz="1900" b="0" i="0">
                <a:solidFill>
                  <a:srgbClr val="1F1F1F"/>
                </a:solidFill>
                <a:latin typeface="Calibri"/>
              </a:rPr>
              <a:t>.</a:t>
            </a:r>
          </a:p>
          <a:p>
            <a:pPr algn="l">
              <a:spcAft>
                <a:spcPts val="700"/>
              </a:spcAft>
            </a:pPr>
            <a:r>
              <a:rPr sz="1900" b="1" i="0">
                <a:solidFill>
                  <a:srgbClr val="1F1F1F"/>
                </a:solidFill>
                <a:latin typeface="Calibri"/>
              </a:rPr>
              <a:t>T2.</a:t>
            </a:r>
            <a:r>
              <a:rPr sz="1900" b="0" i="0">
                <a:solidFill>
                  <a:srgbClr val="1F1F1F"/>
                </a:solidFill>
                <a:latin typeface="Calibri"/>
              </a:rPr>
              <a:t>  w</a:t>
            </a:r>
            <a:r>
              <a:rPr sz="1900" b="0" i="0" baseline="-25000">
                <a:solidFill>
                  <a:srgbClr val="1F1F1F"/>
                </a:solidFill>
                <a:latin typeface="Calibri"/>
              </a:rPr>
              <a:t>s</a:t>
            </a:r>
            <a:r>
              <a:rPr sz="1900" b="0" i="0">
                <a:solidFill>
                  <a:srgbClr val="1F1F1F"/>
                </a:solidFill>
                <a:latin typeface="Calibri"/>
              </a:rPr>
              <a:t>(10) = 7.762 → RH = </a:t>
            </a:r>
            <a:r>
              <a:rPr sz="1900" b="1" i="0">
                <a:solidFill>
                  <a:srgbClr val="007F5F"/>
                </a:solidFill>
                <a:latin typeface="Calibri"/>
              </a:rPr>
              <a:t>97 %</a:t>
            </a:r>
            <a:r>
              <a:rPr sz="1900" b="0" i="0">
                <a:solidFill>
                  <a:srgbClr val="1F1F1F"/>
                </a:solidFill>
                <a:latin typeface="Calibri"/>
              </a:rPr>
              <a:t>; dew point = </a:t>
            </a:r>
            <a:r>
              <a:rPr sz="1900" b="1" i="0">
                <a:solidFill>
                  <a:srgbClr val="007F5F"/>
                </a:solidFill>
                <a:latin typeface="Calibri"/>
              </a:rPr>
              <a:t>9.5 °C</a:t>
            </a:r>
            <a:r>
              <a:rPr sz="1900" b="0" i="0">
                <a:solidFill>
                  <a:srgbClr val="1F1F1F"/>
                </a:solidFill>
                <a:latin typeface="Calibri"/>
              </a:rPr>
              <a:t>.</a:t>
            </a:r>
          </a:p>
          <a:p>
            <a:pPr algn="l">
              <a:spcAft>
                <a:spcPts val="700"/>
              </a:spcAft>
            </a:pPr>
            <a:r>
              <a:rPr sz="1900" b="1" i="0">
                <a:solidFill>
                  <a:srgbClr val="1F1F1F"/>
                </a:solidFill>
                <a:latin typeface="Calibri"/>
              </a:rPr>
              <a:t>T3.</a:t>
            </a:r>
            <a:r>
              <a:rPr sz="1900" b="0" i="0">
                <a:solidFill>
                  <a:srgbClr val="1F1F1F"/>
                </a:solidFill>
                <a:latin typeface="Calibri"/>
              </a:rPr>
              <a:t>  35 °C: 0.30 × 37.3 = 11.2 g/kg;  25 °C: 0.60 × 20.5 = 12.3 g/kg: </a:t>
            </a:r>
            <a:r>
              <a:rPr sz="1900" b="1" i="0">
                <a:solidFill>
                  <a:srgbClr val="007F5F"/>
                </a:solidFill>
                <a:latin typeface="Calibri"/>
              </a:rPr>
              <a:t>the 25 °C air</a:t>
            </a:r>
            <a:r>
              <a:rPr sz="1900" b="0" i="0">
                <a:solidFill>
                  <a:srgbClr val="1F1F1F"/>
                </a:solidFill>
                <a:latin typeface="Calibri"/>
              </a:rPr>
              <a:t>.</a:t>
            </a:r>
          </a:p>
          <a:p>
            <a:pPr algn="l">
              <a:spcAft>
                <a:spcPts val="700"/>
              </a:spcAft>
            </a:pPr>
            <a:r>
              <a:rPr sz="1900" b="1" i="0">
                <a:solidFill>
                  <a:srgbClr val="1F1F1F"/>
                </a:solidFill>
                <a:latin typeface="Calibri"/>
              </a:rPr>
              <a:t>T4.</a:t>
            </a:r>
            <a:r>
              <a:rPr sz="1900" b="0" i="0">
                <a:solidFill>
                  <a:srgbClr val="1F1F1F"/>
                </a:solidFill>
                <a:latin typeface="Calibri"/>
              </a:rPr>
              <a:t>  w = 13.85 g/kg → T</a:t>
            </a:r>
            <a:r>
              <a:rPr sz="1900" b="0" i="0" baseline="-25000">
                <a:solidFill>
                  <a:srgbClr val="1F1F1F"/>
                </a:solidFill>
                <a:latin typeface="Calibri"/>
              </a:rPr>
              <a:t>d</a:t>
            </a:r>
            <a:r>
              <a:rPr sz="1900" b="0" i="0">
                <a:solidFill>
                  <a:srgbClr val="1F1F1F"/>
                </a:solidFill>
                <a:latin typeface="Calibri"/>
              </a:rPr>
              <a:t> = </a:t>
            </a:r>
            <a:r>
              <a:rPr sz="1900" b="1" i="0">
                <a:solidFill>
                  <a:srgbClr val="007F5F"/>
                </a:solidFill>
                <a:latin typeface="Calibri"/>
              </a:rPr>
              <a:t>18.8 °C</a:t>
            </a:r>
            <a:r>
              <a:rPr sz="1900" b="0" i="0">
                <a:solidFill>
                  <a:srgbClr val="1F1F1F"/>
                </a:solidFill>
                <a:latin typeface="Calibri"/>
              </a:rPr>
              <a:t>; cloud base ≈ 125 × 11.2 = </a:t>
            </a:r>
            <a:r>
              <a:rPr sz="1900" b="1" i="0">
                <a:solidFill>
                  <a:srgbClr val="007F5F"/>
                </a:solidFill>
                <a:latin typeface="Calibri"/>
              </a:rPr>
              <a:t>1 400 m</a:t>
            </a:r>
            <a:r>
              <a:rPr sz="1900" b="0" i="0">
                <a:solidFill>
                  <a:srgbClr val="1F1F1F"/>
                </a:solidFill>
                <a:latin typeface="Calibri"/>
              </a:rPr>
              <a:t>.</a:t>
            </a:r>
          </a:p>
          <a:p>
            <a:pPr algn="l">
              <a:spcAft>
                <a:spcPts val="700"/>
              </a:spcAft>
            </a:pPr>
            <a:r>
              <a:rPr sz="1900" b="1" i="0">
                <a:solidFill>
                  <a:srgbClr val="1F1F1F"/>
                </a:solidFill>
                <a:latin typeface="Calibri"/>
              </a:rPr>
              <a:t>T5.</a:t>
            </a:r>
            <a:r>
              <a:rPr sz="1900" b="0" i="0">
                <a:solidFill>
                  <a:srgbClr val="1F1F1F"/>
                </a:solidFill>
                <a:latin typeface="Calibri"/>
              </a:rPr>
              <a:t>  </a:t>
            </a:r>
            <a:r>
              <a:rPr sz="1900" b="1" i="0">
                <a:solidFill>
                  <a:srgbClr val="007F5F"/>
                </a:solidFill>
                <a:latin typeface="Calibri"/>
              </a:rPr>
              <a:t>No</a:t>
            </a:r>
            <a:r>
              <a:rPr sz="1900" b="0" i="0">
                <a:solidFill>
                  <a:srgbClr val="1F1F1F"/>
                </a:solidFill>
                <a:latin typeface="Calibri"/>
              </a:rPr>
              <a:t> (in open air): oversaturated air condenses at once; at most T</a:t>
            </a:r>
            <a:r>
              <a:rPr sz="1900" b="0" i="0" baseline="-25000">
                <a:solidFill>
                  <a:srgbClr val="1F1F1F"/>
                </a:solidFill>
                <a:latin typeface="Calibri"/>
              </a:rPr>
              <a:t>d</a:t>
            </a:r>
            <a:r>
              <a:rPr sz="1900" b="0" i="0">
                <a:solidFill>
                  <a:srgbClr val="1F1F1F"/>
                </a:solidFill>
                <a:latin typeface="Calibri"/>
              </a:rPr>
              <a:t> = T.</a:t>
            </a:r>
          </a:p>
          <a:p>
            <a:pPr algn="l">
              <a:spcAft>
                <a:spcPts val="700"/>
              </a:spcAft>
            </a:pPr>
            <a:r>
              <a:rPr sz="1900" b="1" i="0">
                <a:solidFill>
                  <a:srgbClr val="1F1F1F"/>
                </a:solidFill>
                <a:latin typeface="Calibri"/>
              </a:rPr>
              <a:t>T6.</a:t>
            </a:r>
            <a:r>
              <a:rPr sz="1900" b="0" i="0">
                <a:solidFill>
                  <a:srgbClr val="1F1F1F"/>
                </a:solidFill>
                <a:latin typeface="Calibri"/>
              </a:rPr>
              <a:t>  Cold air is denser, so its column is thinner: the same pressure drop uses less height.</a:t>
            </a:r>
          </a:p>
          <a:p>
            <a:pPr algn="l">
              <a:spcAft>
                <a:spcPts val="700"/>
              </a:spcAft>
            </a:pPr>
            <a:r>
              <a:rPr sz="1900" b="1" i="0">
                <a:solidFill>
                  <a:srgbClr val="1F1F1F"/>
                </a:solidFill>
                <a:latin typeface="Calibri"/>
              </a:rPr>
              <a:t>T7.</a:t>
            </a:r>
            <a:r>
              <a:rPr sz="1900" b="0" i="0">
                <a:solidFill>
                  <a:srgbClr val="1F1F1F"/>
                </a:solidFill>
                <a:latin typeface="Calibri"/>
              </a:rPr>
              <a:t>  </a:t>
            </a:r>
            <a:r>
              <a:rPr sz="1900" b="1" i="0">
                <a:solidFill>
                  <a:srgbClr val="007F5F"/>
                </a:solidFill>
                <a:latin typeface="Calibri"/>
              </a:rPr>
              <a:t>From M towards S</a:t>
            </a:r>
            <a:r>
              <a:rPr sz="1900" b="0" i="0">
                <a:solidFill>
                  <a:srgbClr val="1F1F1F"/>
                </a:solidFill>
                <a:latin typeface="Calibri"/>
              </a:rPr>
              <a:t> (z over M has the higher pressure).</a:t>
            </a:r>
          </a:p>
          <a:p>
            <a:pPr algn="l">
              <a:spcAft>
                <a:spcPts val="700"/>
              </a:spcAft>
            </a:pPr>
            <a:r>
              <a:rPr sz="1900" b="1" i="0">
                <a:solidFill>
                  <a:srgbClr val="1F1F1F"/>
                </a:solidFill>
                <a:latin typeface="Calibri"/>
              </a:rPr>
              <a:t>T8.</a:t>
            </a:r>
            <a:r>
              <a:rPr sz="1900" b="0" i="0">
                <a:solidFill>
                  <a:srgbClr val="1F1F1F"/>
                </a:solidFill>
                <a:latin typeface="Calibri"/>
              </a:rPr>
              <a:t>  f = 8.37×10</a:t>
            </a:r>
            <a:r>
              <a:rPr sz="1900" b="0" i="0" baseline="30000">
                <a:solidFill>
                  <a:srgbClr val="1F1F1F"/>
                </a:solidFill>
                <a:latin typeface="Calibri"/>
              </a:rPr>
              <a:t>−5</a:t>
            </a:r>
            <a:r>
              <a:rPr sz="1900" b="0" i="0">
                <a:solidFill>
                  <a:srgbClr val="1F1F1F"/>
                </a:solidFill>
                <a:latin typeface="Calibri"/>
              </a:rPr>
              <a:t>; V</a:t>
            </a:r>
            <a:r>
              <a:rPr sz="1900" b="0" i="0" baseline="-25000">
                <a:solidFill>
                  <a:srgbClr val="1F1F1F"/>
                </a:solidFill>
                <a:latin typeface="Calibri"/>
              </a:rPr>
              <a:t>g</a:t>
            </a:r>
            <a:r>
              <a:rPr sz="1900" b="0" i="0">
                <a:solidFill>
                  <a:srgbClr val="1F1F1F"/>
                </a:solidFill>
                <a:latin typeface="Calibri"/>
              </a:rPr>
              <a:t> = 9.81 × 90 / (8.37×10</a:t>
            </a:r>
            <a:r>
              <a:rPr sz="1900" b="0" i="0" baseline="30000">
                <a:solidFill>
                  <a:srgbClr val="1F1F1F"/>
                </a:solidFill>
                <a:latin typeface="Calibri"/>
              </a:rPr>
              <a:t>−5</a:t>
            </a:r>
            <a:r>
              <a:rPr sz="1900" b="0" i="0">
                <a:solidFill>
                  <a:srgbClr val="1F1F1F"/>
                </a:solidFill>
                <a:latin typeface="Calibri"/>
              </a:rPr>
              <a:t> × 6×10</a:t>
            </a:r>
            <a:r>
              <a:rPr sz="1900" b="0" i="0" baseline="30000">
                <a:solidFill>
                  <a:srgbClr val="1F1F1F"/>
                </a:solidFill>
                <a:latin typeface="Calibri"/>
              </a:rPr>
              <a:t>5</a:t>
            </a:r>
            <a:r>
              <a:rPr sz="1900" b="0" i="0">
                <a:solidFill>
                  <a:srgbClr val="1F1F1F"/>
                </a:solidFill>
                <a:latin typeface="Calibri"/>
              </a:rPr>
              <a:t>) = </a:t>
            </a:r>
            <a:r>
              <a:rPr sz="1900" b="1" i="0">
                <a:solidFill>
                  <a:srgbClr val="007F5F"/>
                </a:solidFill>
                <a:latin typeface="Calibri"/>
              </a:rPr>
              <a:t>17.6 m/s</a:t>
            </a:r>
            <a:r>
              <a:rPr sz="1900" b="0" i="0">
                <a:solidFill>
                  <a:srgbClr val="1F1F1F"/>
                </a:solidFill>
                <a:latin typeface="Calibri"/>
              </a:rPr>
              <a:t>.</a:t>
            </a:r>
          </a:p>
          <a:p>
            <a:pPr algn="l">
              <a:spcAft>
                <a:spcPts val="700"/>
              </a:spcAft>
            </a:pPr>
            <a:r>
              <a:rPr sz="1900" b="1" i="0">
                <a:solidFill>
                  <a:srgbClr val="1F1F1F"/>
                </a:solidFill>
                <a:latin typeface="Calibri"/>
              </a:rPr>
              <a:t>T9.</a:t>
            </a:r>
            <a:r>
              <a:rPr sz="1900" b="0" i="0">
                <a:solidFill>
                  <a:srgbClr val="1F1F1F"/>
                </a:solidFill>
                <a:latin typeface="Calibri"/>
              </a:rPr>
              <a:t>  To the </a:t>
            </a:r>
            <a:r>
              <a:rPr sz="1900" b="1" i="0">
                <a:solidFill>
                  <a:srgbClr val="007F5F"/>
                </a:solidFill>
                <a:latin typeface="Calibri"/>
              </a:rPr>
              <a:t>north</a:t>
            </a:r>
            <a:r>
              <a:rPr sz="1900" b="0" i="0">
                <a:solidFill>
                  <a:srgbClr val="1F1F1F"/>
                </a:solidFill>
                <a:latin typeface="Calibri"/>
              </a:rPr>
              <a:t>: low pressure is on the right of the wind in the south.</a:t>
            </a:r>
          </a:p>
          <a:p>
            <a:pPr algn="l">
              <a:spcAft>
                <a:spcPts val="700"/>
              </a:spcAft>
            </a:pPr>
            <a:r>
              <a:rPr sz="1900" b="1" i="0">
                <a:solidFill>
                  <a:srgbClr val="1F1F1F"/>
                </a:solidFill>
                <a:latin typeface="Calibri"/>
              </a:rPr>
              <a:t>T10.</a:t>
            </a:r>
            <a:r>
              <a:rPr sz="1900" b="0" i="0">
                <a:solidFill>
                  <a:srgbClr val="1F1F1F"/>
                </a:solidFill>
                <a:latin typeface="Calibri"/>
              </a:rPr>
              <a:t>  (a) reduces the speed; (b) turns it across the isobars towards low pressure.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Self-test (2/2)</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Wrap-up</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164</a:t>
            </a:r>
          </a:p>
        </p:txBody>
      </p:sp>
      <p:sp>
        <p:nvSpPr>
          <p:cNvPr id="6" name="Rounded Rectangle 5"/>
          <p:cNvSpPr/>
          <p:nvPr/>
        </p:nvSpPr>
        <p:spPr>
          <a:xfrm>
            <a:off x="411480" y="1097280"/>
            <a:ext cx="11338560" cy="5120640"/>
          </a:xfrm>
          <a:prstGeom prst="roundRect">
            <a:avLst>
              <a:gd name="adj" fmla="val 6000"/>
            </a:avLst>
          </a:prstGeom>
          <a:solidFill>
            <a:srgbClr val="F1F1EF"/>
          </a:solidFill>
          <a:ln w="222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800" b="1" i="0">
                <a:solidFill>
                  <a:srgbClr val="6B6B6B"/>
                </a:solidFill>
                <a:latin typeface="Calibri"/>
              </a:rPr>
              <a:t>Try these next</a:t>
            </a:r>
          </a:p>
          <a:p>
            <a:pPr algn="l">
              <a:spcAft>
                <a:spcPts val="700"/>
              </a:spcAft>
            </a:pPr>
            <a:r>
              <a:rPr sz="1800" b="1" i="0">
                <a:solidFill>
                  <a:srgbClr val="1F1F1F"/>
                </a:solidFill>
                <a:latin typeface="Calibri"/>
              </a:rPr>
              <a:t>T11.</a:t>
            </a:r>
            <a:r>
              <a:rPr sz="1800" b="0" i="0">
                <a:solidFill>
                  <a:srgbClr val="1F1F1F"/>
                </a:solidFill>
                <a:latin typeface="Calibri"/>
              </a:rPr>
              <a:t>  Over land: surface wind 8 m/s crossing the isobars at 40°: geostrophic wind?</a:t>
            </a:r>
          </a:p>
          <a:p>
            <a:pPr algn="l">
              <a:spcAft>
                <a:spcPts val="700"/>
              </a:spcAft>
            </a:pPr>
            <a:r>
              <a:rPr sz="1800" b="1" i="0">
                <a:solidFill>
                  <a:srgbClr val="1F1F1F"/>
                </a:solidFill>
                <a:latin typeface="Calibri"/>
              </a:rPr>
              <a:t>T12.</a:t>
            </a:r>
            <a:r>
              <a:rPr sz="1800" b="0" i="0">
                <a:solidFill>
                  <a:srgbClr val="1F1F1F"/>
                </a:solidFill>
                <a:latin typeface="Calibri"/>
              </a:rPr>
              <a:t>  Air spirals inward and clockwise: which hemisphere and system?</a:t>
            </a:r>
          </a:p>
          <a:p>
            <a:pPr algn="l">
              <a:spcAft>
                <a:spcPts val="700"/>
              </a:spcAft>
            </a:pPr>
            <a:r>
              <a:rPr sz="1800" b="1" i="0">
                <a:solidFill>
                  <a:srgbClr val="1F1F1F"/>
                </a:solidFill>
                <a:latin typeface="Calibri"/>
              </a:rPr>
              <a:t>T13.</a:t>
            </a:r>
            <a:r>
              <a:rPr sz="1800" b="0" i="0">
                <a:solidFill>
                  <a:srgbClr val="1F1F1F"/>
                </a:solidFill>
                <a:latin typeface="Calibri"/>
              </a:rPr>
              <a:t>  Decode the pressure codes 087 and 962.</a:t>
            </a:r>
          </a:p>
          <a:p>
            <a:pPr algn="l">
              <a:spcAft>
                <a:spcPts val="700"/>
              </a:spcAft>
            </a:pPr>
            <a:r>
              <a:rPr sz="1800" b="1" i="0">
                <a:solidFill>
                  <a:srgbClr val="1F1F1F"/>
                </a:solidFill>
                <a:latin typeface="Calibri"/>
              </a:rPr>
              <a:t>T14.</a:t>
            </a:r>
            <a:r>
              <a:rPr sz="1800" b="0" i="0">
                <a:solidFill>
                  <a:srgbClr val="1F1F1F"/>
                </a:solidFill>
                <a:latin typeface="Calibri"/>
              </a:rPr>
              <a:t>  Convert 50 °F and 14 °F to °C.</a:t>
            </a:r>
          </a:p>
          <a:p>
            <a:pPr algn="l">
              <a:spcAft>
                <a:spcPts val="700"/>
              </a:spcAft>
            </a:pPr>
            <a:r>
              <a:rPr sz="1800" b="1" i="0">
                <a:solidFill>
                  <a:srgbClr val="1F1F1F"/>
                </a:solidFill>
                <a:latin typeface="Calibri"/>
              </a:rPr>
              <a:t>T15.</a:t>
            </a:r>
            <a:r>
              <a:rPr sz="1800" b="0" i="0">
                <a:solidFill>
                  <a:srgbClr val="1F1F1F"/>
                </a:solidFill>
                <a:latin typeface="Calibri"/>
              </a:rPr>
              <a:t>  A barb has two full barbs and one pennant: speed?</a:t>
            </a:r>
          </a:p>
          <a:p>
            <a:pPr algn="l">
              <a:spcAft>
                <a:spcPts val="700"/>
              </a:spcAft>
            </a:pPr>
            <a:r>
              <a:rPr sz="1800" b="1" i="0">
                <a:solidFill>
                  <a:srgbClr val="1F1F1F"/>
                </a:solidFill>
                <a:latin typeface="Calibri"/>
              </a:rPr>
              <a:t>T16.</a:t>
            </a:r>
            <a:r>
              <a:rPr sz="1800" b="0" i="0">
                <a:solidFill>
                  <a:srgbClr val="1F1F1F"/>
                </a:solidFill>
                <a:latin typeface="Calibri"/>
              </a:rPr>
              <a:t>  Behind a front the temperature falls 18 °F and the wind turns clockwise SW → NW: which front?</a:t>
            </a:r>
          </a:p>
          <a:p>
            <a:pPr algn="l">
              <a:spcAft>
                <a:spcPts val="700"/>
              </a:spcAft>
            </a:pPr>
            <a:r>
              <a:rPr sz="1800" b="1" i="0">
                <a:solidFill>
                  <a:srgbClr val="1F1F1F"/>
                </a:solidFill>
                <a:latin typeface="Calibri"/>
              </a:rPr>
              <a:t>T17.</a:t>
            </a:r>
            <a:r>
              <a:rPr sz="1800" b="0" i="0">
                <a:solidFill>
                  <a:srgbClr val="1F1F1F"/>
                </a:solidFill>
                <a:latin typeface="Calibri"/>
              </a:rPr>
              <a:t>  A staff points to the north-east: which way does the air move?</a:t>
            </a:r>
          </a:p>
          <a:p>
            <a:pPr algn="l">
              <a:spcAft>
                <a:spcPts val="700"/>
              </a:spcAft>
            </a:pPr>
            <a:r>
              <a:rPr sz="1800" b="1" i="0">
                <a:solidFill>
                  <a:srgbClr val="1F1F1F"/>
                </a:solidFill>
                <a:latin typeface="Calibri"/>
              </a:rPr>
              <a:t>T18.</a:t>
            </a:r>
            <a:r>
              <a:rPr sz="1800" b="0" i="0">
                <a:solidFill>
                  <a:srgbClr val="1F1F1F"/>
                </a:solidFill>
                <a:latin typeface="Calibri"/>
              </a:rPr>
              <a:t>  1012 mb lies between stations at 1009.6 and 1013.2 hPa: where?</a:t>
            </a:r>
          </a:p>
          <a:p>
            <a:pPr algn="l">
              <a:spcAft>
                <a:spcPts val="700"/>
              </a:spcAft>
            </a:pPr>
            <a:r>
              <a:rPr sz="1800" b="1" i="0">
                <a:solidFill>
                  <a:srgbClr val="1F1F1F"/>
                </a:solidFill>
                <a:latin typeface="Calibri"/>
              </a:rPr>
              <a:t>T19.</a:t>
            </a:r>
            <a:r>
              <a:rPr sz="1800" b="0" i="0">
                <a:solidFill>
                  <a:srgbClr val="1F1F1F"/>
                </a:solidFill>
                <a:latin typeface="Calibri"/>
              </a:rPr>
              <a:t>  Why does a strong wind go with closely spaced isobars?</a:t>
            </a:r>
          </a:p>
          <a:p>
            <a:pPr algn="l">
              <a:spcAft>
                <a:spcPts val="700"/>
              </a:spcAft>
            </a:pPr>
            <a:r>
              <a:rPr sz="1800" b="1" i="0">
                <a:solidFill>
                  <a:srgbClr val="1F1F1F"/>
                </a:solidFill>
                <a:latin typeface="Calibri"/>
              </a:rPr>
              <a:t>T20.</a:t>
            </a:r>
            <a:r>
              <a:rPr sz="1800" b="0" i="0">
                <a:solidFill>
                  <a:srgbClr val="1F1F1F"/>
                </a:solidFill>
                <a:latin typeface="Calibri"/>
              </a:rPr>
              <a:t>  What can relative humidity not tell you?</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Self-test (2/2): answers</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Wrap-up</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165</a:t>
            </a:r>
          </a:p>
        </p:txBody>
      </p:sp>
      <p:sp>
        <p:nvSpPr>
          <p:cNvPr id="6" name="Rounded Rectangle 5"/>
          <p:cNvSpPr/>
          <p:nvPr/>
        </p:nvSpPr>
        <p:spPr>
          <a:xfrm>
            <a:off x="411480" y="1097280"/>
            <a:ext cx="11338560" cy="5120640"/>
          </a:xfrm>
          <a:prstGeom prst="roundRect">
            <a:avLst>
              <a:gd name="adj" fmla="val 6000"/>
            </a:avLst>
          </a:prstGeom>
          <a:solidFill>
            <a:srgbClr val="E3F4EE"/>
          </a:solidFill>
          <a:ln w="22225">
            <a:solidFill>
              <a:srgbClr val="007F5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54864"/>
          <a:lstStyle/>
          <a:p>
            <a:pPr algn="l">
              <a:spcAft>
                <a:spcPts val="400"/>
              </a:spcAft>
            </a:pPr>
            <a:r>
              <a:rPr sz="1600" b="1" i="0">
                <a:solidFill>
                  <a:srgbClr val="007F5F"/>
                </a:solidFill>
                <a:latin typeface="Calibri"/>
              </a:rPr>
              <a:t>Answers</a:t>
            </a:r>
          </a:p>
          <a:p>
            <a:pPr algn="l">
              <a:spcAft>
                <a:spcPts val="700"/>
              </a:spcAft>
            </a:pPr>
            <a:r>
              <a:rPr sz="1600" b="1" i="0">
                <a:solidFill>
                  <a:srgbClr val="1F1F1F"/>
                </a:solidFill>
                <a:latin typeface="Calibri"/>
              </a:rPr>
              <a:t>T11.</a:t>
            </a:r>
            <a:r>
              <a:rPr sz="1600" b="0" i="0">
                <a:solidFill>
                  <a:srgbClr val="1F1F1F"/>
                </a:solidFill>
                <a:latin typeface="Calibri"/>
              </a:rPr>
              <a:t>  V = V</a:t>
            </a:r>
            <a:r>
              <a:rPr sz="1600" b="0" i="0" baseline="-25000">
                <a:solidFill>
                  <a:srgbClr val="1F1F1F"/>
                </a:solidFill>
                <a:latin typeface="Calibri"/>
              </a:rPr>
              <a:t>g</a:t>
            </a:r>
            <a:r>
              <a:rPr sz="1600" b="0" i="0">
                <a:solidFill>
                  <a:srgbClr val="1F1F1F"/>
                </a:solidFill>
                <a:latin typeface="Calibri"/>
              </a:rPr>
              <a:t> cos α → V</a:t>
            </a:r>
            <a:r>
              <a:rPr sz="1600" b="0" i="0" baseline="-25000">
                <a:solidFill>
                  <a:srgbClr val="1F1F1F"/>
                </a:solidFill>
                <a:latin typeface="Calibri"/>
              </a:rPr>
              <a:t>g</a:t>
            </a:r>
            <a:r>
              <a:rPr sz="1600" b="0" i="0">
                <a:solidFill>
                  <a:srgbClr val="1F1F1F"/>
                </a:solidFill>
                <a:latin typeface="Calibri"/>
              </a:rPr>
              <a:t> = 8 / cos 40° = </a:t>
            </a:r>
            <a:r>
              <a:rPr sz="1600" b="1" i="0">
                <a:solidFill>
                  <a:srgbClr val="007F5F"/>
                </a:solidFill>
                <a:latin typeface="Calibri"/>
              </a:rPr>
              <a:t>10.4 m/s</a:t>
            </a:r>
            <a:r>
              <a:rPr sz="1600" b="0" i="0">
                <a:solidFill>
                  <a:srgbClr val="1F1F1F"/>
                </a:solidFill>
                <a:latin typeface="Calibri"/>
              </a:rPr>
              <a:t>.</a:t>
            </a:r>
          </a:p>
          <a:p>
            <a:pPr algn="l">
              <a:spcAft>
                <a:spcPts val="700"/>
              </a:spcAft>
            </a:pPr>
            <a:r>
              <a:rPr sz="1600" b="1" i="0">
                <a:solidFill>
                  <a:srgbClr val="1F1F1F"/>
                </a:solidFill>
                <a:latin typeface="Calibri"/>
              </a:rPr>
              <a:t>T12.</a:t>
            </a:r>
            <a:r>
              <a:rPr sz="1600" b="0" i="0">
                <a:solidFill>
                  <a:srgbClr val="1F1F1F"/>
                </a:solidFill>
                <a:latin typeface="Calibri"/>
              </a:rPr>
              <a:t>  </a:t>
            </a:r>
            <a:r>
              <a:rPr sz="1600" b="1" i="0">
                <a:solidFill>
                  <a:srgbClr val="007F5F"/>
                </a:solidFill>
                <a:latin typeface="Calibri"/>
              </a:rPr>
              <a:t>Southern Hemisphere low.</a:t>
            </a:r>
          </a:p>
          <a:p>
            <a:pPr algn="l">
              <a:spcAft>
                <a:spcPts val="700"/>
              </a:spcAft>
            </a:pPr>
            <a:r>
              <a:rPr sz="1600" b="1" i="0">
                <a:solidFill>
                  <a:srgbClr val="1F1F1F"/>
                </a:solidFill>
                <a:latin typeface="Calibri"/>
              </a:rPr>
              <a:t>T13.</a:t>
            </a:r>
            <a:r>
              <a:rPr sz="1600" b="0" i="0">
                <a:solidFill>
                  <a:srgbClr val="1F1F1F"/>
                </a:solidFill>
                <a:latin typeface="Calibri"/>
              </a:rPr>
              <a:t>  087 → </a:t>
            </a:r>
            <a:r>
              <a:rPr sz="1600" b="1" i="0">
                <a:solidFill>
                  <a:srgbClr val="007F5F"/>
                </a:solidFill>
                <a:latin typeface="Calibri"/>
              </a:rPr>
              <a:t>1008.7 hPa</a:t>
            </a:r>
            <a:r>
              <a:rPr sz="1600" b="0" i="0">
                <a:solidFill>
                  <a:srgbClr val="1F1F1F"/>
                </a:solidFill>
                <a:latin typeface="Calibri"/>
              </a:rPr>
              <a:t>;  962 → </a:t>
            </a:r>
            <a:r>
              <a:rPr sz="1600" b="1" i="0">
                <a:solidFill>
                  <a:srgbClr val="007F5F"/>
                </a:solidFill>
                <a:latin typeface="Calibri"/>
              </a:rPr>
              <a:t>996.2 hPa</a:t>
            </a:r>
            <a:r>
              <a:rPr sz="1600" b="0" i="0">
                <a:solidFill>
                  <a:srgbClr val="1F1F1F"/>
                </a:solidFill>
                <a:latin typeface="Calibri"/>
              </a:rPr>
              <a:t>.</a:t>
            </a:r>
          </a:p>
          <a:p>
            <a:pPr algn="l">
              <a:spcAft>
                <a:spcPts val="700"/>
              </a:spcAft>
            </a:pPr>
            <a:r>
              <a:rPr sz="1600" b="1" i="0">
                <a:solidFill>
                  <a:srgbClr val="1F1F1F"/>
                </a:solidFill>
                <a:latin typeface="Calibri"/>
              </a:rPr>
              <a:t>T14.</a:t>
            </a:r>
            <a:r>
              <a:rPr sz="1600" b="0" i="0">
                <a:solidFill>
                  <a:srgbClr val="1F1F1F"/>
                </a:solidFill>
                <a:latin typeface="Calibri"/>
              </a:rPr>
              <a:t>  50 °F = </a:t>
            </a:r>
            <a:r>
              <a:rPr sz="1600" b="1" i="0">
                <a:solidFill>
                  <a:srgbClr val="007F5F"/>
                </a:solidFill>
                <a:latin typeface="Calibri"/>
              </a:rPr>
              <a:t>10 °C</a:t>
            </a:r>
            <a:r>
              <a:rPr sz="1600" b="0" i="0">
                <a:solidFill>
                  <a:srgbClr val="1F1F1F"/>
                </a:solidFill>
                <a:latin typeface="Calibri"/>
              </a:rPr>
              <a:t>;  14 °F = </a:t>
            </a:r>
            <a:r>
              <a:rPr sz="1600" b="1" i="0">
                <a:solidFill>
                  <a:srgbClr val="007F5F"/>
                </a:solidFill>
                <a:latin typeface="Calibri"/>
              </a:rPr>
              <a:t>−10 °C</a:t>
            </a:r>
            <a:r>
              <a:rPr sz="1600" b="0" i="0">
                <a:solidFill>
                  <a:srgbClr val="1F1F1F"/>
                </a:solidFill>
                <a:latin typeface="Calibri"/>
              </a:rPr>
              <a:t>.</a:t>
            </a:r>
          </a:p>
          <a:p>
            <a:pPr algn="l">
              <a:spcAft>
                <a:spcPts val="700"/>
              </a:spcAft>
            </a:pPr>
            <a:r>
              <a:rPr sz="1600" b="1" i="0">
                <a:solidFill>
                  <a:srgbClr val="1F1F1F"/>
                </a:solidFill>
                <a:latin typeface="Calibri"/>
              </a:rPr>
              <a:t>T15.</a:t>
            </a:r>
            <a:r>
              <a:rPr sz="1600" b="0" i="0">
                <a:solidFill>
                  <a:srgbClr val="1F1F1F"/>
                </a:solidFill>
                <a:latin typeface="Calibri"/>
              </a:rPr>
              <a:t>  2 × 10 + 50 = </a:t>
            </a:r>
            <a:r>
              <a:rPr sz="1600" b="1" i="0">
                <a:solidFill>
                  <a:srgbClr val="007F5F"/>
                </a:solidFill>
                <a:latin typeface="Calibri"/>
              </a:rPr>
              <a:t>70 knots</a:t>
            </a:r>
            <a:r>
              <a:rPr sz="1600" b="0" i="0">
                <a:solidFill>
                  <a:srgbClr val="1F1F1F"/>
                </a:solidFill>
                <a:latin typeface="Calibri"/>
              </a:rPr>
              <a:t>.</a:t>
            </a:r>
          </a:p>
          <a:p>
            <a:pPr algn="l">
              <a:spcAft>
                <a:spcPts val="700"/>
              </a:spcAft>
            </a:pPr>
            <a:r>
              <a:rPr sz="1600" b="1" i="0">
                <a:solidFill>
                  <a:srgbClr val="1F1F1F"/>
                </a:solidFill>
                <a:latin typeface="Calibri"/>
              </a:rPr>
              <a:t>T16.</a:t>
            </a:r>
            <a:r>
              <a:rPr sz="1600" b="0" i="0">
                <a:solidFill>
                  <a:srgbClr val="1F1F1F"/>
                </a:solidFill>
                <a:latin typeface="Calibri"/>
              </a:rPr>
              <a:t>  A </a:t>
            </a:r>
            <a:r>
              <a:rPr sz="1600" b="1" i="0">
                <a:solidFill>
                  <a:srgbClr val="007F5F"/>
                </a:solidFill>
                <a:latin typeface="Calibri"/>
              </a:rPr>
              <a:t>cold front</a:t>
            </a:r>
            <a:r>
              <a:rPr sz="1600" b="0" i="0">
                <a:solidFill>
                  <a:srgbClr val="1F1F1F"/>
                </a:solidFill>
                <a:latin typeface="Calibri"/>
              </a:rPr>
              <a:t>.</a:t>
            </a:r>
          </a:p>
          <a:p>
            <a:pPr algn="l">
              <a:spcAft>
                <a:spcPts val="700"/>
              </a:spcAft>
            </a:pPr>
            <a:r>
              <a:rPr sz="1600" b="1" i="0">
                <a:solidFill>
                  <a:srgbClr val="1F1F1F"/>
                </a:solidFill>
                <a:latin typeface="Calibri"/>
              </a:rPr>
              <a:t>T17.</a:t>
            </a:r>
            <a:r>
              <a:rPr sz="1600" b="0" i="0">
                <a:solidFill>
                  <a:srgbClr val="1F1F1F"/>
                </a:solidFill>
                <a:latin typeface="Calibri"/>
              </a:rPr>
              <a:t>  Towards the </a:t>
            </a:r>
            <a:r>
              <a:rPr sz="1600" b="1" i="0">
                <a:solidFill>
                  <a:srgbClr val="007F5F"/>
                </a:solidFill>
                <a:latin typeface="Calibri"/>
              </a:rPr>
              <a:t>south-west</a:t>
            </a:r>
            <a:r>
              <a:rPr sz="1600" b="0" i="0">
                <a:solidFill>
                  <a:srgbClr val="1F1F1F"/>
                </a:solidFill>
                <a:latin typeface="Calibri"/>
              </a:rPr>
              <a:t>.</a:t>
            </a:r>
          </a:p>
          <a:p>
            <a:pPr algn="l">
              <a:spcAft>
                <a:spcPts val="700"/>
              </a:spcAft>
            </a:pPr>
            <a:r>
              <a:rPr sz="1600" b="1" i="0">
                <a:solidFill>
                  <a:srgbClr val="1F1F1F"/>
                </a:solidFill>
                <a:latin typeface="Calibri"/>
              </a:rPr>
              <a:t>T18.</a:t>
            </a:r>
            <a:r>
              <a:rPr sz="1600" b="0" i="0">
                <a:solidFill>
                  <a:srgbClr val="1F1F1F"/>
                </a:solidFill>
                <a:latin typeface="Calibri"/>
              </a:rPr>
              <a:t>  (1012 − 1009.6)/(1013.2 − 1009.6) = </a:t>
            </a:r>
            <a:r>
              <a:rPr sz="1600" b="1" i="0">
                <a:solidFill>
                  <a:srgbClr val="007F5F"/>
                </a:solidFill>
                <a:latin typeface="Calibri"/>
              </a:rPr>
              <a:t>0.67</a:t>
            </a:r>
            <a:r>
              <a:rPr sz="1600" b="0" i="0">
                <a:solidFill>
                  <a:srgbClr val="1F1F1F"/>
                </a:solidFill>
                <a:latin typeface="Calibri"/>
              </a:rPr>
              <a:t>: two thirds of the way from the lower to the higher station.</a:t>
            </a:r>
          </a:p>
          <a:p>
            <a:pPr algn="l">
              <a:spcAft>
                <a:spcPts val="700"/>
              </a:spcAft>
            </a:pPr>
            <a:r>
              <a:rPr sz="1600" b="1" i="0">
                <a:solidFill>
                  <a:srgbClr val="1F1F1F"/>
                </a:solidFill>
                <a:latin typeface="Calibri"/>
              </a:rPr>
              <a:t>T19.</a:t>
            </a:r>
            <a:r>
              <a:rPr sz="1600" b="0" i="0">
                <a:solidFill>
                  <a:srgbClr val="1F1F1F"/>
                </a:solidFill>
                <a:latin typeface="Calibri"/>
              </a:rPr>
              <a:t>  A large pressure gradient force needs a large wind to balance it with the Coriolis force (and friction).</a:t>
            </a:r>
          </a:p>
          <a:p>
            <a:pPr algn="l">
              <a:spcAft>
                <a:spcPts val="700"/>
              </a:spcAft>
            </a:pPr>
            <a:r>
              <a:rPr sz="1600" b="1" i="0">
                <a:solidFill>
                  <a:srgbClr val="1F1F1F"/>
                </a:solidFill>
                <a:latin typeface="Calibri"/>
              </a:rPr>
              <a:t>T20.</a:t>
            </a:r>
            <a:r>
              <a:rPr sz="1600" b="0" i="0">
                <a:solidFill>
                  <a:srgbClr val="1F1F1F"/>
                </a:solidFill>
                <a:latin typeface="Calibri"/>
              </a:rPr>
              <a:t>  How much vapour is actually in the air: it only compares it with the capacity at the present temperature.</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8686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11480" y="73152"/>
            <a:ext cx="11368735" cy="731520"/>
          </a:xfrm>
        </p:spPr>
        <p:txBody>
          <a:bodyPr wrap="square" anchor="ctr"/>
          <a:lstStyle/>
          <a:p>
            <a:pPr algn="l"/>
            <a:r>
              <a:rPr sz="2800" b="1" i="0">
                <a:solidFill>
                  <a:srgbClr val="FFFFFF"/>
                </a:solidFill>
                <a:latin typeface="Calibri"/>
              </a:rPr>
              <a:t>Formula sheet</a:t>
            </a:r>
          </a:p>
        </p:txBody>
      </p:sp>
      <p:sp>
        <p:nvSpPr>
          <p:cNvPr id="4" name="TextBox 3"/>
          <p:cNvSpPr txBox="1"/>
          <p:nvPr/>
        </p:nvSpPr>
        <p:spPr>
          <a:xfrm>
            <a:off x="411480" y="6510528"/>
            <a:ext cx="8229600" cy="274320"/>
          </a:xfrm>
          <a:prstGeom prst="rect">
            <a:avLst/>
          </a:prstGeom>
          <a:noFill/>
        </p:spPr>
        <p:txBody>
          <a:bodyPr wrap="none">
            <a:spAutoFit/>
          </a:bodyPr>
          <a:lstStyle/>
          <a:p>
            <a:r>
              <a:rPr sz="1100" b="0" i="0">
                <a:solidFill>
                  <a:srgbClr val="6B6B6B"/>
                </a:solidFill>
                <a:latin typeface="Calibri"/>
              </a:rPr>
              <a:t>EGM305 Practical 3   ·   Wrap-up</a:t>
            </a:r>
          </a:p>
        </p:txBody>
      </p:sp>
      <p:sp>
        <p:nvSpPr>
          <p:cNvPr id="5" name="TextBox 4"/>
          <p:cNvSpPr txBox="1"/>
          <p:nvPr/>
        </p:nvSpPr>
        <p:spPr>
          <a:xfrm>
            <a:off x="11094415" y="6510528"/>
            <a:ext cx="731520" cy="274320"/>
          </a:xfrm>
          <a:prstGeom prst="rect">
            <a:avLst/>
          </a:prstGeom>
          <a:noFill/>
        </p:spPr>
        <p:txBody>
          <a:bodyPr wrap="none">
            <a:spAutoFit/>
          </a:bodyPr>
          <a:lstStyle/>
          <a:p>
            <a:pPr algn="r"/>
            <a:r>
              <a:rPr sz="1100" b="0" i="0">
                <a:solidFill>
                  <a:srgbClr val="6B6B6B"/>
                </a:solidFill>
                <a:latin typeface="Calibri"/>
              </a:rPr>
              <a:t>166</a:t>
            </a:r>
          </a:p>
        </p:txBody>
      </p:sp>
      <p:graphicFrame>
        <p:nvGraphicFramePr>
          <p:cNvPr id="6" name="Table 5"/>
          <p:cNvGraphicFramePr>
            <a:graphicFrameLocks noGrp="1"/>
          </p:cNvGraphicFramePr>
          <p:nvPr/>
        </p:nvGraphicFramePr>
        <p:xfrm>
          <a:off x="365760" y="1097280"/>
          <a:ext cx="11429999" cy="5102352"/>
        </p:xfrm>
        <a:graphic>
          <a:graphicData uri="http://schemas.openxmlformats.org/drawingml/2006/table">
            <a:tbl>
              <a:tblPr firstRow="0" bandRow="0">
                <a:tableStyleId>{5940675A-B579-460E-94D1-54222C63F5DA}</a:tableStyleId>
              </a:tblPr>
              <a:tblGrid>
                <a:gridCol w="2949677"/>
                <a:gridCol w="8480322"/>
              </a:tblGrid>
              <a:tr h="566928">
                <a:tc>
                  <a:txBody>
                    <a:bodyPr wrap="square"/>
                    <a:lstStyle/>
                    <a:p>
                      <a:pPr algn="l"/>
                      <a:r>
                        <a:rPr sz="1600" b="1" i="0">
                          <a:solidFill>
                            <a:srgbClr val="FFFFFF"/>
                          </a:solidFill>
                          <a:latin typeface="Calibri"/>
                        </a:rPr>
                        <a:t>Quantity</a:t>
                      </a:r>
                    </a:p>
                  </a:txBody>
                  <a:tcPr marL="73152" marR="73152" marT="27432" marB="27432" anchor="ctr">
                    <a:solidFill>
                      <a:srgbClr val="1B3A6B"/>
                    </a:solidFill>
                  </a:tcPr>
                </a:tc>
                <a:tc>
                  <a:txBody>
                    <a:bodyPr wrap="square"/>
                    <a:lstStyle/>
                    <a:p>
                      <a:pPr algn="l"/>
                      <a:r>
                        <a:rPr sz="1600" b="1" i="0">
                          <a:solidFill>
                            <a:srgbClr val="FFFFFF"/>
                          </a:solidFill>
                          <a:latin typeface="Calibri"/>
                        </a:rPr>
                        <a:t>Formula</a:t>
                      </a:r>
                    </a:p>
                  </a:txBody>
                  <a:tcPr marL="73152" marR="73152" marT="27432" marB="27432" anchor="ctr">
                    <a:solidFill>
                      <a:srgbClr val="1B3A6B"/>
                    </a:solidFill>
                  </a:tcPr>
                </a:tc>
              </a:tr>
              <a:tr h="566928">
                <a:tc>
                  <a:txBody>
                    <a:bodyPr wrap="square"/>
                    <a:lstStyle/>
                    <a:p>
                      <a:pPr algn="l"/>
                      <a:r>
                        <a:rPr sz="1600" b="1" i="0">
                          <a:solidFill>
                            <a:srgbClr val="1F1F1F"/>
                          </a:solidFill>
                          <a:latin typeface="Calibri"/>
                        </a:rPr>
                        <a:t>Saturation vapour pressure</a:t>
                      </a:r>
                    </a:p>
                  </a:txBody>
                  <a:tcPr marL="73152" marR="73152" marT="27432" marB="27432" anchor="ctr">
                    <a:solidFill>
                      <a:srgbClr val="FFFFFF"/>
                    </a:solidFill>
                  </a:tcPr>
                </a:tc>
                <a:tc>
                  <a:txBody>
                    <a:bodyPr wrap="square"/>
                    <a:lstStyle/>
                    <a:p>
                      <a:pPr algn="l"/>
                      <a:r>
                        <a:rPr sz="1600" b="0" i="0">
                          <a:solidFill>
                            <a:srgbClr val="1F1F1F"/>
                          </a:solidFill>
                          <a:latin typeface="Calibri"/>
                        </a:rPr>
                        <a:t>e</a:t>
                      </a:r>
                      <a:r>
                        <a:rPr sz="1600" b="0" i="0" baseline="-25000">
                          <a:solidFill>
                            <a:srgbClr val="1F1F1F"/>
                          </a:solidFill>
                          <a:latin typeface="Calibri"/>
                        </a:rPr>
                        <a:t>s</a:t>
                      </a:r>
                      <a:r>
                        <a:rPr sz="1600" b="0" i="0">
                          <a:solidFill>
                            <a:srgbClr val="1F1F1F"/>
                          </a:solidFill>
                          <a:latin typeface="Calibri"/>
                        </a:rPr>
                        <a:t>(T) = 6.112 exp[17.67 T / (T + 243.5)] hPa   (T in °C)</a:t>
                      </a:r>
                    </a:p>
                  </a:txBody>
                  <a:tcPr marL="73152" marR="73152" marT="27432" marB="27432" anchor="ctr">
                    <a:solidFill>
                      <a:srgbClr val="FFFFFF"/>
                    </a:solidFill>
                  </a:tcPr>
                </a:tc>
              </a:tr>
              <a:tr h="566928">
                <a:tc>
                  <a:txBody>
                    <a:bodyPr wrap="square"/>
                    <a:lstStyle/>
                    <a:p>
                      <a:pPr algn="l"/>
                      <a:r>
                        <a:rPr sz="1600" b="1" i="0">
                          <a:solidFill>
                            <a:srgbClr val="1F1F1F"/>
                          </a:solidFill>
                          <a:latin typeface="Calibri"/>
                        </a:rPr>
                        <a:t>Saturation mixing ratio</a:t>
                      </a:r>
                    </a:p>
                  </a:txBody>
                  <a:tcPr marL="73152" marR="73152" marT="27432" marB="27432" anchor="ctr">
                    <a:solidFill>
                      <a:srgbClr val="F7F7F5"/>
                    </a:solidFill>
                  </a:tcPr>
                </a:tc>
                <a:tc>
                  <a:txBody>
                    <a:bodyPr wrap="square"/>
                    <a:lstStyle/>
                    <a:p>
                      <a:pPr algn="l"/>
                      <a:r>
                        <a:rPr sz="1600" b="0" i="0">
                          <a:solidFill>
                            <a:srgbClr val="1F1F1F"/>
                          </a:solidFill>
                          <a:latin typeface="Calibri"/>
                        </a:rPr>
                        <a:t>w</a:t>
                      </a:r>
                      <a:r>
                        <a:rPr sz="1600" b="0" i="0" baseline="-25000">
                          <a:solidFill>
                            <a:srgbClr val="1F1F1F"/>
                          </a:solidFill>
                          <a:latin typeface="Calibri"/>
                        </a:rPr>
                        <a:t>s</a:t>
                      </a:r>
                      <a:r>
                        <a:rPr sz="1600" b="0" i="0">
                          <a:solidFill>
                            <a:srgbClr val="1F1F1F"/>
                          </a:solidFill>
                          <a:latin typeface="Calibri"/>
                        </a:rPr>
                        <a:t> = 622 e</a:t>
                      </a:r>
                      <a:r>
                        <a:rPr sz="1600" b="0" i="0" baseline="-25000">
                          <a:solidFill>
                            <a:srgbClr val="1F1F1F"/>
                          </a:solidFill>
                          <a:latin typeface="Calibri"/>
                        </a:rPr>
                        <a:t>s</a:t>
                      </a:r>
                      <a:r>
                        <a:rPr sz="1600" b="0" i="0">
                          <a:solidFill>
                            <a:srgbClr val="1F1F1F"/>
                          </a:solidFill>
                          <a:latin typeface="Calibri"/>
                        </a:rPr>
                        <a:t> / (p − e</a:t>
                      </a:r>
                      <a:r>
                        <a:rPr sz="1600" b="0" i="0" baseline="-25000">
                          <a:solidFill>
                            <a:srgbClr val="1F1F1F"/>
                          </a:solidFill>
                          <a:latin typeface="Calibri"/>
                        </a:rPr>
                        <a:t>s</a:t>
                      </a:r>
                      <a:r>
                        <a:rPr sz="1600" b="0" i="0">
                          <a:solidFill>
                            <a:srgbClr val="1F1F1F"/>
                          </a:solidFill>
                          <a:latin typeface="Calibri"/>
                        </a:rPr>
                        <a:t>)  g/kg,   p = 995.5 hPa</a:t>
                      </a:r>
                    </a:p>
                  </a:txBody>
                  <a:tcPr marL="73152" marR="73152" marT="27432" marB="27432" anchor="ctr">
                    <a:solidFill>
                      <a:srgbClr val="F7F7F5"/>
                    </a:solidFill>
                  </a:tcPr>
                </a:tc>
              </a:tr>
              <a:tr h="566928">
                <a:tc>
                  <a:txBody>
                    <a:bodyPr wrap="square"/>
                    <a:lstStyle/>
                    <a:p>
                      <a:pPr algn="l"/>
                      <a:r>
                        <a:rPr sz="1600" b="1" i="0">
                          <a:solidFill>
                            <a:srgbClr val="1F1F1F"/>
                          </a:solidFill>
                          <a:latin typeface="Calibri"/>
                        </a:rPr>
                        <a:t>Relative humidity</a:t>
                      </a:r>
                    </a:p>
                  </a:txBody>
                  <a:tcPr marL="73152" marR="73152" marT="27432" marB="27432" anchor="ctr">
                    <a:solidFill>
                      <a:srgbClr val="FFFFFF"/>
                    </a:solidFill>
                  </a:tcPr>
                </a:tc>
                <a:tc>
                  <a:txBody>
                    <a:bodyPr wrap="square"/>
                    <a:lstStyle/>
                    <a:p>
                      <a:pPr algn="l"/>
                      <a:r>
                        <a:rPr sz="1600" b="0" i="0">
                          <a:solidFill>
                            <a:srgbClr val="1F1F1F"/>
                          </a:solidFill>
                          <a:latin typeface="Calibri"/>
                        </a:rPr>
                        <a:t>RH = 100 w / w</a:t>
                      </a:r>
                      <a:r>
                        <a:rPr sz="1600" b="0" i="0" baseline="-25000">
                          <a:solidFill>
                            <a:srgbClr val="1F1F1F"/>
                          </a:solidFill>
                          <a:latin typeface="Calibri"/>
                        </a:rPr>
                        <a:t>s</a:t>
                      </a:r>
                      <a:r>
                        <a:rPr sz="1600" b="0" i="0">
                          <a:solidFill>
                            <a:srgbClr val="1F1F1F"/>
                          </a:solidFill>
                          <a:latin typeface="Calibri"/>
                        </a:rPr>
                        <a:t>  =  100 e / e</a:t>
                      </a:r>
                      <a:r>
                        <a:rPr sz="1600" b="0" i="0" baseline="-25000">
                          <a:solidFill>
                            <a:srgbClr val="1F1F1F"/>
                          </a:solidFill>
                          <a:latin typeface="Calibri"/>
                        </a:rPr>
                        <a:t>s</a:t>
                      </a:r>
                      <a:r>
                        <a:rPr sz="1600" b="0" i="0">
                          <a:solidFill>
                            <a:srgbClr val="1F1F1F"/>
                          </a:solidFill>
                          <a:latin typeface="Calibri"/>
                        </a:rPr>
                        <a:t>;   w = w</a:t>
                      </a:r>
                      <a:r>
                        <a:rPr sz="1600" b="0" i="0" baseline="-25000">
                          <a:solidFill>
                            <a:srgbClr val="1F1F1F"/>
                          </a:solidFill>
                          <a:latin typeface="Calibri"/>
                        </a:rPr>
                        <a:t>s</a:t>
                      </a:r>
                      <a:r>
                        <a:rPr sz="1600" b="0" i="0">
                          <a:solidFill>
                            <a:srgbClr val="1F1F1F"/>
                          </a:solidFill>
                          <a:latin typeface="Calibri"/>
                        </a:rPr>
                        <a:t> × RH/100</a:t>
                      </a:r>
                    </a:p>
                  </a:txBody>
                  <a:tcPr marL="73152" marR="73152" marT="27432" marB="27432" anchor="ctr">
                    <a:solidFill>
                      <a:srgbClr val="FFFFFF"/>
                    </a:solidFill>
                  </a:tcPr>
                </a:tc>
              </a:tr>
              <a:tr h="566928">
                <a:tc>
                  <a:txBody>
                    <a:bodyPr wrap="square"/>
                    <a:lstStyle/>
                    <a:p>
                      <a:pPr algn="l"/>
                      <a:r>
                        <a:rPr sz="1600" b="1" i="0">
                          <a:solidFill>
                            <a:srgbClr val="1F1F1F"/>
                          </a:solidFill>
                          <a:latin typeface="Calibri"/>
                        </a:rPr>
                        <a:t>Dew point</a:t>
                      </a:r>
                    </a:p>
                  </a:txBody>
                  <a:tcPr marL="73152" marR="73152" marT="27432" marB="27432" anchor="ctr">
                    <a:solidFill>
                      <a:srgbClr val="F7F7F5"/>
                    </a:solidFill>
                  </a:tcPr>
                </a:tc>
                <a:tc>
                  <a:txBody>
                    <a:bodyPr wrap="square"/>
                    <a:lstStyle/>
                    <a:p>
                      <a:pPr algn="l"/>
                      <a:r>
                        <a:rPr sz="1600" b="0" i="0">
                          <a:solidFill>
                            <a:srgbClr val="1F1F1F"/>
                          </a:solidFill>
                          <a:latin typeface="Calibri"/>
                        </a:rPr>
                        <a:t>w</a:t>
                      </a:r>
                      <a:r>
                        <a:rPr sz="1600" b="0" i="0" baseline="-25000">
                          <a:solidFill>
                            <a:srgbClr val="1F1F1F"/>
                          </a:solidFill>
                          <a:latin typeface="Calibri"/>
                        </a:rPr>
                        <a:t>s</a:t>
                      </a:r>
                      <a:r>
                        <a:rPr sz="1600" b="0" i="0">
                          <a:solidFill>
                            <a:srgbClr val="1F1F1F"/>
                          </a:solidFill>
                          <a:latin typeface="Calibri"/>
                        </a:rPr>
                        <a:t>(T</a:t>
                      </a:r>
                      <a:r>
                        <a:rPr sz="1600" b="0" i="0" baseline="-25000">
                          <a:solidFill>
                            <a:srgbClr val="1F1F1F"/>
                          </a:solidFill>
                          <a:latin typeface="Calibri"/>
                        </a:rPr>
                        <a:t>d</a:t>
                      </a:r>
                      <a:r>
                        <a:rPr sz="1600" b="0" i="0">
                          <a:solidFill>
                            <a:srgbClr val="1F1F1F"/>
                          </a:solidFill>
                          <a:latin typeface="Calibri"/>
                        </a:rPr>
                        <a:t>) = w;   RH ≈ 100 − 5 (T − T</a:t>
                      </a:r>
                      <a:r>
                        <a:rPr sz="1600" b="0" i="0" baseline="-25000">
                          <a:solidFill>
                            <a:srgbClr val="1F1F1F"/>
                          </a:solidFill>
                          <a:latin typeface="Calibri"/>
                        </a:rPr>
                        <a:t>d</a:t>
                      </a:r>
                      <a:r>
                        <a:rPr sz="1600" b="0" i="0">
                          <a:solidFill>
                            <a:srgbClr val="1F1F1F"/>
                          </a:solidFill>
                          <a:latin typeface="Calibri"/>
                        </a:rPr>
                        <a:t>);   cloud base ≈ 125 (T − T</a:t>
                      </a:r>
                      <a:r>
                        <a:rPr sz="1600" b="0" i="0" baseline="-25000">
                          <a:solidFill>
                            <a:srgbClr val="1F1F1F"/>
                          </a:solidFill>
                          <a:latin typeface="Calibri"/>
                        </a:rPr>
                        <a:t>d</a:t>
                      </a:r>
                      <a:r>
                        <a:rPr sz="1600" b="0" i="0">
                          <a:solidFill>
                            <a:srgbClr val="1F1F1F"/>
                          </a:solidFill>
                          <a:latin typeface="Calibri"/>
                        </a:rPr>
                        <a:t>) m</a:t>
                      </a:r>
                    </a:p>
                  </a:txBody>
                  <a:tcPr marL="73152" marR="73152" marT="27432" marB="27432" anchor="ctr">
                    <a:solidFill>
                      <a:srgbClr val="F7F7F5"/>
                    </a:solidFill>
                  </a:tcPr>
                </a:tc>
              </a:tr>
              <a:tr h="566928">
                <a:tc>
                  <a:txBody>
                    <a:bodyPr wrap="square"/>
                    <a:lstStyle/>
                    <a:p>
                      <a:pPr algn="l"/>
                      <a:r>
                        <a:rPr sz="1600" b="1" i="0">
                          <a:solidFill>
                            <a:srgbClr val="1F1F1F"/>
                          </a:solidFill>
                          <a:latin typeface="Calibri"/>
                        </a:rPr>
                        <a:t>Hypsometric equation</a:t>
                      </a:r>
                    </a:p>
                  </a:txBody>
                  <a:tcPr marL="73152" marR="73152" marT="27432" marB="27432" anchor="ctr">
                    <a:solidFill>
                      <a:srgbClr val="FFFFFF"/>
                    </a:solidFill>
                  </a:tcPr>
                </a:tc>
                <a:tc>
                  <a:txBody>
                    <a:bodyPr wrap="square"/>
                    <a:lstStyle/>
                    <a:p>
                      <a:pPr algn="l"/>
                      <a:r>
                        <a:rPr sz="1600" b="0" i="0">
                          <a:solidFill>
                            <a:srgbClr val="1F1F1F"/>
                          </a:solidFill>
                          <a:latin typeface="Calibri"/>
                        </a:rPr>
                        <a:t>Δz = (R</a:t>
                      </a:r>
                      <a:r>
                        <a:rPr sz="1600" b="0" i="0" baseline="-25000">
                          <a:solidFill>
                            <a:srgbClr val="1F1F1F"/>
                          </a:solidFill>
                          <a:latin typeface="Calibri"/>
                        </a:rPr>
                        <a:t>d</a:t>
                      </a:r>
                      <a:r>
                        <a:rPr sz="1600" b="0" i="0">
                          <a:solidFill>
                            <a:srgbClr val="1F1F1F"/>
                          </a:solidFill>
                          <a:latin typeface="Calibri"/>
                        </a:rPr>
                        <a:t> T̄ / g) ln(p</a:t>
                      </a:r>
                      <a:r>
                        <a:rPr sz="1600" b="0" i="0" baseline="-25000">
                          <a:solidFill>
                            <a:srgbClr val="1F1F1F"/>
                          </a:solidFill>
                          <a:latin typeface="Calibri"/>
                        </a:rPr>
                        <a:t>1</a:t>
                      </a:r>
                      <a:r>
                        <a:rPr sz="1600" b="0" i="0">
                          <a:solidFill>
                            <a:srgbClr val="1F1F1F"/>
                          </a:solidFill>
                          <a:latin typeface="Calibri"/>
                        </a:rPr>
                        <a:t>/p</a:t>
                      </a:r>
                      <a:r>
                        <a:rPr sz="1600" b="0" i="0" baseline="-25000">
                          <a:solidFill>
                            <a:srgbClr val="1F1F1F"/>
                          </a:solidFill>
                          <a:latin typeface="Calibri"/>
                        </a:rPr>
                        <a:t>2</a:t>
                      </a:r>
                      <a:r>
                        <a:rPr sz="1600" b="0" i="0">
                          <a:solidFill>
                            <a:srgbClr val="1F1F1F"/>
                          </a:solidFill>
                          <a:latin typeface="Calibri"/>
                        </a:rPr>
                        <a:t>)</a:t>
                      </a:r>
                    </a:p>
                  </a:txBody>
                  <a:tcPr marL="73152" marR="73152" marT="27432" marB="27432" anchor="ctr">
                    <a:solidFill>
                      <a:srgbClr val="FFFFFF"/>
                    </a:solidFill>
                  </a:tcPr>
                </a:tc>
              </a:tr>
              <a:tr h="566928">
                <a:tc>
                  <a:txBody>
                    <a:bodyPr wrap="square"/>
                    <a:lstStyle/>
                    <a:p>
                      <a:pPr algn="l"/>
                      <a:r>
                        <a:rPr sz="1600" b="1" i="0">
                          <a:solidFill>
                            <a:srgbClr val="1F1F1F"/>
                          </a:solidFill>
                          <a:latin typeface="Calibri"/>
                        </a:rPr>
                        <a:t>Geostrophic wind</a:t>
                      </a:r>
                    </a:p>
                  </a:txBody>
                  <a:tcPr marL="73152" marR="73152" marT="27432" marB="27432" anchor="ctr">
                    <a:solidFill>
                      <a:srgbClr val="F7F7F5"/>
                    </a:solidFill>
                  </a:tcPr>
                </a:tc>
                <a:tc>
                  <a:txBody>
                    <a:bodyPr wrap="square"/>
                    <a:lstStyle/>
                    <a:p>
                      <a:pPr algn="l"/>
                      <a:r>
                        <a:rPr sz="1600" b="0" i="0">
                          <a:solidFill>
                            <a:srgbClr val="1F1F1F"/>
                          </a:solidFill>
                          <a:latin typeface="Calibri"/>
                        </a:rPr>
                        <a:t>V</a:t>
                      </a:r>
                      <a:r>
                        <a:rPr sz="1600" b="0" i="0" baseline="-25000">
                          <a:solidFill>
                            <a:srgbClr val="1F1F1F"/>
                          </a:solidFill>
                          <a:latin typeface="Calibri"/>
                        </a:rPr>
                        <a:t>g</a:t>
                      </a:r>
                      <a:r>
                        <a:rPr sz="1600" b="0" i="0">
                          <a:solidFill>
                            <a:srgbClr val="1F1F1F"/>
                          </a:solidFill>
                          <a:latin typeface="Calibri"/>
                        </a:rPr>
                        <a:t> = (1/ρf) Δp/Δn = (g/f) Δz/Δn;   f = 2Ω sin φ,  Ω = 7.292×10</a:t>
                      </a:r>
                      <a:r>
                        <a:rPr sz="1600" b="0" i="0" baseline="30000">
                          <a:solidFill>
                            <a:srgbClr val="1F1F1F"/>
                          </a:solidFill>
                          <a:latin typeface="Calibri"/>
                        </a:rPr>
                        <a:t>−5</a:t>
                      </a:r>
                      <a:r>
                        <a:rPr sz="1600" b="0" i="0">
                          <a:solidFill>
                            <a:srgbClr val="1F1F1F"/>
                          </a:solidFill>
                          <a:latin typeface="Calibri"/>
                        </a:rPr>
                        <a:t> s</a:t>
                      </a:r>
                      <a:r>
                        <a:rPr sz="1600" b="0" i="0" baseline="30000">
                          <a:solidFill>
                            <a:srgbClr val="1F1F1F"/>
                          </a:solidFill>
                          <a:latin typeface="Calibri"/>
                        </a:rPr>
                        <a:t>−1</a:t>
                      </a:r>
                    </a:p>
                  </a:txBody>
                  <a:tcPr marL="73152" marR="73152" marT="27432" marB="27432" anchor="ctr">
                    <a:solidFill>
                      <a:srgbClr val="F7F7F5"/>
                    </a:solidFill>
                  </a:tcPr>
                </a:tc>
              </a:tr>
              <a:tr h="566928">
                <a:tc>
                  <a:txBody>
                    <a:bodyPr wrap="square"/>
                    <a:lstStyle/>
                    <a:p>
                      <a:pPr algn="l"/>
                      <a:r>
                        <a:rPr sz="1600" b="1" i="0">
                          <a:solidFill>
                            <a:srgbClr val="1F1F1F"/>
                          </a:solidFill>
                          <a:latin typeface="Calibri"/>
                        </a:rPr>
                        <a:t>Wind with friction</a:t>
                      </a:r>
                    </a:p>
                  </a:txBody>
                  <a:tcPr marL="73152" marR="73152" marT="27432" marB="27432" anchor="ctr">
                    <a:solidFill>
                      <a:srgbClr val="FFFFFF"/>
                    </a:solidFill>
                  </a:tcPr>
                </a:tc>
                <a:tc>
                  <a:txBody>
                    <a:bodyPr wrap="square"/>
                    <a:lstStyle/>
                    <a:p>
                      <a:pPr algn="l"/>
                      <a:r>
                        <a:rPr sz="1600" b="0" i="0">
                          <a:solidFill>
                            <a:srgbClr val="1F1F1F"/>
                          </a:solidFill>
                          <a:latin typeface="Calibri"/>
                        </a:rPr>
                        <a:t>α = arctan(k/f);   V = V</a:t>
                      </a:r>
                      <a:r>
                        <a:rPr sz="1600" b="0" i="0" baseline="-25000">
                          <a:solidFill>
                            <a:srgbClr val="1F1F1F"/>
                          </a:solidFill>
                          <a:latin typeface="Calibri"/>
                        </a:rPr>
                        <a:t>g</a:t>
                      </a:r>
                      <a:r>
                        <a:rPr sz="1600" b="0" i="0">
                          <a:solidFill>
                            <a:srgbClr val="1F1F1F"/>
                          </a:solidFill>
                          <a:latin typeface="Calibri"/>
                        </a:rPr>
                        <a:t> cos α</a:t>
                      </a:r>
                    </a:p>
                  </a:txBody>
                  <a:tcPr marL="73152" marR="73152" marT="27432" marB="27432" anchor="ctr">
                    <a:solidFill>
                      <a:srgbClr val="FFFFFF"/>
                    </a:solidFill>
                  </a:tcPr>
                </a:tc>
              </a:tr>
              <a:tr h="566928">
                <a:tc>
                  <a:txBody>
                    <a:bodyPr wrap="square"/>
                    <a:lstStyle/>
                    <a:p>
                      <a:pPr algn="l"/>
                      <a:r>
                        <a:rPr sz="1600" b="1" i="0">
                          <a:solidFill>
                            <a:srgbClr val="1F1F1F"/>
                          </a:solidFill>
                          <a:latin typeface="Calibri"/>
                        </a:rPr>
                        <a:t>Units and codes</a:t>
                      </a:r>
                    </a:p>
                  </a:txBody>
                  <a:tcPr marL="73152" marR="73152" marT="27432" marB="27432" anchor="ctr">
                    <a:solidFill>
                      <a:srgbClr val="F7F7F5"/>
                    </a:solidFill>
                  </a:tcPr>
                </a:tc>
                <a:tc>
                  <a:txBody>
                    <a:bodyPr wrap="square"/>
                    <a:lstStyle/>
                    <a:p>
                      <a:pPr algn="l"/>
                      <a:r>
                        <a:rPr sz="1600" b="0" i="0">
                          <a:solidFill>
                            <a:srgbClr val="1F1F1F"/>
                          </a:solidFill>
                          <a:latin typeface="Calibri"/>
                        </a:rPr>
                        <a:t>T(°C) = (T(°F) − 32) × 5/9;  1 kt = 0.514 m/s;  pressure code: 10 if &lt; 500, 9 if ≥ 500</a:t>
                      </a:r>
                    </a:p>
                  </a:txBody>
                  <a:tcPr marL="73152" marR="73152" marT="27432" marB="27432" anchor="ctr">
                    <a:solidFill>
                      <a:srgbClr val="F7F7F5"/>
                    </a:solidFill>
                  </a:tcPr>
                </a:tc>
              </a:tr>
            </a:tbl>
          </a:graphicData>
        </a:graphic>
      </p:graphicFrame>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743200"/>
            <a:ext cx="1280160" cy="822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1188720"/>
          </a:xfrm>
          <a:prstGeom prst="rect">
            <a:avLst/>
          </a:prstGeom>
          <a:noFill/>
        </p:spPr>
        <p:txBody>
          <a:bodyPr wrap="square">
            <a:spAutoFit/>
          </a:bodyPr>
          <a:lstStyle/>
          <a:p>
            <a:r>
              <a:rPr sz="4400" b="1" i="0">
                <a:solidFill>
                  <a:srgbClr val="FFFFFF"/>
                </a:solidFill>
                <a:latin typeface="Calibri"/>
              </a:rPr>
              <a:t>Thank you</a:t>
            </a:r>
          </a:p>
        </p:txBody>
      </p:sp>
      <p:sp>
        <p:nvSpPr>
          <p:cNvPr id="5" name="TextBox 4"/>
          <p:cNvSpPr txBox="1"/>
          <p:nvPr/>
        </p:nvSpPr>
        <p:spPr>
          <a:xfrm>
            <a:off x="731520" y="3017520"/>
            <a:ext cx="10515600" cy="2286000"/>
          </a:xfrm>
          <a:prstGeom prst="rect">
            <a:avLst/>
          </a:prstGeom>
          <a:noFill/>
        </p:spPr>
        <p:txBody>
          <a:bodyPr wrap="square">
            <a:spAutoFit/>
          </a:bodyPr>
          <a:lstStyle/>
          <a:p>
            <a:pPr>
              <a:spcAft>
                <a:spcPts val="600"/>
              </a:spcAft>
            </a:pPr>
            <a:r>
              <a:rPr sz="2200" b="0" i="0">
                <a:solidFill>
                  <a:srgbClr val="CFDDEE"/>
                </a:solidFill>
                <a:latin typeface="Calibri"/>
              </a:rPr>
              <a:t>Questions?</a:t>
            </a:r>
          </a:p>
          <a:p>
            <a:pPr>
              <a:spcAft>
                <a:spcPts val="600"/>
              </a:spcAft>
            </a:pPr>
            <a:r>
              <a:rPr sz="2200" b="0" i="0">
                <a:solidFill>
                  <a:srgbClr val="CFDDEE"/>
                </a:solidFill>
                <a:latin typeface="Calibri"/>
              </a:rPr>
              <a:t>The companion PDF guide has the full explanations, derivations and practice problems.</a:t>
            </a:r>
          </a:p>
          <a:p>
            <a:pPr>
              <a:spcAft>
                <a:spcPts val="600"/>
              </a:spcAft>
            </a:pPr>
            <a:r>
              <a:rPr sz="2200" b="0" i="0">
                <a:solidFill>
                  <a:srgbClr val="CFDDEE"/>
                </a:solidFill>
                <a:latin typeface="Calibri"/>
              </a:rPr>
              <a:t>Weather map stations were read from the printed figures: check any value against your sheet.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EGM305 Practical 3: every question solved step by step</dc:title>
  <dc:subject>Atmospheric moisture, atmospheric motion and weather map analysis</dc:subject>
  <dc:creator>Ahmad Ammar</dc:creator>
  <cp:keywords/>
  <dc:description/>
  <cp:lastModifiedBy>Ahmad Ammar</cp:lastModifiedBy>
  <cp:revision>1</cp:revision>
  <dcterms:created xsi:type="dcterms:W3CDTF">2026-10-17T16:00:00Z</dcterms:created>
  <dcterms:modified xsi:type="dcterms:W3CDTF">2026-10-17T16:00:00Z</dcterms:modified>
  <cp:category/>
</cp:coreProperties>
</file>